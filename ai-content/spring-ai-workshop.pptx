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12" r:id="rId22"/>
    <p:sldId id="276" r:id="rId23"/>
    <p:sldId id="277" r:id="rId24"/>
    <p:sldId id="278" r:id="rId25"/>
    <p:sldId id="314" r:id="rId26"/>
    <p:sldId id="315" r:id="rId27"/>
    <p:sldId id="316" r:id="rId28"/>
    <p:sldId id="282" r:id="rId29"/>
    <p:sldId id="313" r:id="rId30"/>
    <p:sldId id="284" r:id="rId31"/>
    <p:sldId id="318" r:id="rId34"/>
    <p:sldId id="319" r:id="rId35"/>
    <p:sldId id="289" r:id="rId36"/>
    <p:sldId id="317" r:id="rId32"/>
    <p:sldId id="320" r:id="rId37"/>
    <p:sldId id="291" r:id="rId38"/>
    <p:sldId id="292" r:id="rId39"/>
    <p:sldId id="321" r:id="rId40"/>
    <p:sldId id="329" r:id="rId64"/>
    <p:sldId id="294" r:id="rId41"/>
    <p:sldId id="322" r:id="rId42"/>
    <p:sldId id="323" r:id="rId43"/>
    <p:sldId id="297" r:id="rId44"/>
    <p:sldId id="324" r:id="rId45"/>
    <p:sldId id="325" r:id="rId46"/>
    <p:sldId id="326" r:id="rId47"/>
    <p:sldId id="301" r:id="rId48"/>
    <p:sldId id="302" r:id="rId49"/>
    <p:sldId id="327" r:id="rId50"/>
    <p:sldId id="328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273" d="100"/>
          <a:sy n="273" d="100"/>
        </p:scale>
        <p:origin x="1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4" Type="http://schemas.openxmlformats.org/officeDocument/2006/relationships/slide" Target="slides/slide5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827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C087-F676-B35E-CE43-0B2DF9E2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8DA63-E05B-C954-D38C-FFFD9B947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F50C4-B7D9-0694-EE9E-BEE2554B5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ED7C1-9379-EC4A-68CD-8CB50C075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8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4910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Zero-to-Hero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0"/>
            <a:ext cx="1828800" cy="36576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6DB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?>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?>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?>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?>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?>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?>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?>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?>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9.xml.rels><?xml version="1.0" encoding="UTF-8"?>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53.xml.rels><?xml version="1.0" encoding="UTF-8"?>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?>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?>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aceful-beautiful-franklin/mnt/springiobarcelona26--spring-ai-zero-to-hero/ai-content/springi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82880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AI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to Hero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Fundamentals to Agentic Systems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411480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4.0.5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34640" y="411480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283464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AI 2.0.0-M4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411480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21208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  •  April 13-15,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Revolution — A Brief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Developers Enter the AI World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478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Spring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5720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Prompts &amp; Structured Output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&amp; Multimodal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47548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Vector Stores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810512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75488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17647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Chat Memory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523744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754880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478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 &amp; MCP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236976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75488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950208"/>
            <a:ext cx="365760" cy="36576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754880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904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Revolution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Turing to Transformers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Long Road to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67512" y="1280160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— Alan Turing asks "Can machines think?"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667512" y="1993392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 — The term "Artificial Intelligence" is coined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542032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67512" y="2706624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4323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— First chatbot. Pattern matching, no understanding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667512" y="3419856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1974-93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1455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Winters — Overpromise, underdeliver. Funding dries up. Twice.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8587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beats Kasparov — Brute force, not learning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 Learning Revolution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67512" y="1280160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Deep neural nets crush ImageNet. GPU training changes everything.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667512" y="1993392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Words become vectors. "King - Man + Woman = Queen."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542032"/>
            <a:ext cx="146304" cy="146304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67512" y="2706624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4323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The Transformer architecture.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667512" y="3419856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1455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 &amp; BERT — Pre-trained language models arrive.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8587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175B parameters. Few-shot learning. "It can write code?!"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Generative AI Explosion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46304" cy="146304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67512" y="1280160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 2022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launches — 100M users in 2 months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667512" y="1993392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14400" y="17190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7190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Gemini, Llama 2 — Multimodal, open-source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2542032"/>
            <a:ext cx="146304" cy="146304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67512" y="2706624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14400" y="24323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24323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MCP — AI that uses tools, browses the web, writes code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255264"/>
            <a:ext cx="146304" cy="146304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667512" y="3419856"/>
            <a:ext cx="0" cy="548640"/>
          </a:xfrm>
          <a:prstGeom prst="line">
            <a:avLst/>
          </a:prstGeom>
          <a:noFill/>
          <a:ln w="190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1455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 — The Spring ecosystem embraces AI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968496"/>
            <a:ext cx="146304" cy="146304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14400" y="38587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85876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2.0 + Spring Boot 4 — That's us, today.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Approaches to AI — What Changed?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1254923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(1960s-90s)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rules, expert systems, decision trees. Brittle. Doesn't scale. Every edge case = new rule.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54864" cy="18288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347472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1" y="1254923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ML (2000s-10s)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data. SVM, random forests, gradient boosting. Good for structured data. Requires feature engineering.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54864" cy="18288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4"/>
          <p:cNvSpPr/>
          <p:nvPr/>
        </p:nvSpPr>
        <p:spPr>
          <a:xfrm>
            <a:off x="630936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851" y="1254923"/>
            <a:ext cx="215067" cy="215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 (2020s)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1228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the internet. Understands language. Generates text, code, images. Describe intent in natural language.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Shape 18"/>
          <p:cNvSpPr/>
          <p:nvPr/>
        </p:nvSpPr>
        <p:spPr>
          <a:xfrm>
            <a:off x="457200" y="3108960"/>
            <a:ext cx="45720" cy="50292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19"/>
          <p:cNvSpPr/>
          <p:nvPr/>
        </p:nvSpPr>
        <p:spPr>
          <a:xfrm>
            <a:off x="640080" y="31089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shift: from programming rules to describing intent. The model figures out the rest.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LLMs Actually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Transformer neural network trained on vast text corpora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task: predict the next token given all previous tokens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739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database — it generates text probabilistically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579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5798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every call is independent. Context must be provided each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840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54864" cy="10972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640080" y="286207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2946563"/>
            <a:ext cx="215067" cy="21506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43000" y="2807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3000" y="3136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see tokens, not words. ~1 token ≈ 0.75 English words. "Spring Framework" → 2-3 tokens.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46320" y="2697480"/>
            <a:ext cx="3840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6"/>
          <p:cNvSpPr/>
          <p:nvPr/>
        </p:nvSpPr>
        <p:spPr>
          <a:xfrm>
            <a:off x="4846320" y="2697480"/>
            <a:ext cx="54864" cy="10972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7"/>
          <p:cNvSpPr/>
          <p:nvPr/>
        </p:nvSpPr>
        <p:spPr>
          <a:xfrm>
            <a:off x="5029200" y="286207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91" y="2946563"/>
            <a:ext cx="215067" cy="21506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32120" y="28072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532120" y="31363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per request (input + output). GPT-4o: 128K. Claude: 200K. Qwen3: 32K.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Limitations — Know Before You Build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facts or API names with total confidence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— can't answer about recent events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Non-Determinism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answer — flaky tests, review churn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8463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threads get truncated; model "forgets" earlier details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663440" y="21031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8463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Leak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Proprietary/PII text could leave your trusted boundary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31546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54864" cy="8686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Latency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High-token chains drain budget and slow UX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4572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bugs — they're inherent to how LLMs work. The key is building systems that mitigate them.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Enters the AI World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Just Python Anymore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Python Assumption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been Python-first since the deep learning revolution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PyTorch, scikit-learn, LangChain, HuggingFace — all 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developers were told: "Learn Python or get left behind"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5720" cy="54864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thing: building AI-powered applications is fundamentally different from training AI models.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vs. Consuming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1254923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15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Models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clusters, CUDA, tensor math, loss functions, gradient descent.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Python territory.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probably won't do this.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645920"/>
            <a:ext cx="640080" cy="640080"/>
          </a:xfrm>
          <a:prstGeom prst="ellipse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8"/>
          <p:cNvSpPr/>
          <p:nvPr/>
        </p:nvSpPr>
        <p:spPr>
          <a:xfrm>
            <a:off x="4251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0" y="1005840"/>
            <a:ext cx="3657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5029200" y="1005840"/>
            <a:ext cx="54864" cy="201168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1"/>
          <p:cNvSpPr/>
          <p:nvPr/>
        </p:nvSpPr>
        <p:spPr>
          <a:xfrm>
            <a:off x="521208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571" y="1254923"/>
            <a:ext cx="215067" cy="215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11556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AI Applications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15000" y="1444752"/>
            <a:ext cx="2788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dependency injection, transaction management, security, observability.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territory.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workshop is about this.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5"/>
          <p:cNvSpPr/>
          <p:nvPr/>
        </p:nvSpPr>
        <p:spPr>
          <a:xfrm>
            <a:off x="457200" y="3291840"/>
            <a:ext cx="45720" cy="50292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6"/>
          <p:cNvSpPr/>
          <p:nvPr/>
        </p:nvSpPr>
        <p:spPr>
          <a:xfrm>
            <a:off x="640080" y="329184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accessed via HTTP APIs. You need good application architecture — and that's where Java and Spring shine.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Java Developers Are Uniquely Positioned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173736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1254923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Backbone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1691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ship inside existing enterprise apps — not as standalone notebooks. Your Spring services are where AI lands.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54864" cy="17373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347472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1" y="1254923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Readiness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1444752"/>
            <a:ext cx="1691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safety, observability, security, transactions, testing. Python notebooks don't deploy themselves.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05840"/>
            <a:ext cx="25603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54864" cy="17373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4"/>
          <p:cNvSpPr/>
          <p:nvPr/>
        </p:nvSpPr>
        <p:spPr>
          <a:xfrm>
            <a:off x="630936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851" y="1254923"/>
            <a:ext cx="215067" cy="215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Ecosystem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12280" y="1444752"/>
            <a:ext cx="16916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DI, auto-configuration, portable abstractions, Micrometer, Actuator. All of this now works with AI.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Stack for Java Developers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DON'T need to know          You DO need to know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~~~~~~~~~~~~~~~~~~~~~~          ~~~~~~~~~~~~~~~~~~~~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 / TensorFlow            Spring Boot / Spring AI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/ GPU programming          REST APIs / HTTP clients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training / fine-tuning    Prompt engineering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data science stack       Embeddings &amp; vector stores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notebooks               RAG patterns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descent math           Tool calling &amp; agents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45720" cy="4572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brings AI to your existing skills. No career pivot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Spring AI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Spring Way to Build AI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Spring AI?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92608" cy="29260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4" y="1115934"/>
            <a:ext cx="163860" cy="163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332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Spring ecosystem project for AI-powered applications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92608" cy="29260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4" y="1573134"/>
            <a:ext cx="163860" cy="163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490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abstractions: write once, run against any provider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57200" y="1965960"/>
            <a:ext cx="292608" cy="29260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4" y="2030334"/>
            <a:ext cx="163860" cy="163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1947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Auto-configuration: add a starter, set an API key, go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423160"/>
            <a:ext cx="292608" cy="29260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74" y="2487534"/>
            <a:ext cx="163860" cy="163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4048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POJO-centric: your business logic stays in plain Java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1"/>
          <p:cNvSpPr/>
          <p:nvPr/>
        </p:nvSpPr>
        <p:spPr>
          <a:xfrm>
            <a:off x="457200" y="3063240"/>
            <a:ext cx="45720" cy="50292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2"/>
          <p:cNvSpPr/>
          <p:nvPr/>
        </p:nvSpPr>
        <p:spPr>
          <a:xfrm>
            <a:off x="640080" y="306324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"Spring Data for AI" — a uniform API across providers, just like Spring Data across databases.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AI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code against abstractions — Spring AI maps them to any provider at runtime.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EBF5FB"/>
          </a:solidFill>
          <a:ln w="1905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  +  ChatClient.prompt().user(…).call().content()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calls portable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F0F8EC"/>
          </a:solidFill>
          <a:ln w="19050">
            <a:solidFill>
              <a:srgbClr val="6DB33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6974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6974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26974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67512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auto-configured by starter dependency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EF9E7"/>
          </a:solidFill>
          <a:ln w="19050">
            <a:solidFill>
              <a:srgbClr val="D4A84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PROVIDERS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  •  OpenAI  •  Anthropic  •  Azure  •  Google Gemini  •  AWS Bedrock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45720" cy="41148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providers by changing a Maven dependency + one YAML property. Zero code changes.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Abstractions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ChatModel / ChatClient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&amp; conversation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semantic vectors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213969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1396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search embeddings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48640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5237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23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Intercept/enrich prompts (RAG, memory)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48640" y="29077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9077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models call your Java methods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Context Protocol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37760" y="3291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tool/resource sharing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75888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548640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94560" y="36758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StreamingChatModel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3675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reactive output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5993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548640" y="40599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405993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Micrometer + OTel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traces, logs for AI calls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 Portability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provider — swap a Maven dependency and a YAML property.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18872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code runs against ANY provider - zero changes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answer = chatClient.prompt()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.user("Tell me a joke about Spring")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.call()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.content();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" cy="384048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free — no API key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864" cy="38404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594360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o3 — broadest ecosystem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4864" cy="384048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strong reasoning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54864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80060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OpenAI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&amp; VPC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54864" cy="3840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4800600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1M token context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54864" cy="38404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4800600" y="3657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Bedrock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807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multi-model gateway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Choose a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Fit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68880" y="960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vs. embedding vs. multimodal — pick the right 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864" cy="3657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17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coherence, instruction-following for your domain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" cy="365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chat needs &lt; 500 ms TTFT; batch is fine with seconds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54864" cy="3657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317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 × daily volume — compare cloud vs. local (Ollama = free)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54864" cy="36576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00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 → 128 K+ ; RAG doc size &amp; conversation length drive the need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4864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&amp; 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2461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(Ollama), VPC (Bedrock), or cloud API — data residency rules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4864" cy="36576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7033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starter available? SDK maturity? Community support?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4864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4160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 (Llama, Qwen) vs. proprietary (GPT, Claude) — know the terms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457200" y="4617720"/>
            <a:ext cx="45720" cy="41148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AI's portable abstractions let you switch models without changing code — experiment freely.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33A4-3770-3C72-67FA-E621CB57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C2CFFD-87E0-FC10-0204-BA7C63B440D3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This? LLM Limitations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B2FDAC4-8F6A-5E76-5848-17E8BDE4BABA}"/>
              </a:ext>
            </a:extLst>
          </p:cNvPr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C403E7-98EA-53AC-ABFD-E7DC6E5C3D13}"/>
              </a:ext>
            </a:extLst>
          </p:cNvPr>
          <p:cNvSpPr/>
          <p:nvPr/>
        </p:nvSpPr>
        <p:spPr>
          <a:xfrm>
            <a:off x="457200" y="1051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831D54-8943-8F25-0344-9546AE865E09}"/>
              </a:ext>
            </a:extLst>
          </p:cNvPr>
          <p:cNvSpPr/>
          <p:nvPr/>
        </p:nvSpPr>
        <p:spPr>
          <a:xfrm>
            <a:off x="457200" y="105156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953DE0-9906-18C8-F131-98EFE4E1967E}"/>
              </a:ext>
            </a:extLst>
          </p:cNvPr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6B7E0D-16B3-A7B1-1FF9-06F7E81DD789}"/>
              </a:ext>
            </a:extLst>
          </p:cNvPr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facts or API names with total confidence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14A015F-2623-2EB5-3BF4-B8233876217D}"/>
              </a:ext>
            </a:extLst>
          </p:cNvPr>
          <p:cNvSpPr/>
          <p:nvPr/>
        </p:nvSpPr>
        <p:spPr>
          <a:xfrm>
            <a:off x="457200" y="210312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BA6AFE0-3460-FE15-295B-34EA1A245968}"/>
              </a:ext>
            </a:extLst>
          </p:cNvPr>
          <p:cNvSpPr/>
          <p:nvPr/>
        </p:nvSpPr>
        <p:spPr>
          <a:xfrm>
            <a:off x="457200" y="2103120"/>
            <a:ext cx="54864" cy="868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13272CC-DA1E-3AC5-03A6-EBBEFBB575D6}"/>
              </a:ext>
            </a:extLst>
          </p:cNvPr>
          <p:cNvSpPr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Data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D12FAED-6017-F035-9EDA-18DA4023A5B4}"/>
              </a:ext>
            </a:extLst>
          </p:cNvPr>
          <p:cNvSpPr/>
          <p:nvPr/>
        </p:nvSpPr>
        <p:spPr>
          <a:xfrm>
            <a:off x="64008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 — can't answer about recent events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EDC5727-C421-A151-E437-7D391C6382DD}"/>
              </a:ext>
            </a:extLst>
          </p:cNvPr>
          <p:cNvSpPr/>
          <p:nvPr/>
        </p:nvSpPr>
        <p:spPr>
          <a:xfrm>
            <a:off x="457200" y="31546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2EBF9F6-92BF-13B9-2B90-9DDB1BA154B3}"/>
              </a:ext>
            </a:extLst>
          </p:cNvPr>
          <p:cNvSpPr/>
          <p:nvPr/>
        </p:nvSpPr>
        <p:spPr>
          <a:xfrm>
            <a:off x="457200" y="3154680"/>
            <a:ext cx="54864" cy="86868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AFECE64-548E-5825-FBE2-B6C82B237079}"/>
              </a:ext>
            </a:extLst>
          </p:cNvPr>
          <p:cNvSpPr/>
          <p:nvPr/>
        </p:nvSpPr>
        <p:spPr>
          <a:xfrm>
            <a:off x="64008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Non-Determinism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4C72A2A-BDD9-AE2E-D0DC-493ADA67813A}"/>
              </a:ext>
            </a:extLst>
          </p:cNvPr>
          <p:cNvSpPr/>
          <p:nvPr/>
        </p:nvSpPr>
        <p:spPr>
          <a:xfrm>
            <a:off x="64008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different answer — flaky tests, review churn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176A9F3-D799-82D2-B197-F830ED881D28}"/>
              </a:ext>
            </a:extLst>
          </p:cNvPr>
          <p:cNvSpPr/>
          <p:nvPr/>
        </p:nvSpPr>
        <p:spPr>
          <a:xfrm>
            <a:off x="4663440" y="105156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DD6B76F-B31B-F580-3A0F-ABD4D314C1B1}"/>
              </a:ext>
            </a:extLst>
          </p:cNvPr>
          <p:cNvSpPr/>
          <p:nvPr/>
        </p:nvSpPr>
        <p:spPr>
          <a:xfrm>
            <a:off x="4663440" y="1051560"/>
            <a:ext cx="54864" cy="8686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3864A8-AA61-1EDE-20D5-EE1EE04F4350}"/>
              </a:ext>
            </a:extLst>
          </p:cNvPr>
          <p:cNvSpPr/>
          <p:nvPr/>
        </p:nvSpPr>
        <p:spPr>
          <a:xfrm>
            <a:off x="48463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A3B8046-B188-209E-7F26-4A03BC1219CA}"/>
              </a:ext>
            </a:extLst>
          </p:cNvPr>
          <p:cNvSpPr/>
          <p:nvPr/>
        </p:nvSpPr>
        <p:spPr>
          <a:xfrm>
            <a:off x="48463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threads get truncated; model "forgets" earlier details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4373EEE-E152-0326-1BF5-5D09F6FCB34A}"/>
              </a:ext>
            </a:extLst>
          </p:cNvPr>
          <p:cNvSpPr/>
          <p:nvPr/>
        </p:nvSpPr>
        <p:spPr>
          <a:xfrm>
            <a:off x="4663440" y="210312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095EBF5-AC36-5169-9AA1-7FC907D14BE2}"/>
              </a:ext>
            </a:extLst>
          </p:cNvPr>
          <p:cNvSpPr/>
          <p:nvPr/>
        </p:nvSpPr>
        <p:spPr>
          <a:xfrm>
            <a:off x="4663440" y="2103120"/>
            <a:ext cx="54864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45ACEBB-E81F-639B-D649-397A8BA40F1C}"/>
              </a:ext>
            </a:extLst>
          </p:cNvPr>
          <p:cNvSpPr/>
          <p:nvPr/>
        </p:nvSpPr>
        <p:spPr>
          <a:xfrm>
            <a:off x="484632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Leak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12EAB2-62E3-C7BB-BD21-C6FF8D7FB43B}"/>
              </a:ext>
            </a:extLst>
          </p:cNvPr>
          <p:cNvSpPr/>
          <p:nvPr/>
        </p:nvSpPr>
        <p:spPr>
          <a:xfrm>
            <a:off x="484632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Proprietary/PII text could leave your trusted boundary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D7F0446-BEDB-66C2-BFA5-75E54823436E}"/>
              </a:ext>
            </a:extLst>
          </p:cNvPr>
          <p:cNvSpPr/>
          <p:nvPr/>
        </p:nvSpPr>
        <p:spPr>
          <a:xfrm>
            <a:off x="4663440" y="315468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E6B427F-D983-4768-C209-62552CC19B12}"/>
              </a:ext>
            </a:extLst>
          </p:cNvPr>
          <p:cNvSpPr/>
          <p:nvPr/>
        </p:nvSpPr>
        <p:spPr>
          <a:xfrm>
            <a:off x="4663440" y="3154680"/>
            <a:ext cx="54864" cy="8686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B76B9F9-1CF0-7996-BCA0-0C8E9AE8ED52}"/>
              </a:ext>
            </a:extLst>
          </p:cNvPr>
          <p:cNvSpPr/>
          <p:nvPr/>
        </p:nvSpPr>
        <p:spPr>
          <a:xfrm>
            <a:off x="484632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&amp; Latency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9A3313E-53FF-3DEB-230D-82AA4EBEDB41}"/>
              </a:ext>
            </a:extLst>
          </p:cNvPr>
          <p:cNvSpPr/>
          <p:nvPr/>
        </p:nvSpPr>
        <p:spPr>
          <a:xfrm>
            <a:off x="4846320" y="3520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High-token chains drain budget and slow UX</a:t>
            </a:r>
            <a:endParaRPr lang="en-US" sz="10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A92B625-581E-EEFF-958C-0AB641203EFB}"/>
              </a:ext>
            </a:extLst>
          </p:cNvPr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3A6F007-64B9-5502-35B5-8B40D63D24A0}"/>
              </a:ext>
            </a:extLst>
          </p:cNvPr>
          <p:cNvSpPr/>
          <p:nvPr/>
        </p:nvSpPr>
        <p:spPr>
          <a:xfrm>
            <a:off x="457200" y="4251960"/>
            <a:ext cx="4572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77FDD89-360B-ED10-B43C-DB25DDD40D7B}"/>
              </a:ext>
            </a:extLst>
          </p:cNvPr>
          <p:cNvSpPr/>
          <p:nvPr/>
        </p:nvSpPr>
        <p:spPr>
          <a:xfrm>
            <a:off x="640080" y="42519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bugs — they're inherent to how LLMs work. The key is building systems that mitigate them.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1368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Spring AI Helps Overcome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1163483"/>
            <a:ext cx="215067" cy="215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Guarding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91840" y="1024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constrain behavior (tone, honesty, refusal policy)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0"/>
          </a:xfrm>
          <a:prstGeom prst="line">
            <a:avLst/>
          </a:prstGeom>
          <a:noFill/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457200" y="1792224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1876715"/>
            <a:ext cx="215067" cy="215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Stuffing / RAG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fresh, task-specific context so the model quotes facts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313432"/>
            <a:ext cx="8229600" cy="0"/>
          </a:xfrm>
          <a:prstGeom prst="line">
            <a:avLst/>
          </a:prstGeom>
          <a:noFill/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91" y="2589947"/>
            <a:ext cx="215067" cy="215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2450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invoke code or APIs for real-time data and calculations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026664"/>
            <a:ext cx="8229600" cy="0"/>
          </a:xfrm>
          <a:prstGeom prst="line">
            <a:avLst/>
          </a:prstGeom>
          <a:noFill/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457200" y="3218688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91" y="3303179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163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91840" y="31638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tools as reusable, versioned endpoints every client can share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3739896"/>
            <a:ext cx="8229600" cy="0"/>
          </a:xfrm>
          <a:prstGeom prst="line">
            <a:avLst/>
          </a:prstGeom>
          <a:noFill/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18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691" y="4016411"/>
            <a:ext cx="215067" cy="2150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84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91840" y="387705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prompt, token count, and latency to catch cost/quality issues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01752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spring-ai-zero-to-hero/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applications/               ← Provider-specific apps (pick one)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provider-ollama/        ← LOCAL: no API keys needed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provider-openai/        ← CLOUD: full features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...                     ← anthropic, azure, google, aws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components/                 ← Shared, provider-independent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apis/chat/              ← Stage 1: Chat fundamentals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apis/embedding/         ← Stage 2: Embeddings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apis/vector-store/      ← Stage 3: Vector stores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patterns/               ← Stages 4-5: RAG, memory, CoT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mcp/                        ← Stage 6: MCP servers &amp; clients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agentic-system/             ← Stage 7: Agentic patterns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docker/                     ← PostgreSQL, Grafana LGTM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45720" cy="4572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depend on spring-ai-client-chat (the abstraction). Provider apps add the starter. No code changes to switch.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ChatModel, ChatClient, Prompts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Spring AI — Raw HttpClient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2461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7955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newHttpClient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{ "model": "gpt-4o",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"messages": [{ "role": "user",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"content": "Tell me a joke" }] }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"""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newBuilder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"https://api.openai.com/v1/chat/completions"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"Authorization"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"Bearer 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"application/json"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BodyPublishers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BodyHandlers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manually parse JSON, handle errors, map to objects…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45720" cy="4572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JSON, manual auth, manual error handling, and locked to one provider. Every AI call looks like this.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2290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AI 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292608"/>
          </a:xfrm>
          <a:prstGeom prst="rect">
            <a:avLst/>
          </a:prstGeom>
          <a:solidFill>
            <a:srgbClr val="F0F8EC"/>
          </a:solidFill>
          <a:ln w="63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/chat/01/joke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ChatModel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chatModel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"joke"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getJoke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3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chatModel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"Tell me a joke"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5720" cy="4572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ChatModel.call(String) — string in, string out. The absolute minimum API.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17655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ChatClient — The Fluent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5943600" y="274320"/>
            <a:ext cx="1463040" cy="256032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7955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 response chain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"Tell me a joke about 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getResult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AssistantMessage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getOutput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Shorthand (preferred!)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joke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"Tell me a short joke"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ChatClient is to ChatModel what Spring Data JPA is to JDBC.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99363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ChatClient, Spring AI </a:t>
            </a:r>
            <a:r>
              <a:rPr lang="en-US" sz="1800" dirty="0" err="1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Petclinic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Templates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1E1E1E"/>
          </a:solidFill>
          <a:ln w="6350">
            <a:solidFill>
              <a:srgbClr val="3C3C3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Inline template with {variable} placeholders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"Tell me a joke about {topic}"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"topic"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File-based template (classpath resource)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-&gt;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new 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ClassPathResource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"prompts/plays.st"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45720" cy="457200"/>
          </a:xfrm>
          <a:prstGeom prst="rect">
            <a:avLst/>
          </a:prstGeom>
          <a:solidFill>
            <a:srgbClr val="569CD6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{variable} + .param() instead of string concatenation. Cleaner, testable, supports external files.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30418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 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645920" cy="27432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 — no examples. Works for simple tasks.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1280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"Translate this to French: Hello World"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645920" cy="2743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One/Few-Shot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709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1-3 examples to steer format and style.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0299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happy → Output: sad. Input: big → Output: small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1645920" cy="2743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24597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 — boosts reasoning accuracy.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your reasoning before giving the answer."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164592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32095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prompts into smaller sub-tasks.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0" y="35295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1: Extract entities.  Step 2: Classify sentiment.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986784"/>
            <a:ext cx="1645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39867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3959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persona, constraints, and output format up front.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86000" y="42793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senior Java developer. Reply in JSON only."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Roles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RoleController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defaultSystem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You are a helpful expert on plants, however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you are not allowed to answer any question about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vegetables - you can only answer about fruits.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"""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"/fruit"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color of a banana?"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();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 banana is yellow when ripe"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14928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typed Java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955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Define your target type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publicationYear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typed Java records — the Spring AI magic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[]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2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plays by {author}"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"Shakespeare"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[].</a:t>
            </a:r>
            <a:r>
              <a:rPr lang="en-US" sz="12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45720" cy="4572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.entity(Class) auto-generates JSON schema, appends format instructions, and deserializes. No manual parsing.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698406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with @Tool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39"/>
            <a:ext cx="8229600" cy="3246103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Java methods become AI-callable tools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TimeTools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"Returns the current time in a specific timezone"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currentTimeIn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@ToolParam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"IANA timezone"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ZonedDateTime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ZonedDateTime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ZoneId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timeZone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"Today is 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getDayOfWeek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() +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tools with the prompt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TimeTools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the current time in {city}?"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45720" cy="4572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decides when to call the tool. Spring AI handles the multi-turn conversation automatically.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253391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2286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097280"/>
            <a:ext cx="228600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 + tool schemas (JSON)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tool_call: getWeather("Berlin")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Invoke Java method → send result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"Berlin is 22°C and sunny"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Bean-Based Tools &amp; Multimodal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Existing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3317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FunctionToolCallback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weatherCb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WeatherService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FunctionToolCallback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"weatherFunction"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WeatherRequest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getWeather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inputType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WeatherRequest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 weather"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 Streaming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51460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image + text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"Describe this image"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MimeTypeUtils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IMAGE_PNG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imageResource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Token-by-token streaming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@GetMapping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"/essay"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essay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chatModel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about 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36834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&amp;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&amp; Vector Stores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Semantic Search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Embeddings?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float vectors that capture semantic meaning.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"king"   → [0.12, -0.45, 0.78, 0.33, ...]  ┐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                          ├ close (cosine ~ 0.85)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"queen"  → [0.14, -0.42, 0.75, 0.31, ...]  ┘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 → [-0.67, 0.22, 0.11, -0.89, ...]    far away (~ 0.15)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Generate an embedding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float[] vector = embeddingModel.embed("mountain bike");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768 floats (nomic-embed-text) or 1536 (OpenAI)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Chunking, Reading &amp; Storing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Large documents must be split before embedding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TokenTextSplitter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TokenTextSplitter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chunks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largeDocument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from various sources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JsonReader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jsonReader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JsonReader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bikesResource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"price"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"shortDescription"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 into vector store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splitter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jsonReader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()));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Semantic similarity search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similaritySearch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"mountain bike"</a:t>
            </a: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8580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SimpleVectorStore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423367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zero setup. Great for dev/testing.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3794760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4846320" y="3794760"/>
            <a:ext cx="54864" cy="77724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5074920" y="39044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PgVectorStore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423367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pgvector. HNSW index. Production-ready.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49933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&amp; Chat Memory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AI in Your Data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— Retrieval Augmented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AI pattern for enterprise applications.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645920" cy="411480"/>
          </a:xfrm>
          <a:prstGeom prst="rect">
            <a:avLst/>
          </a:prstGeom>
          <a:solidFill>
            <a:srgbClr val="F0F8EC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645920" cy="411480"/>
          </a:xfrm>
          <a:prstGeom prst="rect">
            <a:avLst/>
          </a:prstGeom>
          <a:solidFill>
            <a:srgbClr val="F0F8EC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260604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645920" cy="411480"/>
          </a:xfrm>
          <a:prstGeom prst="rect">
            <a:avLst/>
          </a:prstGeom>
          <a:solidFill>
            <a:srgbClr val="F0F8EC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prompt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solidFill>
            <a:srgbClr val="F0F8EC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9037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RAG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3931920" cy="205740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594360" y="24231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similaritySearch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getText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joining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qaPrompt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"context"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QuestionAnswerAdvisor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3931920" cy="205740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892040" y="242316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All-in-one: search + augment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advisors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QuestionAnswerAdvisor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Advisor automatically: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Searches vector store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Injects into prompt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Generates answer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4582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Memory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0175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ChatMemory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MessageWindowChatMemory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chatMemoryRepository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InMemoryChatMemoryRepository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maxMessages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defaultAdvisors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PromptChatMemoryAdvisor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1: "Hi, I'm Alice" → stored in memory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Request 2: "What's my name?" → AI remembers "Alice"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"chat_memory_conversation_id"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45720" cy="4572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stateless. The memory advisor re-injects conversation history with every request.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79829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5 &amp;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Patterns &amp; MCP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Thought, Self-Reflection, Model Context Protocol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of Thought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38328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writeBio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Step 1: Create outline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an outline for a biography:\n\n{profile}"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"profile"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Step 2-3: Draft and condense (similar pattern)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Step 4: Refine with expert persona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expert biography editor"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"Polish this biography:\n\n{draft}"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"draft"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05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outline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condensed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refined</a:t>
            </a: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focuses on one aspect. The .system() prompt changes the AI's role per step.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2854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Self-Reflection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9601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201168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49040" y="9601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74904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(revise)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206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0" y="9601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548640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3760" y="960120"/>
            <a:ext cx="1371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22376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B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508760"/>
            <a:ext cx="8229600" cy="25603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594360" y="160020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&lt;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Writer generates (or revises based on feedback)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professional biography writer"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// Critic reviews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harsh but fair biography critic"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"Review this biography:\n\n"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+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042477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 (MCP)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for connecting AI apps to external tools &amp; data sources.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60020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@Bean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ToolCallbackProvider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weatherTools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WeatherService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MethodToolCallbackProvider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toolObjects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Capabilities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functions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21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@McpResource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05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8895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@McpComplete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0F8EC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5720" cy="4572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enables runtime tool discovery. AI apps adapt their capabilities on the fly.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60438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Controls Its Own Execution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Calls to Agents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1254923"/>
            <a:ext cx="215067" cy="215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Call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flow. One prompt, one response.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1-4.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decides what happens.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54864" cy="182880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347472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1" y="1254923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orchestrate multi-step chains. CoT, reflection.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designs the steps.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00584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Shape 13"/>
          <p:cNvSpPr/>
          <p:nvPr/>
        </p:nvSpPr>
        <p:spPr>
          <a:xfrm>
            <a:off x="6126480" y="1005840"/>
            <a:ext cx="54864" cy="18288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4"/>
          <p:cNvSpPr/>
          <p:nvPr/>
        </p:nvSpPr>
        <p:spPr>
          <a:xfrm>
            <a:off x="6309360" y="117043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851" y="1254923"/>
            <a:ext cx="215067" cy="215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12280" y="1115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12280" y="1444752"/>
            <a:ext cx="1691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controls execution. Decides tools, steps, when to stop.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7.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decides what happens.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Monologue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reveals its reasoning via a structured tool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56032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Force the model to always respond via the tool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OpenAiChatOptions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OpenAiChatOptions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toolChoice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"required"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tool captures visible message AND private reasoning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"Send a message to the user"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@ToolParam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message"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BBB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@ToolParam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"Private thoughts"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)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innerThoughts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,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innerThoughts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08084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Model-Directed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whether to continue processing or stop.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377440"/>
          </a:xfrm>
          <a:prstGeom prst="rect">
            <a:avLst/>
          </a:prstGeom>
          <a:solidFill>
            <a:srgbClr val="1E1E1E"/>
          </a:solidFill>
          <a:ln w="6350">
            <a:noFill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&gt;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&lt;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MAX_STEPS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;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OpenAiChatOptions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toolChoice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"required"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</a:t>
            </a: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SendMessageTool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== </a:t>
            </a: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?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userMessage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: </a:t>
            </a: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"Continue."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(!</a:t>
            </a: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requestReinvocation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()) </a:t>
            </a:r>
            <a:r>
              <a:rPr lang="en-US" sz="1100" dirty="0">
                <a:solidFill>
                  <a:srgbClr val="CC78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;  </a:t>
            </a: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says "done"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330761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Metrics &amp; Logs for AI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Observability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OpenTelemetry — production-grade AI monitoring.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1620683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 (Tempo)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43000" y="181051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→ ChatClient → AI Provider. Latency at every layer.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54864" cy="137160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0"/>
          <p:cNvSpPr/>
          <p:nvPr/>
        </p:nvSpPr>
        <p:spPr>
          <a:xfrm>
            <a:off x="3474720" y="153619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211" y="1620683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(Mimir)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77640" y="181051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JVM, HTTP, HikariCP, AI call durations via Micrometer.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54864" cy="137160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Shape 15"/>
          <p:cNvSpPr/>
          <p:nvPr/>
        </p:nvSpPr>
        <p:spPr>
          <a:xfrm>
            <a:off x="6309360" y="1536192"/>
            <a:ext cx="384048" cy="384048"/>
          </a:xfrm>
          <a:prstGeom prst="ellipse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851" y="1620683"/>
            <a:ext cx="215067" cy="21506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48132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(Loki)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812280" y="181051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with trace IDs via Logback OTel appender.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2971800"/>
            <a:ext cx="8229600" cy="105156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Text 19"/>
          <p:cNvSpPr/>
          <p:nvPr/>
        </p:nvSpPr>
        <p:spPr>
          <a:xfrm>
            <a:off x="594360" y="30632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 tracing annotations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@TracedEndpoint   // Controller methods (SpanKind.SERVER)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@TracedService    // Service methods   (SpanKind.INTERNAL)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@TracedRepository // Repository methods (SpanKind.CLIENT)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grafana/otel-lgtm:latest container provides the entire observability stack.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8FD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Code!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Setup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Check prerequisites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./workshop.sh check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Setup infrastructure (Docker, Ollama models)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./workshop.sh setup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Start with Ollama (local, free, all 44 demos)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./workshop.sh start ollama --profiles pgvector,observation,ui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Open the dashboard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http://localhost:8080/dashboard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Try your first AI call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"http://localhost:8080/chat/01/joke?topic=spring"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611880"/>
            <a:ext cx="1828800" cy="685800"/>
          </a:xfrm>
          <a:prstGeom prst="rect">
            <a:avLst/>
          </a:prstGeom>
          <a:solidFill>
            <a:srgbClr val="F7F9F4"/>
          </a:solidFill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JDK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3611880"/>
            <a:ext cx="1828800" cy="685800"/>
          </a:xfrm>
          <a:prstGeom prst="rect">
            <a:avLst/>
          </a:prstGeom>
          <a:solidFill>
            <a:srgbClr val="F7F9F4"/>
          </a:solidFill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25146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611880"/>
            <a:ext cx="1828800" cy="685800"/>
          </a:xfrm>
          <a:prstGeom prst="rect">
            <a:avLst/>
          </a:prstGeom>
          <a:solidFill>
            <a:srgbClr val="F7F9F4"/>
          </a:solidFill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Ollama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3611880"/>
            <a:ext cx="1828800" cy="685800"/>
          </a:xfrm>
          <a:prstGeom prst="rect">
            <a:avLst/>
          </a:prstGeom>
          <a:solidFill>
            <a:srgbClr val="F7F9F4"/>
          </a:solidFill>
          <a:ln w="635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6294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mvnw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Profiles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Adds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vector store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48640" y="17556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1755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pgvector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17556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PostgreSQL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21396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1396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tracing + 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39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LGTM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23744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48640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2523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inspection proxy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5237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F7F9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48640" y="29077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2907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4F6F8"/>
          </a:solidFill>
          <a:ln w="6350">
            <a:solidFill>
              <a:srgbClr val="DEE2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594360" y="34747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freely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./workshop.sh start ollama --profiles pgvector,observation,ui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./workshop.sh start openai --profiles spy,pgvector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0"/>
          </a:xfrm>
          <a:prstGeom prst="line">
            <a:avLst/>
          </a:prstGeom>
          <a:noFill/>
          <a:ln w="31750">
            <a:solidFill>
              <a:srgbClr val="6DB33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Fundamentals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005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ChatClient, @Tool, ChatOptions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EmbeddingModel, TokenTextSplitter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VectorStore, similaritySearch()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Patterns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QuestionAnswerAdvisor, ChatMemory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834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 of Thought, Self-Reflection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2918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Server/Client starters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749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toolChoice("required"), loops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320040" cy="320040"/>
          </a:xfrm>
          <a:prstGeom prst="ellipse">
            <a:avLst/>
          </a:prstGeom>
          <a:solidFill>
            <a:srgbClr val="6DB3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57200" y="4251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4206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OTel, Micrometer, Grafana LGTM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peaceful-beautiful-franklin/mnt/springiobarcelona26--spring-ai-zero-to-hero/ai-content/springi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82880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Zero-to-Hero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347472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4.0.5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34640" y="347472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283464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AI 2.0.0-M4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12080" y="3474720"/>
            <a:ext cx="2103120" cy="347472"/>
          </a:xfrm>
          <a:prstGeom prst="rect">
            <a:avLst/>
          </a:prstGeom>
          <a:solidFill>
            <a:srgbClr val="4A8C2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212080" y="3474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25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  •  April 13-15, 2026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uff the Prom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1"/>
                </a:solidFill>
                <a:latin typeface="Georgia" pitchFamily="34" charset="0"/>
              </a:rPr>
              <a:t>Stuff the Prompt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</a:rPr>
              <a:t xml:space="preserve">Simplest context pattern: load a document and inject it directly into the prompt. No embeddings, no vector store.</a:t>
            </a:r>
          </a:p>
        </p:txBody>
      </p:sp>
      <p:sp>
        <p:nvSpPr>
          <p:cNvPr id="4" name="LabelLeft"/>
          <p:cNvSpPr/>
          <p:nvPr/>
        </p:nvSpPr>
        <p:spPr>
          <a:xfrm>
            <a:off x="457200" y="1097280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</a:rPr>
              <a:t>StuffController.java</a:t>
            </a:r>
          </a:p>
        </p:txBody>
      </p:sp>
      <p:sp>
        <p:nvSpPr>
          <p:cNvPr id="5" name="LabelRight"/>
          <p:cNvSpPr/>
          <p:nvPr/>
        </p:nvSpPr>
        <p:spPr>
          <a:xfrm>
            <a:off x="5486040" y="1097280"/>
            <a:ext cx="320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</a:rPr>
              <a:t>qa-prompt.st</a:t>
            </a:r>
          </a:p>
        </p:txBody>
      </p:sp>
      <p:sp>
        <p:nvSpPr>
          <p:cNvPr id="6" name="CodeLeft"/>
          <p:cNvSpPr/>
          <p:nvPr/>
        </p:nvSpPr>
        <p:spPr>
          <a:xfrm>
            <a:off x="457200" y="1371600"/>
            <a:ext cx="4800600" cy="2743200"/>
          </a:xfrm>
          <a:prstGeom prst="rect">
            <a:avLst/>
          </a:prstGeom>
          <a:solidFill>
            <a:srgbClr val="F4F6F8"/>
          </a:solidFill>
          <a:ln>
            <a:solidFill>
              <a:srgbClr val="ECF0F1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onsolas" pitchFamily="49" charset="0"/>
              </a:rPr>
              <a:t>@Value("classpath:/docs/wikipedia-curling.md")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private Resource docsToStuffResource;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onsolas" pitchFamily="49" charset="0"/>
              </a:rPr>
              <a:t>@Value("classpath:/prompts/qa-prompt.st")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private Resource qaPromptResource;</a:t>
            </a: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onsolas" pitchFamily="49" charset="0"/>
              </a:rPr>
              <a:t>@GetMapping("/query")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public String query(@RequestParam String message) {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  PromptTemplate pt = new PromptTemplate(qaPromptResource);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  map.put("question", message);</a:t>
            </a:r>
          </a:p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49" charset="0"/>
              </a:rPr>
              <a:t xml:space="preserve">  map.put("context", docsToStuffResource); // full doc!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  Prompt prompt = pt.create(map);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  return chatModel.call(prompt)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 xml:space="preserve">      .getResult().getOutput().getText();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49" charset="0"/>
              </a:rPr>
              <a:t>}</a:t>
            </a:r>
          </a:p>
        </p:txBody>
      </p:sp>
      <p:sp>
        <p:nvSpPr>
          <p:cNvPr id="7" name="CodeRight"/>
          <p:cNvSpPr/>
          <p:nvPr/>
        </p:nvSpPr>
        <p:spPr>
          <a:xfrm>
            <a:off x="5486040" y="1371600"/>
            <a:ext cx="3200760" cy="2743200"/>
          </a:xfrm>
          <a:prstGeom prst="rect">
            <a:avLst/>
          </a:prstGeom>
          <a:solidFill>
            <a:srgbClr val="F4F6F8"/>
          </a:solidFill>
          <a:ln>
            <a:solidFill>
              <a:srgbClr val="ECF0F1"/>
            </a:solidFill>
          </a:ln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49" charset="0"/>
              </a:rPr>
              <a:t>Use the following context to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49" charset="0"/>
              </a:rPr>
              <a:t>answer the question at the end.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49" charset="0"/>
              </a:rPr>
              <a:t xml:space="preserve">If you don’t know, say so.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49" charset="0"/>
              </a:rPr>
              <a:t>{context}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49" charset="0"/>
              </a:rPr>
              <a:t>Question: {question}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49" charset="0"/>
              </a:rPr>
              <a:t>Helpful Answer:</a:t>
            </a:r>
          </a:p>
        </p:txBody>
      </p:sp>
      <p:sp>
        <p:nvSpPr>
          <p:cNvPr id="8" name="Callout"/>
          <p:cNvSpPr/>
          <p:nvPr/>
        </p:nvSpPr>
        <p:spPr>
          <a:xfrm>
            <a:off x="457200" y="4343880"/>
            <a:ext cx="8229600" cy="457200"/>
          </a:xfrm>
          <a:prstGeom prst="rect">
            <a:avLst/>
          </a:prstGeom>
          <a:solidFill>
            <a:srgbClr val="6DB33F"/>
          </a:solidFill>
          <a:ln>
            <a:noFill/>
          </a:ln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</a:rPr>
              <a:t xml:space="preserve">Works great for small docs that fit in the token window. When context grows too large, graduate to RAG.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4DC520-6197-C94F-8DBF-A0AA5547F22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927b1bf-bb2f-4230-8063-33256ee6795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4418</Words>
  <Application>Microsoft Macintosh PowerPoint</Application>
  <PresentationFormat>On-screen Show (16:9)</PresentationFormat>
  <Paragraphs>787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AI Zero-to-Hero — Spring I/O Barcelona 2026</dc:title>
  <dc:subject>PptxGenJS Presentation</dc:subject>
  <dc:creator>Oded Shopen</dc:creator>
  <cp:lastModifiedBy>Microsoft Office User</cp:lastModifiedBy>
  <cp:revision>2</cp:revision>
  <dcterms:created xsi:type="dcterms:W3CDTF">2026-04-10T15:47:43Z</dcterms:created>
  <dcterms:modified xsi:type="dcterms:W3CDTF">2026-04-10T16:13:49Z</dcterms:modified>
</cp:coreProperties>
</file>