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3" r:id="rId2"/>
  </p:sldMasterIdLst>
  <p:notesMasterIdLst>
    <p:notesMasterId r:id="rId6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332" r:id="rId19"/>
    <p:sldId id="333" r:id="rId20"/>
    <p:sldId id="272" r:id="rId21"/>
    <p:sldId id="273" r:id="rId22"/>
    <p:sldId id="331" r:id="rId23"/>
    <p:sldId id="275" r:id="rId24"/>
    <p:sldId id="312" r:id="rId25"/>
    <p:sldId id="276" r:id="rId26"/>
    <p:sldId id="277" r:id="rId27"/>
    <p:sldId id="278" r:id="rId28"/>
    <p:sldId id="314" r:id="rId29"/>
    <p:sldId id="315" r:id="rId30"/>
    <p:sldId id="316" r:id="rId31"/>
    <p:sldId id="282" r:id="rId32"/>
    <p:sldId id="313" r:id="rId33"/>
    <p:sldId id="284" r:id="rId34"/>
    <p:sldId id="318" r:id="rId35"/>
    <p:sldId id="2147470684" r:id="rId36"/>
    <p:sldId id="319" r:id="rId37"/>
    <p:sldId id="2147470685" r:id="rId38"/>
    <p:sldId id="2147470659" r:id="rId39"/>
    <p:sldId id="2147470660" r:id="rId40"/>
    <p:sldId id="2147470661" r:id="rId41"/>
    <p:sldId id="2147470662" r:id="rId42"/>
    <p:sldId id="2147470663" r:id="rId43"/>
    <p:sldId id="317" r:id="rId44"/>
    <p:sldId id="320" r:id="rId45"/>
    <p:sldId id="2147470686" r:id="rId71"/>
    <p:sldId id="291" r:id="rId46"/>
    <p:sldId id="292" r:id="rId47"/>
    <p:sldId id="321" r:id="rId48"/>
    <p:sldId id="294" r:id="rId49"/>
    <p:sldId id="329" r:id="rId50"/>
    <p:sldId id="322" r:id="rId51"/>
    <p:sldId id="323" r:id="rId52"/>
    <p:sldId id="297" r:id="rId53"/>
    <p:sldId id="324" r:id="rId54"/>
    <p:sldId id="325" r:id="rId55"/>
    <p:sldId id="326" r:id="rId56"/>
    <p:sldId id="301" r:id="rId57"/>
    <p:sldId id="302" r:id="rId58"/>
    <p:sldId id="327" r:id="rId59"/>
    <p:sldId id="328" r:id="rId60"/>
    <p:sldId id="307" r:id="rId61"/>
    <p:sldId id="308" r:id="rId62"/>
    <p:sldId id="309" r:id="rId63"/>
    <p:sldId id="310" r:id="rId64"/>
    <p:sldId id="311" r:id="rId6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83"/>
    <p:restoredTop sz="94610"/>
  </p:normalViewPr>
  <p:slideViewPr>
    <p:cSldViewPr snapToGrid="0" snapToObjects="1">
      <p:cViewPr varScale="1">
        <p:scale>
          <a:sx n="240" d="100"/>
          <a:sy n="240" d="100"/>
        </p:scale>
        <p:origin x="192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827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5" name="Google Shape;3235;g2cfb90bb72b_0_15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701675"/>
            <a:ext cx="6238875" cy="35099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6" name="Google Shape;3236;g2cfb90bb72b_0_1558:notes"/>
          <p:cNvSpPr txBox="1">
            <a:spLocks noGrp="1"/>
          </p:cNvSpPr>
          <p:nvPr>
            <p:ph type="body" idx="1"/>
          </p:nvPr>
        </p:nvSpPr>
        <p:spPr>
          <a:xfrm>
            <a:off x="708660" y="4445953"/>
            <a:ext cx="5669400" cy="42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0960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400"/>
              <a:buChar char="●"/>
            </a:pPr>
            <a:r>
              <a:rPr lang="en-US" sz="2000">
                <a:solidFill>
                  <a:srgbClr val="000001"/>
                </a:solidFill>
              </a:rPr>
              <a:t>Each database had a different, but yet similar API</a:t>
            </a:r>
            <a:endParaRPr sz="2000">
              <a:solidFill>
                <a:srgbClr val="000001"/>
              </a:solidFill>
            </a:endParaRPr>
          </a:p>
          <a:p>
            <a:pPr marL="60960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400"/>
              <a:buChar char="●"/>
            </a:pPr>
            <a:r>
              <a:rPr lang="en-US" sz="2000">
                <a:solidFill>
                  <a:srgbClr val="000001"/>
                </a:solidFill>
              </a:rPr>
              <a:t>This limited portability so standardization occurred, ODBC/JDBC</a:t>
            </a:r>
            <a:endParaRPr sz="2000">
              <a:solidFill>
                <a:srgbClr val="000001"/>
              </a:solidFill>
            </a:endParaRPr>
          </a:p>
          <a:p>
            <a:pPr marL="60960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400"/>
              <a:buChar char="●"/>
            </a:pPr>
            <a:r>
              <a:rPr lang="en-US" sz="2000">
                <a:solidFill>
                  <a:srgbClr val="000001"/>
                </a:solidFill>
              </a:rPr>
              <a:t>This helped but did it was still difficult to create database applications</a:t>
            </a:r>
            <a:endParaRPr sz="2000">
              <a:solidFill>
                <a:srgbClr val="000001"/>
              </a:solidFill>
            </a:endParaRPr>
          </a:p>
          <a:p>
            <a:pPr marL="60960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400"/>
              <a:buChar char="●"/>
            </a:pPr>
            <a:r>
              <a:rPr lang="en-US" sz="2000">
                <a:solidFill>
                  <a:srgbClr val="000001"/>
                </a:solidFill>
              </a:rPr>
              <a:t>Many Java database frameworks evolved in the late 90s early 00s</a:t>
            </a:r>
            <a:endParaRPr sz="2000">
              <a:solidFill>
                <a:srgbClr val="000001"/>
              </a:solidFill>
            </a:endParaRPr>
          </a:p>
          <a:p>
            <a:pPr marL="1219200" lvl="1" indent="-425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1"/>
              </a:buClr>
              <a:buSzPts val="1900"/>
              <a:buChar char="○"/>
            </a:pPr>
            <a:r>
              <a:rPr lang="en-US" sz="1800">
                <a:solidFill>
                  <a:srgbClr val="000001"/>
                </a:solidFill>
              </a:rPr>
              <a:t>Spring was one of these frameworks,</a:t>
            </a:r>
            <a:endParaRPr sz="1800">
              <a:solidFill>
                <a:srgbClr val="000001"/>
              </a:solidFill>
            </a:endParaRPr>
          </a:p>
          <a:p>
            <a:pPr marL="1219200" lvl="1" indent="-425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1"/>
              </a:buClr>
              <a:buSzPts val="1900"/>
              <a:buChar char="○"/>
            </a:pPr>
            <a:r>
              <a:rPr lang="en-US" sz="1800">
                <a:solidFill>
                  <a:srgbClr val="000001"/>
                </a:solidFill>
              </a:rPr>
              <a:t>The impedance mismatch between the JDBC APIs (Result Sets) and Objects we bridged.</a:t>
            </a:r>
            <a:endParaRPr sz="1800">
              <a:solidFill>
                <a:srgbClr val="000001"/>
              </a:solidFill>
            </a:endParaRPr>
          </a:p>
          <a:p>
            <a:pPr marL="1219200" lvl="1" indent="-425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1"/>
              </a:buClr>
              <a:buSzPts val="1900"/>
              <a:buChar char="○"/>
            </a:pPr>
            <a:r>
              <a:rPr lang="en-US" sz="1800">
                <a:solidFill>
                  <a:srgbClr val="000001"/>
                </a:solidFill>
              </a:rPr>
              <a:t>Spring also integrated with other frameworks such a Hibernate, that defined object relational mapping, now JPA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744018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1" name="Google Shape;3261;g2cfb90bb72b_0_15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701675"/>
            <a:ext cx="6238875" cy="35099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2" name="Google Shape;3262;g2cfb90bb72b_0_1583:notes"/>
          <p:cNvSpPr txBox="1">
            <a:spLocks noGrp="1"/>
          </p:cNvSpPr>
          <p:nvPr>
            <p:ph type="body" idx="1"/>
          </p:nvPr>
        </p:nvSpPr>
        <p:spPr>
          <a:xfrm>
            <a:off x="708660" y="4445953"/>
            <a:ext cx="5669400" cy="42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0960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400"/>
              <a:buChar char="●"/>
            </a:pPr>
            <a:r>
              <a:rPr lang="en-US" sz="2000">
                <a:solidFill>
                  <a:srgbClr val="000001"/>
                </a:solidFill>
              </a:rPr>
              <a:t>Spring AI’s AiClient is analogous to the JDBC API</a:t>
            </a:r>
            <a:endParaRPr sz="2000">
              <a:solidFill>
                <a:srgbClr val="000001"/>
              </a:solidFill>
            </a:endParaRPr>
          </a:p>
          <a:p>
            <a:pPr marL="1219200" lvl="1" indent="-425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1"/>
              </a:buClr>
              <a:buSzPts val="1900"/>
              <a:buChar char="○"/>
            </a:pPr>
            <a:r>
              <a:rPr lang="en-US" sz="1800">
                <a:solidFill>
                  <a:srgbClr val="000001"/>
                </a:solidFill>
              </a:rPr>
              <a:t>Provides portability, but still low level</a:t>
            </a:r>
            <a:endParaRPr sz="1800">
              <a:solidFill>
                <a:srgbClr val="000001"/>
              </a:solidFill>
            </a:endParaRPr>
          </a:p>
          <a:p>
            <a:pPr marL="609600" lvl="0" indent="-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2400"/>
              <a:buChar char="●"/>
            </a:pPr>
            <a:r>
              <a:rPr lang="en-US" sz="2000">
                <a:solidFill>
                  <a:srgbClr val="000001"/>
                </a:solidFill>
              </a:rPr>
              <a:t>Spring AI is building upon that foundation to provide developers a simple means to solve higher level use cases such as </a:t>
            </a:r>
            <a:endParaRPr sz="2000">
              <a:solidFill>
                <a:srgbClr val="000001"/>
              </a:solidFill>
            </a:endParaRPr>
          </a:p>
          <a:p>
            <a:pPr marL="1219200" lvl="1" indent="-425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1"/>
              </a:buClr>
              <a:buSzPts val="1900"/>
              <a:buChar char="○"/>
            </a:pPr>
            <a:r>
              <a:rPr lang="en-US" sz="1800">
                <a:solidFill>
                  <a:srgbClr val="000001"/>
                </a:solidFill>
              </a:rPr>
              <a:t>Chat, Q&amp;A, Summarization, Agents and high level AI driven workflows.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106342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2C087-F676-B35E-CE43-0B2DF9E20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8DA63-E05B-C954-D38C-FFFD9B947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F50C4-B7D9-0694-EE9E-BEE2554B5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ED7C1-9379-EC4A-68CD-8CB50C075E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8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3338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2" name="Google Shape;3562;g26fc22a22e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1675"/>
            <a:ext cx="6242050" cy="35115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3" name="Google Shape;3563;g26fc22a22e9_0_0:notes"/>
          <p:cNvSpPr txBox="1">
            <a:spLocks noGrp="1"/>
          </p:cNvSpPr>
          <p:nvPr>
            <p:ph type="body" idx="1"/>
          </p:nvPr>
        </p:nvSpPr>
        <p:spPr>
          <a:xfrm>
            <a:off x="708661" y="4445953"/>
            <a:ext cx="5669400" cy="4212000"/>
          </a:xfrm>
          <a:prstGeom prst="rect">
            <a:avLst/>
          </a:prstGeom>
        </p:spPr>
        <p:txBody>
          <a:bodyPr spcFirstLastPara="1" wrap="square" lIns="95050" tIns="47525" rIns="95050" bIns="47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4" name="Google Shape;3564;g26fc22a22e9_0_0:notes"/>
          <p:cNvSpPr txBox="1">
            <a:spLocks noGrp="1"/>
          </p:cNvSpPr>
          <p:nvPr>
            <p:ph type="sldNum" idx="12"/>
          </p:nvPr>
        </p:nvSpPr>
        <p:spPr>
          <a:xfrm>
            <a:off x="4014101" y="8890282"/>
            <a:ext cx="3070800" cy="468000"/>
          </a:xfrm>
          <a:prstGeom prst="rect">
            <a:avLst/>
          </a:prstGeom>
        </p:spPr>
        <p:txBody>
          <a:bodyPr spcFirstLastPara="1" wrap="square" lIns="95050" tIns="47525" rIns="95050" bIns="475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17074"/>
                </a:solidFill>
                <a:effectLst/>
                <a:uLnTx/>
                <a:uFillTx/>
                <a:latin typeface="Metropolis" panose="000005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  <a:tabLst/>
                <a:defRPr/>
              </a:pPr>
              <a:t>36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717074"/>
              </a:solidFill>
              <a:effectLst/>
              <a:uLnTx/>
              <a:uFillTx/>
              <a:latin typeface="Metropolis" panose="00000500000000000000" pitchFamily="50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1">
          <a:extLst>
            <a:ext uri="{FF2B5EF4-FFF2-40B4-BE49-F238E27FC236}">
              <a16:creationId xmlns:a16="http://schemas.microsoft.com/office/drawing/2014/main" id="{73784B7D-FDC3-F251-52BB-B04C1EE50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2" name="Google Shape;3562;g26fc22a22e9_0_0:notes">
            <a:extLst>
              <a:ext uri="{FF2B5EF4-FFF2-40B4-BE49-F238E27FC236}">
                <a16:creationId xmlns:a16="http://schemas.microsoft.com/office/drawing/2014/main" id="{1D2952C9-5749-B7F9-5B0F-8928DA4474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1675"/>
            <a:ext cx="6242050" cy="35115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3" name="Google Shape;3563;g26fc22a22e9_0_0:notes">
            <a:extLst>
              <a:ext uri="{FF2B5EF4-FFF2-40B4-BE49-F238E27FC236}">
                <a16:creationId xmlns:a16="http://schemas.microsoft.com/office/drawing/2014/main" id="{EF58E333-8997-277E-29F0-3205E37474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8661" y="4445953"/>
            <a:ext cx="5669400" cy="4212000"/>
          </a:xfrm>
          <a:prstGeom prst="rect">
            <a:avLst/>
          </a:prstGeom>
        </p:spPr>
        <p:txBody>
          <a:bodyPr spcFirstLastPara="1" wrap="square" lIns="95050" tIns="47525" rIns="95050" bIns="47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4" name="Google Shape;3564;g26fc22a22e9_0_0:notes">
            <a:extLst>
              <a:ext uri="{FF2B5EF4-FFF2-40B4-BE49-F238E27FC236}">
                <a16:creationId xmlns:a16="http://schemas.microsoft.com/office/drawing/2014/main" id="{45BF55AD-CE45-4226-2B2C-267927DD88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14101" y="8890282"/>
            <a:ext cx="3070800" cy="468000"/>
          </a:xfrm>
          <a:prstGeom prst="rect">
            <a:avLst/>
          </a:prstGeom>
        </p:spPr>
        <p:txBody>
          <a:bodyPr spcFirstLastPara="1" wrap="square" lIns="95050" tIns="47525" rIns="95050" bIns="475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17074"/>
                </a:solidFill>
                <a:effectLst/>
                <a:uLnTx/>
                <a:uFillTx/>
                <a:latin typeface="Metropolis" panose="000005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  <a:tabLst/>
                <a:defRPr/>
              </a:pPr>
              <a:t>37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717074"/>
              </a:solidFill>
              <a:effectLst/>
              <a:uLnTx/>
              <a:uFillTx/>
              <a:latin typeface="Metropolis" panose="00000500000000000000" pitchFamily="5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75622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1">
          <a:extLst>
            <a:ext uri="{FF2B5EF4-FFF2-40B4-BE49-F238E27FC236}">
              <a16:creationId xmlns:a16="http://schemas.microsoft.com/office/drawing/2014/main" id="{FC91475A-9728-3A3A-C264-7A266F273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2" name="Google Shape;3562;g26fc22a22e9_0_0:notes">
            <a:extLst>
              <a:ext uri="{FF2B5EF4-FFF2-40B4-BE49-F238E27FC236}">
                <a16:creationId xmlns:a16="http://schemas.microsoft.com/office/drawing/2014/main" id="{F574B281-7989-E687-8C8F-07AAEEE80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1675"/>
            <a:ext cx="6242050" cy="35115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3" name="Google Shape;3563;g26fc22a22e9_0_0:notes">
            <a:extLst>
              <a:ext uri="{FF2B5EF4-FFF2-40B4-BE49-F238E27FC236}">
                <a16:creationId xmlns:a16="http://schemas.microsoft.com/office/drawing/2014/main" id="{15569E7F-5B35-EB16-F243-B9E529666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8661" y="4445953"/>
            <a:ext cx="5669400" cy="4212000"/>
          </a:xfrm>
          <a:prstGeom prst="rect">
            <a:avLst/>
          </a:prstGeom>
        </p:spPr>
        <p:txBody>
          <a:bodyPr spcFirstLastPara="1" wrap="square" lIns="95050" tIns="47525" rIns="95050" bIns="47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4" name="Google Shape;3564;g26fc22a22e9_0_0:notes">
            <a:extLst>
              <a:ext uri="{FF2B5EF4-FFF2-40B4-BE49-F238E27FC236}">
                <a16:creationId xmlns:a16="http://schemas.microsoft.com/office/drawing/2014/main" id="{5086EA9D-638B-62C7-3A42-53CC115633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14101" y="8890282"/>
            <a:ext cx="3070800" cy="468000"/>
          </a:xfrm>
          <a:prstGeom prst="rect">
            <a:avLst/>
          </a:prstGeom>
        </p:spPr>
        <p:txBody>
          <a:bodyPr spcFirstLastPara="1" wrap="square" lIns="95050" tIns="47525" rIns="95050" bIns="475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17074"/>
                </a:solidFill>
                <a:effectLst/>
                <a:uLnTx/>
                <a:uFillTx/>
                <a:latin typeface="Metropolis" panose="000005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  <a:tabLst/>
                <a:defRPr/>
              </a:pPr>
              <a:t>38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717074"/>
              </a:solidFill>
              <a:effectLst/>
              <a:uLnTx/>
              <a:uFillTx/>
              <a:latin typeface="Metropolis" panose="00000500000000000000" pitchFamily="5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20975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1">
          <a:extLst>
            <a:ext uri="{FF2B5EF4-FFF2-40B4-BE49-F238E27FC236}">
              <a16:creationId xmlns:a16="http://schemas.microsoft.com/office/drawing/2014/main" id="{75E9BC5E-55CF-F038-35CC-31E852421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2" name="Google Shape;3562;g26fc22a22e9_0_0:notes">
            <a:extLst>
              <a:ext uri="{FF2B5EF4-FFF2-40B4-BE49-F238E27FC236}">
                <a16:creationId xmlns:a16="http://schemas.microsoft.com/office/drawing/2014/main" id="{5F834479-A138-DF2D-F0A5-3614D28A3C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1675"/>
            <a:ext cx="6242050" cy="35115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3" name="Google Shape;3563;g26fc22a22e9_0_0:notes">
            <a:extLst>
              <a:ext uri="{FF2B5EF4-FFF2-40B4-BE49-F238E27FC236}">
                <a16:creationId xmlns:a16="http://schemas.microsoft.com/office/drawing/2014/main" id="{7A2663E1-BF73-B407-34E5-591E8DB1BD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8661" y="4445953"/>
            <a:ext cx="5669400" cy="4212000"/>
          </a:xfrm>
          <a:prstGeom prst="rect">
            <a:avLst/>
          </a:prstGeom>
        </p:spPr>
        <p:txBody>
          <a:bodyPr spcFirstLastPara="1" wrap="square" lIns="95050" tIns="47525" rIns="95050" bIns="47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4" name="Google Shape;3564;g26fc22a22e9_0_0:notes">
            <a:extLst>
              <a:ext uri="{FF2B5EF4-FFF2-40B4-BE49-F238E27FC236}">
                <a16:creationId xmlns:a16="http://schemas.microsoft.com/office/drawing/2014/main" id="{72BAFB78-D7EB-A47D-B22F-8B03E71448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14101" y="8890282"/>
            <a:ext cx="3070800" cy="468000"/>
          </a:xfrm>
          <a:prstGeom prst="rect">
            <a:avLst/>
          </a:prstGeom>
        </p:spPr>
        <p:txBody>
          <a:bodyPr spcFirstLastPara="1" wrap="square" lIns="95050" tIns="47525" rIns="95050" bIns="475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17074"/>
                </a:solidFill>
                <a:effectLst/>
                <a:uLnTx/>
                <a:uFillTx/>
                <a:latin typeface="Metropolis" panose="000005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  <a:tabLst/>
                <a:defRPr/>
              </a:pPr>
              <a:t>39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717074"/>
              </a:solidFill>
              <a:effectLst/>
              <a:uLnTx/>
              <a:uFillTx/>
              <a:latin typeface="Metropolis" panose="00000500000000000000" pitchFamily="5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654975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1">
          <a:extLst>
            <a:ext uri="{FF2B5EF4-FFF2-40B4-BE49-F238E27FC236}">
              <a16:creationId xmlns:a16="http://schemas.microsoft.com/office/drawing/2014/main" id="{2A1565A4-3FE0-2E96-9E74-ECCDEA2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2" name="Google Shape;3562;g26fc22a22e9_0_0:notes">
            <a:extLst>
              <a:ext uri="{FF2B5EF4-FFF2-40B4-BE49-F238E27FC236}">
                <a16:creationId xmlns:a16="http://schemas.microsoft.com/office/drawing/2014/main" id="{7E7888EE-9B9A-3146-79F3-CAB1A53E3B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1675"/>
            <a:ext cx="6242050" cy="35115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3" name="Google Shape;3563;g26fc22a22e9_0_0:notes">
            <a:extLst>
              <a:ext uri="{FF2B5EF4-FFF2-40B4-BE49-F238E27FC236}">
                <a16:creationId xmlns:a16="http://schemas.microsoft.com/office/drawing/2014/main" id="{7BE46A59-7CE3-702E-AB54-86DC6F0358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8661" y="4445953"/>
            <a:ext cx="5669400" cy="4212000"/>
          </a:xfrm>
          <a:prstGeom prst="rect">
            <a:avLst/>
          </a:prstGeom>
        </p:spPr>
        <p:txBody>
          <a:bodyPr spcFirstLastPara="1" wrap="square" lIns="95050" tIns="47525" rIns="95050" bIns="47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4" name="Google Shape;3564;g26fc22a22e9_0_0:notes">
            <a:extLst>
              <a:ext uri="{FF2B5EF4-FFF2-40B4-BE49-F238E27FC236}">
                <a16:creationId xmlns:a16="http://schemas.microsoft.com/office/drawing/2014/main" id="{5ECC1388-CD18-0616-E7D9-1E2F7031E34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14101" y="8890282"/>
            <a:ext cx="3070800" cy="468000"/>
          </a:xfrm>
          <a:prstGeom prst="rect">
            <a:avLst/>
          </a:prstGeom>
        </p:spPr>
        <p:txBody>
          <a:bodyPr spcFirstLastPara="1" wrap="square" lIns="95050" tIns="47525" rIns="95050" bIns="475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17074"/>
                </a:solidFill>
                <a:effectLst/>
                <a:uLnTx/>
                <a:uFillTx/>
                <a:latin typeface="Metropolis" panose="000005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  <a:tabLst/>
                <a:defRPr/>
              </a:pPr>
              <a:t>40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717074"/>
              </a:solidFill>
              <a:effectLst/>
              <a:uLnTx/>
              <a:uFillTx/>
              <a:latin typeface="Metropolis" panose="00000500000000000000" pitchFamily="5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871937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1">
          <a:extLst>
            <a:ext uri="{FF2B5EF4-FFF2-40B4-BE49-F238E27FC236}">
              <a16:creationId xmlns:a16="http://schemas.microsoft.com/office/drawing/2014/main" id="{28B4F284-DE2C-57DA-1A34-62D423EA8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2" name="Google Shape;3562;g26fc22a22e9_0_0:notes">
            <a:extLst>
              <a:ext uri="{FF2B5EF4-FFF2-40B4-BE49-F238E27FC236}">
                <a16:creationId xmlns:a16="http://schemas.microsoft.com/office/drawing/2014/main" id="{A1D24E8D-3B92-DACC-D947-EE21BE95A8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701675"/>
            <a:ext cx="6242050" cy="35115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3" name="Google Shape;3563;g26fc22a22e9_0_0:notes">
            <a:extLst>
              <a:ext uri="{FF2B5EF4-FFF2-40B4-BE49-F238E27FC236}">
                <a16:creationId xmlns:a16="http://schemas.microsoft.com/office/drawing/2014/main" id="{1C9D064C-0D9F-55A3-AD41-F0986EC9DF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8661" y="4445953"/>
            <a:ext cx="5669400" cy="4212000"/>
          </a:xfrm>
          <a:prstGeom prst="rect">
            <a:avLst/>
          </a:prstGeom>
        </p:spPr>
        <p:txBody>
          <a:bodyPr spcFirstLastPara="1" wrap="square" lIns="95050" tIns="47525" rIns="95050" bIns="475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4" name="Google Shape;3564;g26fc22a22e9_0_0:notes">
            <a:extLst>
              <a:ext uri="{FF2B5EF4-FFF2-40B4-BE49-F238E27FC236}">
                <a16:creationId xmlns:a16="http://schemas.microsoft.com/office/drawing/2014/main" id="{E3B071BB-7C2E-952F-41FB-6D86B21C51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14101" y="8890282"/>
            <a:ext cx="3070800" cy="468000"/>
          </a:xfrm>
          <a:prstGeom prst="rect">
            <a:avLst/>
          </a:prstGeom>
        </p:spPr>
        <p:txBody>
          <a:bodyPr spcFirstLastPara="1" wrap="square" lIns="95050" tIns="47525" rIns="95050" bIns="47525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17074"/>
                </a:solidFill>
                <a:effectLst/>
                <a:uLnTx/>
                <a:uFillTx/>
                <a:latin typeface="Metropolis" panose="00000500000000000000" pitchFamily="50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  <a:tabLst/>
                <a:defRPr/>
              </a:pPr>
              <a:t>41</a:t>
            </a:fld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rgbClr val="717074"/>
              </a:solidFill>
              <a:effectLst/>
              <a:uLnTx/>
              <a:uFillTx/>
              <a:latin typeface="Metropolis" panose="00000500000000000000" pitchFamily="5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921410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3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3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4910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Zero-to-Hero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6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389120"/>
            <a:ext cx="1828800" cy="36576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6DB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gradFill>
          <a:gsLst>
            <a:gs pos="13000">
              <a:srgbClr val="0036A4"/>
            </a:gs>
            <a:gs pos="0">
              <a:srgbClr val="005BF8"/>
            </a:gs>
            <a:gs pos="39000">
              <a:srgbClr val="001559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black background with blue dots  Description automatically generated">
            <a:extLst>
              <a:ext uri="{FF2B5EF4-FFF2-40B4-BE49-F238E27FC236}">
                <a16:creationId xmlns:a16="http://schemas.microsoft.com/office/drawing/2014/main" id="{5CC20849-E2E6-10A4-A711-2E0232DECF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384" y="0"/>
            <a:ext cx="9146384" cy="5143500"/>
          </a:xfrm>
          <a:prstGeom prst="rect">
            <a:avLst/>
          </a:prstGeom>
        </p:spPr>
      </p:pic>
      <p:sp>
        <p:nvSpPr>
          <p:cNvPr id="14" name="page number">
            <a:extLst>
              <a:ext uri="{FF2B5EF4-FFF2-40B4-BE49-F238E27FC236}">
                <a16:creationId xmlns:a16="http://schemas.microsoft.com/office/drawing/2014/main" id="{20A83C12-6BEB-4E4C-9FB0-AA1FB4C661B1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896D6-28A5-851C-E9C2-96D1118460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1485" y="456145"/>
            <a:ext cx="2098984" cy="276380"/>
          </a:xfrm>
          <a:prstGeom prst="rect">
            <a:avLst/>
          </a:prstGeom>
        </p:spPr>
      </p:pic>
      <p:sp>
        <p:nvSpPr>
          <p:cNvPr id="4" name="Title click to edit">
            <a:extLst>
              <a:ext uri="{FF2B5EF4-FFF2-40B4-BE49-F238E27FC236}">
                <a16:creationId xmlns:a16="http://schemas.microsoft.com/office/drawing/2014/main" id="{00A89F66-9796-9007-A6AC-FAD7B37A4B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1487" y="2370977"/>
            <a:ext cx="4130513" cy="925830"/>
          </a:xfrm>
        </p:spPr>
        <p:txBody>
          <a:bodyPr wrap="square" anchor="b"/>
          <a:lstStyle>
            <a:lvl1pPr algn="l">
              <a:defRPr sz="30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Session Title</a:t>
            </a:r>
          </a:p>
        </p:txBody>
      </p:sp>
      <p:sp>
        <p:nvSpPr>
          <p:cNvPr id="6" name="Click to edit Speaker Name ">
            <a:extLst>
              <a:ext uri="{FF2B5EF4-FFF2-40B4-BE49-F238E27FC236}">
                <a16:creationId xmlns:a16="http://schemas.microsoft.com/office/drawing/2014/main" id="{0D982685-BF5F-60FC-E5A7-7BE6E512CC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1486" y="3859233"/>
            <a:ext cx="4130513" cy="266701"/>
          </a:xfrm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1350"/>
              </a:spcBef>
              <a:spcAft>
                <a:spcPts val="0"/>
              </a:spcAft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None/>
              <a:tabLst/>
              <a:defRPr lang="en-US" sz="1200" b="0" i="0" u="none" strike="noStrike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350"/>
              </a:spcBef>
              <a:spcAft>
                <a:spcPts val="0"/>
              </a:spcAft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Speaker Name (Insert pronouns)</a:t>
            </a:r>
          </a:p>
        </p:txBody>
      </p:sp>
      <p:sp>
        <p:nvSpPr>
          <p:cNvPr id="8" name="Click to edit role">
            <a:extLst>
              <a:ext uri="{FF2B5EF4-FFF2-40B4-BE49-F238E27FC236}">
                <a16:creationId xmlns:a16="http://schemas.microsoft.com/office/drawing/2014/main" id="{884BF703-E856-AE63-D420-3CA354BE77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1486" y="4144275"/>
            <a:ext cx="4130513" cy="266701"/>
          </a:xfrm>
        </p:spPr>
        <p:txBody>
          <a:bodyPr anchor="ctr"/>
          <a:lstStyle>
            <a:lvl1pPr algn="l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Role / Division</a:t>
            </a:r>
          </a:p>
        </p:txBody>
      </p:sp>
      <p:sp>
        <p:nvSpPr>
          <p:cNvPr id="9" name="Click to edit role">
            <a:extLst>
              <a:ext uri="{FF2B5EF4-FFF2-40B4-BE49-F238E27FC236}">
                <a16:creationId xmlns:a16="http://schemas.microsoft.com/office/drawing/2014/main" id="{FF0F10F6-AE7E-4AD3-1013-9DD6E6760A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1486" y="4420654"/>
            <a:ext cx="4130513" cy="266701"/>
          </a:xfrm>
        </p:spPr>
        <p:txBody>
          <a:bodyPr anchor="ctr"/>
          <a:lstStyle>
            <a:lvl1pPr algn="l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#</a:t>
            </a:r>
            <a:r>
              <a:rPr lang="en-US" dirty="0" err="1"/>
              <a:t>vmwareexplore</a:t>
            </a:r>
            <a:r>
              <a:rPr lang="en-US" dirty="0"/>
              <a:t> #session ID</a:t>
            </a:r>
          </a:p>
        </p:txBody>
      </p:sp>
      <p:sp>
        <p:nvSpPr>
          <p:cNvPr id="10" name="Click to edit role">
            <a:extLst>
              <a:ext uri="{FF2B5EF4-FFF2-40B4-BE49-F238E27FC236}">
                <a16:creationId xmlns:a16="http://schemas.microsoft.com/office/drawing/2014/main" id="{F5567BE4-05ED-1C84-99DE-02E5AA7E1E8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1486" y="1824686"/>
            <a:ext cx="4130513" cy="266701"/>
          </a:xfrm>
        </p:spPr>
        <p:txBody>
          <a:bodyPr anchor="ctr"/>
          <a:lstStyle>
            <a:lvl1pPr algn="l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Session ID Number</a:t>
            </a:r>
          </a:p>
        </p:txBody>
      </p:sp>
      <p:pic>
        <p:nvPicPr>
          <p:cNvPr id="11" name="Picture 10" descr="A colorful cityscape with water jets and clouds  Description automatically generated with medium confidence">
            <a:extLst>
              <a:ext uri="{FF2B5EF4-FFF2-40B4-BE49-F238E27FC236}">
                <a16:creationId xmlns:a16="http://schemas.microsoft.com/office/drawing/2014/main" id="{9B2BD5D5-4CB5-DE14-2234-54852CF4119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07090" y="557916"/>
            <a:ext cx="3854063" cy="3853059"/>
          </a:xfrm>
          <a:prstGeom prst="rect">
            <a:avLst/>
          </a:prstGeom>
        </p:spPr>
      </p:pic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252A0F8-439E-897B-B985-83F75924EA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1486" y="3316437"/>
            <a:ext cx="4130513" cy="333221"/>
          </a:xfrm>
        </p:spPr>
        <p:txBody>
          <a:bodyPr/>
          <a:lstStyle>
            <a:lvl1pPr>
              <a:buNone/>
              <a:defRPr sz="2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Session subtitle</a:t>
            </a:r>
          </a:p>
        </p:txBody>
      </p:sp>
    </p:spTree>
    <p:extLst>
      <p:ext uri="{BB962C8B-B14F-4D97-AF65-F5344CB8AC3E}">
        <p14:creationId xmlns:p14="http://schemas.microsoft.com/office/powerpoint/2010/main" val="252877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7772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lick to edit text">
            <a:extLst>
              <a:ext uri="{FF2B5EF4-FFF2-40B4-BE49-F238E27FC236}">
                <a16:creationId xmlns:a16="http://schemas.microsoft.com/office/drawing/2014/main" id="{B29EB907-51A5-4D60-B03A-85DECB7627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71075" y="1019931"/>
            <a:ext cx="5487829" cy="3242087"/>
          </a:xfrm>
        </p:spPr>
        <p:txBody>
          <a:bodyPr anchor="t"/>
          <a:lstStyle>
            <a:lvl1pPr marL="0" indent="0">
              <a:spcBef>
                <a:spcPts val="1350"/>
              </a:spcBef>
              <a:buClr>
                <a:schemeClr val="accent2"/>
              </a:buClr>
              <a:buFont typeface="Open Sans" panose="020B0606030504020204" pitchFamily="34" charset="0"/>
              <a:buChar char="​"/>
              <a:defRPr lang="en-US" sz="15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Bef>
                <a:spcPts val="450"/>
              </a:spcBef>
              <a:buFont typeface="Open Sans" panose="020B0606030504020204" pitchFamily="34" charset="0"/>
              <a:buNone/>
              <a:defRPr/>
            </a:lvl2pPr>
            <a:lvl3pPr marL="214313" indent="-214313">
              <a:buFont typeface="Open Sans" panose="020B0606030504020204" pitchFamily="34" charset="0"/>
              <a:buNone/>
              <a:defRPr sz="1350"/>
            </a:lvl3pPr>
            <a:lvl4pPr marL="214313" indent="-214313">
              <a:buFont typeface="Open Sans" panose="020B0606030504020204" pitchFamily="34" charset="0"/>
              <a:buChar char="​"/>
              <a:tabLst/>
              <a:defRPr sz="1350">
                <a:solidFill>
                  <a:schemeClr val="tx2"/>
                </a:solidFill>
              </a:defRPr>
            </a:lvl4pPr>
            <a:lvl5pPr marL="214313" indent="-214313">
              <a:buFont typeface="Open Sans" panose="020B0606030504020204" pitchFamily="34" charset="0"/>
              <a:buChar char="​"/>
              <a:tabLst/>
              <a:defRPr sz="1350">
                <a:solidFill>
                  <a:schemeClr val="tx2"/>
                </a:solidFill>
              </a:defRPr>
            </a:lvl5pPr>
            <a:lvl6pPr marL="214313" indent="-214313">
              <a:buFont typeface="Open Sans" panose="020B0606030504020204" pitchFamily="34" charset="0"/>
              <a:buChar char="​"/>
              <a:defRPr sz="1350">
                <a:solidFill>
                  <a:schemeClr val="tx2"/>
                </a:solidFill>
              </a:defRPr>
            </a:lvl6pPr>
            <a:lvl7pPr marL="0" indent="0">
              <a:buFont typeface="Open Sans" panose="020B0606030504020204" pitchFamily="34" charset="0"/>
              <a:buNone/>
              <a:defRPr sz="1350">
                <a:solidFill>
                  <a:schemeClr val="tx2"/>
                </a:solidFill>
              </a:defRPr>
            </a:lvl7pPr>
            <a:lvl8pPr marL="257175" indent="0">
              <a:buFont typeface="Open Sans" panose="020B0606030504020204" pitchFamily="34" charset="0"/>
              <a:buChar char="​"/>
              <a:defRPr sz="1350">
                <a:solidFill>
                  <a:schemeClr val="tx2"/>
                </a:solidFill>
              </a:defRPr>
            </a:lvl8pPr>
            <a:lvl9pPr marL="257175" indent="0">
              <a:buFont typeface="Open Sans" panose="020B0606030504020204" pitchFamily="34" charset="0"/>
              <a:buChar char="​"/>
              <a:defRPr sz="135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Text goes here</a:t>
            </a:r>
          </a:p>
          <a:p>
            <a:pPr lvl="0"/>
            <a:r>
              <a:rPr lang="en-US"/>
              <a:t>And it goes here </a:t>
            </a:r>
          </a:p>
          <a:p>
            <a:pPr lvl="0"/>
            <a:r>
              <a:rPr lang="en-US"/>
              <a:t>Third item here</a:t>
            </a:r>
          </a:p>
        </p:txBody>
      </p:sp>
      <p:sp>
        <p:nvSpPr>
          <p:cNvPr id="730" name="page number">
            <a:extLst>
              <a:ext uri="{FF2B5EF4-FFF2-40B4-BE49-F238E27FC236}">
                <a16:creationId xmlns:a16="http://schemas.microsoft.com/office/drawing/2014/main" id="{AB8D1A6B-3CE6-468D-804E-6300F8B6DC81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AB009F-8C77-4345-BB40-5C6D1F329C80}"/>
              </a:ext>
            </a:extLst>
          </p:cNvPr>
          <p:cNvSpPr txBox="1"/>
          <p:nvPr userDrawn="1"/>
        </p:nvSpPr>
        <p:spPr>
          <a:xfrm>
            <a:off x="457836" y="943219"/>
            <a:ext cx="1455282" cy="33239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 sz="2400">
                <a:solidFill>
                  <a:schemeClr val="accent2"/>
                </a:solidFill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003308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– Plu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608D3F09-D706-3940-8906-CE0F09AC4B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9270" y="1200150"/>
            <a:ext cx="4097686" cy="2400300"/>
          </a:xfrm>
        </p:spPr>
        <p:txBody>
          <a:bodyPr anchor="b"/>
          <a:lstStyle>
            <a:lvl1pPr marL="127397" indent="-127397">
              <a:buClrTx/>
              <a:buSzPct val="100000"/>
              <a:buFont typeface="Metropolis" panose="00000500000000000000" pitchFamily="2" charset="0"/>
              <a:buChar char="“"/>
              <a:defRPr sz="2100">
                <a:solidFill>
                  <a:schemeClr val="accent2"/>
                </a:solidFill>
              </a:defRPr>
            </a:lvl1pPr>
            <a:lvl2pPr marL="342900" indent="-138113">
              <a:buClrTx/>
              <a:buFont typeface="Metropolis" panose="00000500000000000000" pitchFamily="2" charset="0"/>
              <a:buChar char="“"/>
              <a:defRPr>
                <a:solidFill>
                  <a:schemeClr val="bg1"/>
                </a:solidFill>
              </a:defRPr>
            </a:lvl2pPr>
            <a:lvl3pPr marL="558404" indent="-127397">
              <a:buClrTx/>
              <a:buFont typeface="Metropolis" panose="00000500000000000000" pitchFamily="2" charset="0"/>
              <a:buChar char="“"/>
              <a:defRPr>
                <a:solidFill>
                  <a:schemeClr val="bg1"/>
                </a:solidFill>
              </a:defRPr>
            </a:lvl3pPr>
            <a:lvl4pPr marL="727472" indent="-125016">
              <a:buClrTx/>
              <a:buFont typeface="Metropolis" panose="00000500000000000000" pitchFamily="2" charset="0"/>
              <a:buChar char="“"/>
              <a:defRPr>
                <a:solidFill>
                  <a:schemeClr val="bg1"/>
                </a:solidFill>
              </a:defRPr>
            </a:lvl4pPr>
            <a:lvl5pPr marL="857250" indent="-103585">
              <a:buClrTx/>
              <a:buFont typeface="Metropolis" panose="00000500000000000000" pitchFamily="2" charset="0"/>
              <a:buChar char="“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Quote text on left, purple parallelograms on the right.”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1E51E88-6733-7942-B20E-2C56F8B2ED2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9606" y="3799332"/>
            <a:ext cx="3436753" cy="205740"/>
          </a:xfrm>
        </p:spPr>
        <p:txBody>
          <a:bodyPr/>
          <a:lstStyle>
            <a:lvl1pPr marL="214313" indent="-214313"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Clr>
                <a:schemeClr val="tx1">
                  <a:lumMod val="60000"/>
                  <a:lumOff val="40000"/>
                </a:schemeClr>
              </a:buClr>
              <a:buSzPct val="90000"/>
              <a:buFont typeface="Arial" panose="020B0604020202020204" pitchFamily="34" charset="0"/>
              <a:buChar char="​"/>
            </a:pPr>
            <a:r>
              <a:rPr lang="en-US" dirty="0"/>
              <a:t>Source Name</a:t>
            </a:r>
          </a:p>
        </p:txBody>
      </p:sp>
      <p:sp>
        <p:nvSpPr>
          <p:cNvPr id="11" name="Picture Placeholder 11" descr="logo placeholder: click to insert logo or delete box if not needed">
            <a:extLst>
              <a:ext uri="{FF2B5EF4-FFF2-40B4-BE49-F238E27FC236}">
                <a16:creationId xmlns:a16="http://schemas.microsoft.com/office/drawing/2014/main" id="{953CF3A7-833E-B042-A405-AB46430C4476}"/>
              </a:ext>
            </a:extLst>
          </p:cNvPr>
          <p:cNvSpPr>
            <a:spLocks noGrp="1"/>
          </p:cNvSpPr>
          <p:nvPr>
            <p:ph type="pic" sz="quarter" idx="4294967295" hasCustomPrompt="1"/>
          </p:nvPr>
        </p:nvSpPr>
        <p:spPr>
          <a:xfrm>
            <a:off x="6695857" y="3464501"/>
            <a:ext cx="2055554" cy="1028700"/>
          </a:xfrm>
        </p:spPr>
        <p:txBody>
          <a:bodyPr/>
          <a:lstStyle/>
          <a:p>
            <a:r>
              <a:rPr lang="en-US"/>
              <a:t>Click to insert logo or delete box if not needed</a:t>
            </a:r>
          </a:p>
        </p:txBody>
      </p:sp>
      <p:sp>
        <p:nvSpPr>
          <p:cNvPr id="17" name="page number">
            <a:extLst>
              <a:ext uri="{FF2B5EF4-FFF2-40B4-BE49-F238E27FC236}">
                <a16:creationId xmlns:a16="http://schemas.microsoft.com/office/drawing/2014/main" id="{D03B3F1E-BEE4-0C40-B954-F58A7FCE9AE3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6FCB2-D41D-297F-D2DB-F4D4D124848E}"/>
              </a:ext>
            </a:extLst>
          </p:cNvPr>
          <p:cNvSpPr txBox="1"/>
          <p:nvPr userDrawn="1"/>
        </p:nvSpPr>
        <p:spPr>
          <a:xfrm>
            <a:off x="1582463" y="4796896"/>
            <a:ext cx="27539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525" spc="0" baseline="0" dirty="0">
                <a:ln/>
                <a:solidFill>
                  <a:srgbClr val="000000"/>
                </a:solidFill>
                <a:latin typeface="Metropolis-Regular"/>
                <a:sym typeface="Metropolis-Regular"/>
                <a:rtl val="0"/>
              </a:rPr>
              <a:t>Broadcom Proprietary and Confidential. Copyright © 2024 Broadcom.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25" spc="0" baseline="0" dirty="0">
                <a:ln/>
                <a:solidFill>
                  <a:srgbClr val="000000"/>
                </a:solidFill>
                <a:latin typeface="Metropolis-Regular"/>
                <a:sym typeface="Metropolis-Regular"/>
                <a:rtl val="0"/>
              </a:rPr>
              <a:t>All Rights Reserved. The term “Broadcom” refers to Broadcom Inc. and/or its subsidiaries.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6CAA017A-2E13-A386-F00A-F152D129421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1486" y="4809513"/>
            <a:ext cx="1035502" cy="136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597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90EF1-7A6F-4CAE-80CD-2BC8A8107F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Add One Line Title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28211D2-9BBA-4EB9-8867-E2CC72E9E0D1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6" name="page number">
            <a:extLst>
              <a:ext uri="{FF2B5EF4-FFF2-40B4-BE49-F238E27FC236}">
                <a16:creationId xmlns:a16="http://schemas.microsoft.com/office/drawing/2014/main" id="{F2584149-C6DB-AE45-B715-90B7DF169DD6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96928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24E83-0498-4D8B-94A0-3FF7CDD8F1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Single Content Layout Click to Add One Line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216D2F66-BB7F-4F0E-A224-A105F87676EF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4310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D034FA3F-D529-4D8B-B6EC-A8341FCAF67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62499" y="1200151"/>
            <a:ext cx="8231744" cy="3429000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buClr>
                <a:schemeClr val="bg2">
                  <a:lumMod val="25000"/>
                </a:schemeClr>
              </a:buClr>
              <a:defRPr>
                <a:solidFill>
                  <a:schemeClr val="tx1"/>
                </a:solidFill>
              </a:defRPr>
            </a:lvl2pPr>
            <a:lvl3pPr>
              <a:spcBef>
                <a:spcPts val="0"/>
              </a:spcBef>
              <a:buClr>
                <a:schemeClr val="bg2">
                  <a:lumMod val="25000"/>
                </a:schemeClr>
              </a:buClr>
              <a:defRPr>
                <a:solidFill>
                  <a:schemeClr val="tx1"/>
                </a:solidFill>
              </a:defRPr>
            </a:lvl3pPr>
            <a:lvl4pPr>
              <a:spcBef>
                <a:spcPts val="0"/>
              </a:spcBef>
              <a:buClr>
                <a:schemeClr val="bg2">
                  <a:lumMod val="25000"/>
                </a:schemeClr>
              </a:buClr>
              <a:defRPr>
                <a:solidFill>
                  <a:schemeClr val="tx1"/>
                </a:solidFill>
              </a:defRPr>
            </a:lvl4pPr>
            <a:lvl5pPr>
              <a:spcBef>
                <a:spcPts val="0"/>
              </a:spcBef>
              <a:buClr>
                <a:schemeClr val="bg2">
                  <a:lumMod val="25000"/>
                </a:schemeClr>
              </a:buClr>
              <a:defRPr>
                <a:solidFill>
                  <a:schemeClr val="tx1"/>
                </a:solidFill>
              </a:defRPr>
            </a:lvl5pPr>
            <a:lvl6pPr>
              <a:buClr>
                <a:schemeClr val="bg2">
                  <a:lumMod val="25000"/>
                </a:schemeClr>
              </a:buClr>
              <a:defRPr>
                <a:solidFill>
                  <a:schemeClr val="bg2">
                    <a:lumMod val="25000"/>
                  </a:schemeClr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age number">
            <a:extLst>
              <a:ext uri="{FF2B5EF4-FFF2-40B4-BE49-F238E27FC236}">
                <a16:creationId xmlns:a16="http://schemas.microsoft.com/office/drawing/2014/main" id="{175B5FDB-839C-A941-B264-01387F31F005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1614974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Content Balanc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00E4C6-16B5-49A9-898A-3B53C5AB06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Two-content Layout Click to Add One Line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8535540-CB20-4CD5-9F73-DB64F5A49CD3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AF420A-ED2C-4AD1-A28B-EB26178557D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6129" y="1200150"/>
            <a:ext cx="3986375" cy="3429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  <a:lvl6pPr>
              <a:defRPr lang="en-US" sz="900" dirty="0">
                <a:solidFill>
                  <a:schemeClr val="tx1"/>
                </a:solidFill>
              </a:defRPr>
            </a:lvl6pPr>
            <a:lvl7pPr>
              <a:defRPr lang="en-US" sz="900" dirty="0">
                <a:solidFill>
                  <a:schemeClr val="tx1"/>
                </a:solidFill>
              </a:defRPr>
            </a:lvl7pPr>
            <a:lvl8pPr>
              <a:defRPr lang="en-US" sz="900" dirty="0">
                <a:solidFill>
                  <a:schemeClr val="tx1"/>
                </a:solidFill>
              </a:defRPr>
            </a:lvl8pPr>
            <a:lvl9pPr>
              <a:defRPr lang="en-US" sz="900" dirty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D860A49-A98C-4F0E-AB34-4E13B89D5EB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742201" y="1200150"/>
            <a:ext cx="3986375" cy="3429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  <a:lvl6pPr>
              <a:defRPr lang="en-US" sz="900" dirty="0">
                <a:solidFill>
                  <a:schemeClr val="tx1"/>
                </a:solidFill>
              </a:defRPr>
            </a:lvl6pPr>
            <a:lvl7pPr>
              <a:defRPr lang="en-US" sz="900" dirty="0">
                <a:solidFill>
                  <a:schemeClr val="tx1"/>
                </a:solidFill>
              </a:defRPr>
            </a:lvl7pPr>
            <a:lvl8pPr>
              <a:defRPr lang="en-US" sz="900" dirty="0">
                <a:solidFill>
                  <a:schemeClr val="tx1"/>
                </a:solidFill>
              </a:defRPr>
            </a:lvl8pPr>
            <a:lvl9pPr>
              <a:defRPr lang="en-US" sz="900" dirty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7" name="page number">
            <a:extLst>
              <a:ext uri="{FF2B5EF4-FFF2-40B4-BE49-F238E27FC236}">
                <a16:creationId xmlns:a16="http://schemas.microsoft.com/office/drawing/2014/main" id="{306FFEC8-099C-484D-841A-7FCB225B1895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4235657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Content Balanced Color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ontent Placeholder 17">
            <a:extLst>
              <a:ext uri="{FF2B5EF4-FFF2-40B4-BE49-F238E27FC236}">
                <a16:creationId xmlns:a16="http://schemas.microsoft.com/office/drawing/2014/main" id="{A0456ED3-FDC5-4E29-B939-E35EA08477C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ltGray">
          <a:xfrm>
            <a:off x="4743771" y="1200151"/>
            <a:ext cx="4400230" cy="3429000"/>
          </a:xfrm>
          <a:solidFill>
            <a:srgbClr val="F4F8FA"/>
          </a:solidFill>
        </p:spPr>
        <p:txBody>
          <a:bodyPr vert="horz" lIns="457200" tIns="457200" rIns="457200" bIns="45720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>
              <a:spcBef>
                <a:spcPts val="900"/>
              </a:spcBef>
            </a:pPr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8535540-CB20-4CD5-9F73-DB64F5A49CD3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00E4C6-16B5-49A9-898A-3B53C5AB06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Two-content Layout: Graphic on Left, Text on Right - Click to Edit</a:t>
            </a:r>
          </a:p>
        </p:txBody>
      </p:sp>
      <p:sp>
        <p:nvSpPr>
          <p:cNvPr id="7" name="page number">
            <a:extLst>
              <a:ext uri="{FF2B5EF4-FFF2-40B4-BE49-F238E27FC236}">
                <a16:creationId xmlns:a16="http://schemas.microsoft.com/office/drawing/2014/main" id="{1727F760-24DE-9A42-B7E9-356D8DC2BDAE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Content Placeholder 17">
            <a:extLst>
              <a:ext uri="{FF2B5EF4-FFF2-40B4-BE49-F238E27FC236}">
                <a16:creationId xmlns:a16="http://schemas.microsoft.com/office/drawing/2014/main" id="{DCC3C30A-44C0-E837-19B2-6A2DFD1C7D7F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ltGray">
          <a:xfrm>
            <a:off x="0" y="1200151"/>
            <a:ext cx="4421346" cy="3429000"/>
          </a:xfrm>
          <a:noFill/>
        </p:spPr>
        <p:txBody>
          <a:bodyPr vert="horz" lIns="594360" tIns="457200" rIns="457200" bIns="45720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>
              <a:spcBef>
                <a:spcPts val="900"/>
              </a:spcBef>
            </a:pPr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</p:spTree>
    <p:extLst>
      <p:ext uri="{BB962C8B-B14F-4D97-AF65-F5344CB8AC3E}">
        <p14:creationId xmlns:p14="http://schemas.microsoft.com/office/powerpoint/2010/main" val="2041336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Content Balanced Colo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000E4C6-16B5-49A9-898A-3B53C5AB06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Two-content Layout: Text on Left, Graphic on Right - Click to Edit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8535540-CB20-4CD5-9F73-DB64F5A49CD3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age number">
            <a:extLst>
              <a:ext uri="{FF2B5EF4-FFF2-40B4-BE49-F238E27FC236}">
                <a16:creationId xmlns:a16="http://schemas.microsoft.com/office/drawing/2014/main" id="{4FD1F5D3-21E9-5341-B48A-48F1E4CF33AB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Content Placeholder 17">
            <a:extLst>
              <a:ext uri="{FF2B5EF4-FFF2-40B4-BE49-F238E27FC236}">
                <a16:creationId xmlns:a16="http://schemas.microsoft.com/office/drawing/2014/main" id="{D7F87D5F-EABF-6E97-FCBB-22D4040C1B6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ltGray">
          <a:xfrm>
            <a:off x="4743771" y="1200151"/>
            <a:ext cx="4400230" cy="3429000"/>
          </a:xfrm>
          <a:noFill/>
        </p:spPr>
        <p:txBody>
          <a:bodyPr vert="horz" lIns="457200" tIns="457200" rIns="457200" bIns="45720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>
              <a:spcBef>
                <a:spcPts val="900"/>
              </a:spcBef>
            </a:pPr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4" name="Content Placeholder 17">
            <a:extLst>
              <a:ext uri="{FF2B5EF4-FFF2-40B4-BE49-F238E27FC236}">
                <a16:creationId xmlns:a16="http://schemas.microsoft.com/office/drawing/2014/main" id="{CA8AC63D-F94C-D60E-8AB3-9211BDCC455C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ltGray">
          <a:xfrm>
            <a:off x="0" y="1200151"/>
            <a:ext cx="4421346" cy="3429000"/>
          </a:xfrm>
          <a:solidFill>
            <a:srgbClr val="F4F8FA"/>
          </a:solidFill>
        </p:spPr>
        <p:txBody>
          <a:bodyPr vert="horz" lIns="594360" tIns="457200" rIns="457200" bIns="45720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>
              <a:spcBef>
                <a:spcPts val="900"/>
              </a:spcBef>
            </a:pPr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</p:spTree>
    <p:extLst>
      <p:ext uri="{BB962C8B-B14F-4D97-AF65-F5344CB8AC3E}">
        <p14:creationId xmlns:p14="http://schemas.microsoft.com/office/powerpoint/2010/main" val="3911834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A1FE0B-90B1-4BED-9AA5-6DC9F6424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Two-content Text Comparison Layout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541C7AA-97CA-4F96-9506-F144DA2CD8E2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9E550D89-51A7-894E-88FB-394F3178F2E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44766" y="1200151"/>
            <a:ext cx="3966458" cy="656528"/>
          </a:xfrm>
          <a:noFill/>
        </p:spPr>
        <p:txBody>
          <a:bodyPr vert="horz" lIns="0" tIns="91440" rIns="457200" bIns="91440" rtlCol="0" anchor="b">
            <a:noAutofit/>
          </a:bodyPr>
          <a:lstStyle>
            <a:lvl1pPr>
              <a:defRPr lang="en-US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add header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1B5F83-A93D-544C-8DB4-B164DBF2F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765" y="1863133"/>
            <a:ext cx="3966458" cy="3428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0" name="Content Placeholder 17">
            <a:extLst>
              <a:ext uri="{FF2B5EF4-FFF2-40B4-BE49-F238E27FC236}">
                <a16:creationId xmlns:a16="http://schemas.microsoft.com/office/drawing/2014/main" id="{0170DFD5-97D2-3349-AE52-EB22861A688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 bwMode="gray">
          <a:xfrm>
            <a:off x="444765" y="1965766"/>
            <a:ext cx="3987884" cy="265802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61E082F-F30B-BC46-BB99-CA9B65C081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4732777" y="1200151"/>
            <a:ext cx="3966458" cy="656528"/>
          </a:xfrm>
          <a:noFill/>
        </p:spPr>
        <p:txBody>
          <a:bodyPr vert="horz" lIns="0" tIns="91440" rIns="457200" bIns="91440" rtlCol="0" anchor="b">
            <a:noAutofit/>
          </a:bodyPr>
          <a:lstStyle>
            <a:lvl1pPr>
              <a:defRPr lang="en-US" sz="15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Click to add header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7D4F8B-2025-D14C-A41E-9C0B401DE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29137" y="1863133"/>
            <a:ext cx="3966458" cy="34289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9" name="Content Placeholder 17">
            <a:extLst>
              <a:ext uri="{FF2B5EF4-FFF2-40B4-BE49-F238E27FC236}">
                <a16:creationId xmlns:a16="http://schemas.microsoft.com/office/drawing/2014/main" id="{3EE56D9F-2DF2-4F43-A13A-4844DFE465AC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4732340" y="1965960"/>
            <a:ext cx="3966458" cy="2681343"/>
          </a:xfrm>
        </p:spPr>
        <p:txBody>
          <a:bodyPr vert="horz" lIns="0" tIns="0" rIns="0" bIns="0" rtlCol="0">
            <a:noAutofit/>
          </a:bodyPr>
          <a:lstStyle>
            <a:lvl1pPr>
              <a:defRPr lang="en-US" sz="1350" dirty="0">
                <a:solidFill>
                  <a:schemeClr val="tx1"/>
                </a:solidFill>
              </a:defRPr>
            </a:lvl1pPr>
            <a:lvl2pPr>
              <a:defRPr lang="en-US" sz="120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1"/>
                </a:solidFill>
              </a:defRPr>
            </a:lvl3pPr>
            <a:lvl4pPr>
              <a:defRPr lang="en-US" sz="900" dirty="0">
                <a:solidFill>
                  <a:schemeClr val="tx1"/>
                </a:solidFill>
              </a:defRPr>
            </a:lvl4pPr>
            <a:lvl5pPr>
              <a:defRPr lang="en-US" sz="9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age number">
            <a:extLst>
              <a:ext uri="{FF2B5EF4-FFF2-40B4-BE49-F238E27FC236}">
                <a16:creationId xmlns:a16="http://schemas.microsoft.com/office/drawing/2014/main" id="{3E816477-50B7-9248-BE5F-B9062610CEEE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1217599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Conten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F2C94F-DA57-4BDB-8E5C-E4A0C75223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Three-content Layout – Three Horizontal Text Boxes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FC59F98B-A991-4DEC-A409-289E778CB84A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E0956C27-3D46-7745-A4A9-42842784C10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765" y="1200150"/>
            <a:ext cx="2695896" cy="685800"/>
          </a:xfrm>
          <a:noFill/>
        </p:spPr>
        <p:txBody>
          <a:bodyPr lIns="0" tIns="91440" rIns="182880" bIns="91440" anchor="b"/>
          <a:lstStyle>
            <a:lvl1pPr>
              <a:defRPr sz="1350">
                <a:solidFill>
                  <a:schemeClr val="accent2"/>
                </a:solidFill>
              </a:defRPr>
            </a:lvl1pPr>
            <a:lvl2pPr marL="0" indent="0">
              <a:buFont typeface="Open Sans" panose="020B0606030504020204" pitchFamily="34" charset="0"/>
              <a:buChar char="​"/>
              <a:defRPr sz="135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header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64666E-28C9-844E-91D8-ECA2F1E57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765" y="1882111"/>
            <a:ext cx="2695896" cy="3428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88975597-2DC5-4748-87A2-37C22D522B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224052" y="1200150"/>
            <a:ext cx="2695896" cy="685800"/>
          </a:xfrm>
          <a:noFill/>
        </p:spPr>
        <p:txBody>
          <a:bodyPr lIns="0" tIns="91440" rIns="182880" bIns="91440" anchor="b"/>
          <a:lstStyle>
            <a:lvl1pPr>
              <a:defRPr sz="1350">
                <a:solidFill>
                  <a:schemeClr val="accent3"/>
                </a:solidFill>
              </a:defRPr>
            </a:lvl1pPr>
            <a:lvl2pPr marL="0" indent="0">
              <a:buFont typeface="Open Sans" panose="020B0606030504020204" pitchFamily="34" charset="0"/>
              <a:buChar char="​"/>
              <a:defRPr sz="135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add header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F48BF931-C509-8F46-8576-3656F9F4BA1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02958" y="1200150"/>
            <a:ext cx="2695896" cy="685800"/>
          </a:xfrm>
          <a:noFill/>
        </p:spPr>
        <p:txBody>
          <a:bodyPr lIns="0" tIns="91440" rIns="182880" bIns="91440" anchor="b"/>
          <a:lstStyle>
            <a:lvl1pPr>
              <a:defRPr sz="1350">
                <a:solidFill>
                  <a:schemeClr val="tx2"/>
                </a:solidFill>
              </a:defRPr>
            </a:lvl1pPr>
            <a:lvl2pPr marL="0" indent="0">
              <a:buFont typeface="Open Sans" panose="020B0606030504020204" pitchFamily="34" charset="0"/>
              <a:buChar char="​"/>
              <a:defRPr sz="1350"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header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B963A1-3810-7A40-8918-6D6D68B4A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02958" y="1882111"/>
            <a:ext cx="2695896" cy="34289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5" name="page number">
            <a:extLst>
              <a:ext uri="{FF2B5EF4-FFF2-40B4-BE49-F238E27FC236}">
                <a16:creationId xmlns:a16="http://schemas.microsoft.com/office/drawing/2014/main" id="{7788490C-B63E-8E46-A9C1-9CF865F7FA57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7DA4B3-27AC-8A64-FD5E-59AEAE0D8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24052" y="1882111"/>
            <a:ext cx="2695896" cy="34289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4AF0ECF-E71C-8AC9-36B9-29CB570B16D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4765" y="1987153"/>
            <a:ext cx="2696277" cy="2641997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tx1"/>
                </a:solidFill>
              </a:defRPr>
            </a:lvl2pPr>
            <a:lvl3pPr>
              <a:defRPr sz="900">
                <a:solidFill>
                  <a:schemeClr val="tx1"/>
                </a:solidFill>
              </a:defRPr>
            </a:lvl3pPr>
            <a:lvl4pPr>
              <a:defRPr sz="825">
                <a:solidFill>
                  <a:schemeClr val="tx1"/>
                </a:solidFill>
              </a:defRPr>
            </a:lvl4pPr>
            <a:lvl5pPr>
              <a:defRPr sz="825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D43B6B0E-4AB9-6144-29E4-820FC763DE9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224052" y="1987153"/>
            <a:ext cx="2696277" cy="2641997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tx1"/>
                </a:solidFill>
              </a:defRPr>
            </a:lvl2pPr>
            <a:lvl3pPr>
              <a:defRPr sz="900">
                <a:solidFill>
                  <a:schemeClr val="tx1"/>
                </a:solidFill>
              </a:defRPr>
            </a:lvl3pPr>
            <a:lvl4pPr>
              <a:defRPr sz="825">
                <a:solidFill>
                  <a:schemeClr val="tx1"/>
                </a:solidFill>
              </a:defRPr>
            </a:lvl4pPr>
            <a:lvl5pPr>
              <a:defRPr sz="825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EE5625D-A2F8-6592-7C13-07EAF5CBBC3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002958" y="1987153"/>
            <a:ext cx="2696277" cy="2641997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tx1"/>
                </a:solidFill>
              </a:defRPr>
            </a:lvl2pPr>
            <a:lvl3pPr>
              <a:defRPr sz="900">
                <a:solidFill>
                  <a:schemeClr val="tx1"/>
                </a:solidFill>
              </a:defRPr>
            </a:lvl3pPr>
            <a:lvl4pPr>
              <a:defRPr sz="825">
                <a:solidFill>
                  <a:schemeClr val="tx1"/>
                </a:solidFill>
              </a:defRPr>
            </a:lvl4pPr>
            <a:lvl5pPr>
              <a:defRPr sz="825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8975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Dynamic –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46AD2E-9306-49E7-A98B-7D26E458C2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Two-content Layout – Highlight Text on Left, Text/Graphic on Right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551435C2-3F7C-4835-8DB0-71E2C00537CF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64AC6E-1611-244C-BA28-696924BAB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1164451"/>
            <a:ext cx="2171074" cy="4114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0FD232-93CB-4B54-A933-93C11B099F7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0" y="1207148"/>
            <a:ext cx="2171075" cy="3429000"/>
          </a:xfrm>
          <a:solidFill>
            <a:srgbClr val="F4F8FA"/>
          </a:solidFill>
        </p:spPr>
        <p:txBody>
          <a:bodyPr vert="horz" lIns="274320" tIns="457200" rIns="457200" bIns="457200" rtlCol="0">
            <a:noAutofit/>
          </a:bodyPr>
          <a:lstStyle>
            <a:lvl1pPr>
              <a:defRPr lang="en-US" sz="1350" dirty="0">
                <a:solidFill>
                  <a:schemeClr val="accent2"/>
                </a:solidFill>
              </a:defRPr>
            </a:lvl1pPr>
            <a:lvl2pPr>
              <a:buClr>
                <a:schemeClr val="accent2"/>
              </a:buClr>
              <a:defRPr lang="en-US" sz="1200" dirty="0" smtClean="0">
                <a:solidFill>
                  <a:schemeClr val="accent2"/>
                </a:solidFill>
              </a:defRPr>
            </a:lvl2pPr>
            <a:lvl3pPr>
              <a:buClr>
                <a:schemeClr val="accent2"/>
              </a:buClr>
              <a:defRPr lang="en-US" sz="1050" dirty="0" smtClean="0">
                <a:solidFill>
                  <a:schemeClr val="accent2"/>
                </a:solidFill>
              </a:defRPr>
            </a:lvl3pPr>
            <a:lvl4pPr>
              <a:buClr>
                <a:schemeClr val="accent2"/>
              </a:buClr>
              <a:defRPr lang="en-US" sz="900" dirty="0" smtClean="0">
                <a:solidFill>
                  <a:schemeClr val="accent2"/>
                </a:solidFill>
              </a:defRPr>
            </a:lvl4pPr>
            <a:lvl5pPr>
              <a:buClr>
                <a:schemeClr val="accent2"/>
              </a:buClr>
              <a:defRPr lang="en-US" sz="900" dirty="0">
                <a:solidFill>
                  <a:schemeClr val="accent2"/>
                </a:solidFill>
              </a:defRPr>
            </a:lvl5pPr>
          </a:lstStyle>
          <a:p>
            <a:pPr lvl="0">
              <a:spcBef>
                <a:spcPts val="900"/>
              </a:spcBef>
            </a:pPr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77AE2CA-1B34-4F04-BD7F-F624F20E94F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2514064" y="1207148"/>
            <a:ext cx="6173808" cy="3429000"/>
          </a:xfrm>
        </p:spPr>
        <p:txBody>
          <a:bodyPr vert="horz" lIns="0" tIns="45720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defRPr lang="en-US" dirty="0" smtClean="0">
                <a:solidFill>
                  <a:schemeClr val="tx1"/>
                </a:solidFill>
              </a:defRPr>
            </a:lvl2pPr>
            <a:lvl3pPr>
              <a:defRPr lang="en-US" dirty="0" smtClean="0">
                <a:solidFill>
                  <a:schemeClr val="tx1"/>
                </a:solidFill>
              </a:defRPr>
            </a:lvl3pPr>
            <a:lvl4pPr>
              <a:defRPr lang="en-US" dirty="0" smtClean="0">
                <a:solidFill>
                  <a:schemeClr val="tx1"/>
                </a:solidFill>
              </a:defRPr>
            </a:lvl4pPr>
            <a:lvl5pPr>
              <a:defRPr lang="en-US" dirty="0" smtClean="0">
                <a:solidFill>
                  <a:schemeClr val="tx1"/>
                </a:solidFill>
              </a:defRPr>
            </a:lvl5pPr>
            <a:lvl6pPr>
              <a:defRPr lang="en-US" dirty="0" smtClean="0">
                <a:solidFill>
                  <a:schemeClr val="tx1"/>
                </a:solidFill>
              </a:defRPr>
            </a:lvl6pPr>
            <a:lvl7pPr>
              <a:defRPr lang="en-US" dirty="0" smtClean="0">
                <a:solidFill>
                  <a:schemeClr val="tx1"/>
                </a:solidFill>
              </a:defRPr>
            </a:lvl7pPr>
            <a:lvl8pPr>
              <a:defRPr lang="en-US" dirty="0">
                <a:solidFill>
                  <a:schemeClr val="tx1"/>
                </a:solidFill>
              </a:defRPr>
            </a:lvl8pPr>
          </a:lstStyle>
          <a:p>
            <a:pPr lvl="0"/>
            <a:r>
              <a:rPr lang="en-US" dirty="0"/>
              <a:t>Click to add graph, diagram or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marL="952500" lvl="5" indent="-88106"/>
            <a:r>
              <a:rPr lang="en-US" dirty="0"/>
              <a:t>Sixth level</a:t>
            </a:r>
          </a:p>
          <a:p>
            <a:pPr marL="1078706" lvl="6" indent="-88106"/>
            <a:r>
              <a:rPr lang="en-US" dirty="0"/>
              <a:t>Seventh level</a:t>
            </a:r>
          </a:p>
          <a:p>
            <a:pPr marL="1165622" lvl="7" indent="-86916">
              <a:lnSpc>
                <a:spcPct val="90000"/>
              </a:lnSpc>
            </a:pPr>
            <a:r>
              <a:rPr lang="en-US" dirty="0"/>
              <a:t>Ninth level</a:t>
            </a:r>
          </a:p>
        </p:txBody>
      </p:sp>
      <p:sp>
        <p:nvSpPr>
          <p:cNvPr id="8" name="page number">
            <a:extLst>
              <a:ext uri="{FF2B5EF4-FFF2-40B4-BE49-F238E27FC236}">
                <a16:creationId xmlns:a16="http://schemas.microsoft.com/office/drawing/2014/main" id="{1A93E906-C928-C345-B032-1F5C677FAEDD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310472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Dynamic –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2A934A-AC6B-460C-9C93-B13CF6B62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Two-content Layout – Highlight Text on Right, Text/Graphic on Left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F6F5131D-84AE-4294-83A1-243FE1C81A8A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page number">
            <a:extLst>
              <a:ext uri="{FF2B5EF4-FFF2-40B4-BE49-F238E27FC236}">
                <a16:creationId xmlns:a16="http://schemas.microsoft.com/office/drawing/2014/main" id="{EA3FFB13-8625-D245-BD64-AAC7CCCB5B64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B60DB8-F067-969E-72B5-4E90025E5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972925" y="1164451"/>
            <a:ext cx="2171074" cy="41148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B93DEE-AB9E-C81E-DF9C-D1BE09F22E0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972925" y="1207148"/>
            <a:ext cx="2171075" cy="3429000"/>
          </a:xfrm>
          <a:solidFill>
            <a:srgbClr val="F4F8FA"/>
          </a:solidFill>
        </p:spPr>
        <p:txBody>
          <a:bodyPr vert="horz" lIns="274320" tIns="457200" rIns="457200" bIns="457200" rtlCol="0">
            <a:noAutofit/>
          </a:bodyPr>
          <a:lstStyle>
            <a:lvl1pPr>
              <a:defRPr lang="en-US" sz="1350" dirty="0">
                <a:solidFill>
                  <a:schemeClr val="accent2"/>
                </a:solidFill>
              </a:defRPr>
            </a:lvl1pPr>
            <a:lvl2pPr>
              <a:buClr>
                <a:schemeClr val="accent2"/>
              </a:buClr>
              <a:defRPr lang="en-US" sz="1200" dirty="0" smtClean="0">
                <a:solidFill>
                  <a:schemeClr val="accent2"/>
                </a:solidFill>
              </a:defRPr>
            </a:lvl2pPr>
            <a:lvl3pPr>
              <a:buClr>
                <a:schemeClr val="accent2"/>
              </a:buClr>
              <a:defRPr lang="en-US" sz="1050" dirty="0" smtClean="0">
                <a:solidFill>
                  <a:schemeClr val="accent2"/>
                </a:solidFill>
              </a:defRPr>
            </a:lvl3pPr>
            <a:lvl4pPr>
              <a:buClr>
                <a:schemeClr val="accent2"/>
              </a:buClr>
              <a:defRPr lang="en-US" sz="900" dirty="0" smtClean="0">
                <a:solidFill>
                  <a:schemeClr val="accent2"/>
                </a:solidFill>
              </a:defRPr>
            </a:lvl4pPr>
            <a:lvl5pPr>
              <a:buClr>
                <a:schemeClr val="accent2"/>
              </a:buClr>
              <a:defRPr lang="en-US" sz="900" dirty="0">
                <a:solidFill>
                  <a:schemeClr val="accent2"/>
                </a:solidFill>
              </a:defRPr>
            </a:lvl5pPr>
          </a:lstStyle>
          <a:p>
            <a:pPr lvl="0">
              <a:spcBef>
                <a:spcPts val="900"/>
              </a:spcBef>
            </a:pPr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10">
            <a:extLst>
              <a:ext uri="{FF2B5EF4-FFF2-40B4-BE49-F238E27FC236}">
                <a16:creationId xmlns:a16="http://schemas.microsoft.com/office/drawing/2014/main" id="{DC18C6BC-2416-B51C-F45A-9BCC874B47E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0" y="1207148"/>
            <a:ext cx="6173808" cy="3429000"/>
          </a:xfrm>
        </p:spPr>
        <p:txBody>
          <a:bodyPr vert="horz" lIns="594360" tIns="45720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defRPr lang="en-US" dirty="0" smtClean="0">
                <a:solidFill>
                  <a:schemeClr val="tx1"/>
                </a:solidFill>
              </a:defRPr>
            </a:lvl2pPr>
            <a:lvl3pPr>
              <a:defRPr lang="en-US" dirty="0" smtClean="0">
                <a:solidFill>
                  <a:schemeClr val="tx1"/>
                </a:solidFill>
              </a:defRPr>
            </a:lvl3pPr>
            <a:lvl4pPr>
              <a:defRPr lang="en-US" dirty="0" smtClean="0">
                <a:solidFill>
                  <a:schemeClr val="tx1"/>
                </a:solidFill>
              </a:defRPr>
            </a:lvl4pPr>
            <a:lvl5pPr>
              <a:defRPr lang="en-US" dirty="0" smtClean="0">
                <a:solidFill>
                  <a:schemeClr val="tx1"/>
                </a:solidFill>
              </a:defRPr>
            </a:lvl5pPr>
            <a:lvl6pPr>
              <a:defRPr lang="en-US" dirty="0" smtClean="0">
                <a:solidFill>
                  <a:schemeClr val="tx1"/>
                </a:solidFill>
              </a:defRPr>
            </a:lvl6pPr>
            <a:lvl7pPr>
              <a:defRPr lang="en-US" dirty="0" smtClean="0">
                <a:solidFill>
                  <a:schemeClr val="tx1"/>
                </a:solidFill>
              </a:defRPr>
            </a:lvl7pPr>
            <a:lvl8pPr>
              <a:defRPr lang="en-US" dirty="0">
                <a:solidFill>
                  <a:schemeClr val="tx1"/>
                </a:solidFill>
              </a:defRPr>
            </a:lvl8pPr>
          </a:lstStyle>
          <a:p>
            <a:pPr lvl="0"/>
            <a:r>
              <a:rPr lang="en-US" dirty="0"/>
              <a:t>Click to add graph, diagram or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marL="952500" lvl="5" indent="-88106"/>
            <a:r>
              <a:rPr lang="en-US" dirty="0"/>
              <a:t>Sixth level</a:t>
            </a:r>
          </a:p>
          <a:p>
            <a:pPr marL="1078706" lvl="6" indent="-88106"/>
            <a:r>
              <a:rPr lang="en-US" dirty="0"/>
              <a:t>Seventh level</a:t>
            </a:r>
          </a:p>
          <a:p>
            <a:pPr marL="1165622" lvl="7" indent="-86916">
              <a:lnSpc>
                <a:spcPct val="90000"/>
              </a:lnSpc>
            </a:pPr>
            <a:r>
              <a:rPr lang="en-US" dirty="0"/>
              <a:t>Ninth level</a:t>
            </a:r>
          </a:p>
        </p:txBody>
      </p:sp>
    </p:spTree>
    <p:extLst>
      <p:ext uri="{BB962C8B-B14F-4D97-AF65-F5344CB8AC3E}">
        <p14:creationId xmlns:p14="http://schemas.microsoft.com/office/powerpoint/2010/main" val="216044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with Content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57BCD9-063B-4ED4-B68C-092EC2C34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Diagram with Content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0D276D7-17CD-46AB-99B2-97FD34FEEFFA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add subtitle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E2C737-3A4D-924A-88B5-FA4D5C8A0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286691" y="1192442"/>
            <a:ext cx="2857310" cy="6196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  <a:p>
            <a:pPr algn="ctr">
              <a:spcAft>
                <a:spcPts val="450"/>
              </a:spcAft>
            </a:pP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7496CC-9DD2-4299-850C-005958FB65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6947" y="1200150"/>
            <a:ext cx="2857053" cy="3429000"/>
          </a:xfrm>
        </p:spPr>
        <p:txBody>
          <a:bodyPr tIns="457200" rIns="594360" bIns="457200"/>
          <a:lstStyle>
            <a:lvl1pPr>
              <a:defRPr sz="1200">
                <a:solidFill>
                  <a:schemeClr val="accent2"/>
                </a:solidFill>
              </a:defRPr>
            </a:lvl1pPr>
            <a:lvl2pPr>
              <a:buClr>
                <a:schemeClr val="accent2"/>
              </a:buClr>
              <a:defRPr sz="1050">
                <a:solidFill>
                  <a:schemeClr val="accent2"/>
                </a:solidFill>
              </a:defRPr>
            </a:lvl2pPr>
            <a:lvl3pPr>
              <a:buClr>
                <a:schemeClr val="accent2"/>
              </a:buClr>
              <a:defRPr sz="900">
                <a:solidFill>
                  <a:schemeClr val="accent2"/>
                </a:solidFill>
              </a:defRPr>
            </a:lvl3pPr>
            <a:lvl4pPr>
              <a:buClr>
                <a:schemeClr val="accent2"/>
              </a:buClr>
              <a:defRPr sz="825">
                <a:solidFill>
                  <a:schemeClr val="accent2"/>
                </a:solidFill>
              </a:defRPr>
            </a:lvl4pPr>
            <a:lvl5pPr>
              <a:buClr>
                <a:schemeClr val="accent2"/>
              </a:buClr>
              <a:defRPr sz="825">
                <a:solidFill>
                  <a:schemeClr val="accent2"/>
                </a:solidFill>
              </a:defRPr>
            </a:lvl5pPr>
            <a:lvl6pPr>
              <a:buClr>
                <a:schemeClr val="accent2"/>
              </a:buClr>
              <a:defRPr sz="825">
                <a:solidFill>
                  <a:schemeClr val="accent2"/>
                </a:solidFill>
              </a:defRPr>
            </a:lvl6pPr>
            <a:lvl7pPr>
              <a:buClr>
                <a:schemeClr val="accent2"/>
              </a:buClr>
              <a:defRPr sz="825">
                <a:solidFill>
                  <a:schemeClr val="accent2"/>
                </a:solidFill>
              </a:defRPr>
            </a:lvl7pPr>
            <a:lvl8pPr>
              <a:buClr>
                <a:schemeClr val="accent2"/>
              </a:buClr>
              <a:defRPr sz="825">
                <a:solidFill>
                  <a:schemeClr val="accent2"/>
                </a:solidFill>
              </a:defRPr>
            </a:lvl8pPr>
            <a:lvl9pPr>
              <a:buClr>
                <a:schemeClr val="accent2"/>
              </a:buClr>
              <a:defRPr sz="825">
                <a:solidFill>
                  <a:schemeClr val="accent2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11" name="page number">
            <a:extLst>
              <a:ext uri="{FF2B5EF4-FFF2-40B4-BE49-F238E27FC236}">
                <a16:creationId xmlns:a16="http://schemas.microsoft.com/office/drawing/2014/main" id="{0D34A4A0-0C07-994F-9539-A07F4B06F184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Content Placeholder 17">
            <a:extLst>
              <a:ext uri="{FF2B5EF4-FFF2-40B4-BE49-F238E27FC236}">
                <a16:creationId xmlns:a16="http://schemas.microsoft.com/office/drawing/2014/main" id="{C05F02B7-B99F-8424-E971-B7478FAB40D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 bwMode="ltGray">
          <a:xfrm>
            <a:off x="456128" y="1200151"/>
            <a:ext cx="5550173" cy="3429000"/>
          </a:xfrm>
          <a:noFill/>
        </p:spPr>
        <p:txBody>
          <a:bodyPr vert="horz" lIns="594360" tIns="1371600" rIns="457200" bIns="457200" rtlCol="0">
            <a:noAutofit/>
          </a:bodyPr>
          <a:lstStyle>
            <a:lvl1pPr algn="ctr">
              <a:spcBef>
                <a:spcPts val="900"/>
              </a:spcBef>
              <a:defRPr lang="en-US" sz="825" dirty="0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 lang="en-US" sz="1200" dirty="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lang="en-US" sz="1050" dirty="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lang="en-US" sz="900" dirty="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lang="en-US" sz="900" dirty="0">
                <a:solidFill>
                  <a:schemeClr val="bg1"/>
                </a:solidFill>
              </a:defRPr>
            </a:lvl5pPr>
            <a:lvl6pPr>
              <a:buClrTx/>
              <a:defRPr sz="1350">
                <a:solidFill>
                  <a:schemeClr val="bg1"/>
                </a:solidFill>
              </a:defRPr>
            </a:lvl6pPr>
            <a:lvl7pPr>
              <a:buClrTx/>
              <a:defRPr sz="1050">
                <a:solidFill>
                  <a:schemeClr val="bg1"/>
                </a:solidFill>
              </a:defRPr>
            </a:lvl7pPr>
            <a:lvl8pPr>
              <a:buClrTx/>
              <a:defRPr sz="900">
                <a:solidFill>
                  <a:schemeClr val="bg1"/>
                </a:solidFill>
              </a:defRPr>
            </a:lvl8pPr>
            <a:lvl9pPr>
              <a:buClrTx/>
              <a:defRPr sz="135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NOTE: This is intended for a diagram only.</a:t>
            </a:r>
            <a:br>
              <a:rPr lang="en-US"/>
            </a:br>
            <a:r>
              <a:rPr lang="en-US"/>
              <a:t>Not recommended to add text here, as it’s not formatted for it. </a:t>
            </a:r>
          </a:p>
        </p:txBody>
      </p:sp>
    </p:spTree>
    <p:extLst>
      <p:ext uri="{BB962C8B-B14F-4D97-AF65-F5344CB8AC3E}">
        <p14:creationId xmlns:p14="http://schemas.microsoft.com/office/powerpoint/2010/main" val="2158363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with Outcome, Benef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15888C-CFB4-4BEC-9B94-46E698DFC4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wrap="none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Diagram with Outcome/Benefit Content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E9D6A872-88BD-4DFC-AFFD-1E9BEEB6533B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56D4D92B-574E-4F63-A5BA-8F7282B54C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86947" y="1206501"/>
            <a:ext cx="2857053" cy="0"/>
          </a:xfrm>
          <a:prstGeom prst="line">
            <a:avLst/>
          </a:prstGeom>
          <a:ln w="25400">
            <a:solidFill>
              <a:schemeClr val="accent2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05EB21-86C3-42EF-BFE7-549D9EA364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86947" y="1274766"/>
            <a:ext cx="1505342" cy="223838"/>
          </a:xfrm>
        </p:spPr>
        <p:txBody>
          <a:bodyPr anchor="b"/>
          <a:lstStyle>
            <a:lvl1pPr>
              <a:defRPr sz="1350">
                <a:solidFill>
                  <a:schemeClr val="accent2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Outcome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781D19-2DDB-4D83-983D-3D159A7DE7C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85755" y="1547286"/>
            <a:ext cx="2402117" cy="1200150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tx1"/>
                </a:solidFill>
              </a:defRPr>
            </a:lvl2pPr>
            <a:lvl3pPr>
              <a:defRPr sz="1050">
                <a:solidFill>
                  <a:schemeClr val="tx1"/>
                </a:solidFill>
              </a:defRPr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789B473-DDE6-4450-A111-3761F341AA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86947" y="2904331"/>
            <a:ext cx="2857053" cy="0"/>
          </a:xfrm>
          <a:prstGeom prst="line">
            <a:avLst/>
          </a:prstGeom>
          <a:ln w="25400">
            <a:solidFill>
              <a:schemeClr val="accent4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 Placeholder 6">
            <a:extLst>
              <a:ext uri="{FF2B5EF4-FFF2-40B4-BE49-F238E27FC236}">
                <a16:creationId xmlns:a16="http://schemas.microsoft.com/office/drawing/2014/main" id="{0D0977FA-A4CA-4F1F-8109-D7498D165ED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6947" y="2979352"/>
            <a:ext cx="1505342" cy="223838"/>
          </a:xfrm>
        </p:spPr>
        <p:txBody>
          <a:bodyPr anchor="b"/>
          <a:lstStyle>
            <a:lvl1pPr>
              <a:defRPr sz="1350">
                <a:solidFill>
                  <a:schemeClr val="accent4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Benefit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1458BF-96C1-46C6-A67F-AD0FB4B4E5C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85755" y="3260928"/>
            <a:ext cx="2402117" cy="1200150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50">
                <a:solidFill>
                  <a:schemeClr val="tx1"/>
                </a:solidFill>
              </a:defRPr>
            </a:lvl2pPr>
            <a:lvl3pPr>
              <a:defRPr sz="1050">
                <a:solidFill>
                  <a:schemeClr val="tx1"/>
                </a:solidFill>
              </a:defRPr>
            </a:lvl3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page number">
            <a:extLst>
              <a:ext uri="{FF2B5EF4-FFF2-40B4-BE49-F238E27FC236}">
                <a16:creationId xmlns:a16="http://schemas.microsoft.com/office/drawing/2014/main" id="{2520CB7B-27A1-0749-95BA-681D8A0535D2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sp>
        <p:nvSpPr>
          <p:cNvPr id="2" name="Content Placeholder 17">
            <a:extLst>
              <a:ext uri="{FF2B5EF4-FFF2-40B4-BE49-F238E27FC236}">
                <a16:creationId xmlns:a16="http://schemas.microsoft.com/office/drawing/2014/main" id="{81258617-CE72-E542-2E67-9B2874ED90B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 bwMode="ltGray">
          <a:xfrm>
            <a:off x="456128" y="1200151"/>
            <a:ext cx="5550173" cy="3429000"/>
          </a:xfrm>
          <a:noFill/>
        </p:spPr>
        <p:txBody>
          <a:bodyPr vert="horz" lIns="594360" tIns="1371600" rIns="457200" bIns="457200" rtlCol="0">
            <a:noAutofit/>
          </a:bodyPr>
          <a:lstStyle>
            <a:lvl1pPr algn="ctr">
              <a:spcBef>
                <a:spcPts val="900"/>
              </a:spcBef>
              <a:defRPr lang="en-US" sz="825" dirty="0">
                <a:solidFill>
                  <a:schemeClr val="tx1"/>
                </a:solidFill>
              </a:defRPr>
            </a:lvl1pPr>
            <a:lvl2pPr>
              <a:buClr>
                <a:schemeClr val="bg1"/>
              </a:buClr>
              <a:defRPr lang="en-US" sz="1200" dirty="0"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 lang="en-US" sz="1050" dirty="0"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 lang="en-US" sz="900" dirty="0"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 lang="en-US" sz="900" dirty="0">
                <a:solidFill>
                  <a:schemeClr val="bg1"/>
                </a:solidFill>
              </a:defRPr>
            </a:lvl5pPr>
            <a:lvl6pPr>
              <a:buClrTx/>
              <a:defRPr sz="1350">
                <a:solidFill>
                  <a:schemeClr val="bg1"/>
                </a:solidFill>
              </a:defRPr>
            </a:lvl6pPr>
            <a:lvl7pPr>
              <a:buClrTx/>
              <a:defRPr sz="1050">
                <a:solidFill>
                  <a:schemeClr val="bg1"/>
                </a:solidFill>
              </a:defRPr>
            </a:lvl7pPr>
            <a:lvl8pPr>
              <a:buClrTx/>
              <a:defRPr sz="900">
                <a:solidFill>
                  <a:schemeClr val="bg1"/>
                </a:solidFill>
              </a:defRPr>
            </a:lvl8pPr>
            <a:lvl9pPr>
              <a:buClrTx/>
              <a:defRPr sz="135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NOTE: This is intended for a diagram only.</a:t>
            </a:r>
            <a:br>
              <a:rPr lang="en-US"/>
            </a:br>
            <a:r>
              <a:rPr lang="en-US"/>
              <a:t>Not recommended to add text here, as it’s not formatted for it. </a:t>
            </a:r>
          </a:p>
        </p:txBody>
      </p:sp>
    </p:spTree>
    <p:extLst>
      <p:ext uri="{BB962C8B-B14F-4D97-AF65-F5344CB8AC3E}">
        <p14:creationId xmlns:p14="http://schemas.microsoft.com/office/powerpoint/2010/main" val="327798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er Suc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itle 1">
            <a:extLst>
              <a:ext uri="{FF2B5EF4-FFF2-40B4-BE49-F238E27FC236}">
                <a16:creationId xmlns:a16="http://schemas.microsoft.com/office/drawing/2014/main" id="{05E46EAA-9D16-0D47-AF18-92C449033D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970" y="309563"/>
            <a:ext cx="8252902" cy="285750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Customer Success – add Company Name here</a:t>
            </a:r>
          </a:p>
        </p:txBody>
      </p:sp>
      <p:sp>
        <p:nvSpPr>
          <p:cNvPr id="52" name="Subtitle 2">
            <a:extLst>
              <a:ext uri="{FF2B5EF4-FFF2-40B4-BE49-F238E27FC236}">
                <a16:creationId xmlns:a16="http://schemas.microsoft.com/office/drawing/2014/main" id="{CEFD99AC-6466-F04E-8E45-7EEEEA01BA6C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the highlighted business impact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4F46384-B6E3-0D43-924E-874DEC2344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7319" y="1164186"/>
            <a:ext cx="2604488" cy="0"/>
          </a:xfrm>
          <a:prstGeom prst="line">
            <a:avLst/>
          </a:prstGeom>
          <a:ln w="22225">
            <a:solidFill>
              <a:schemeClr val="accent2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Content Placeholder 17">
            <a:extLst>
              <a:ext uri="{FF2B5EF4-FFF2-40B4-BE49-F238E27FC236}">
                <a16:creationId xmlns:a16="http://schemas.microsoft.com/office/drawing/2014/main" id="{767C0863-B9D1-344E-A978-CD49E9400F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8853" y="1425820"/>
            <a:ext cx="2402012" cy="910946"/>
          </a:xfrm>
          <a:noFill/>
        </p:spPr>
        <p:txBody>
          <a:bodyPr vert="horz" lIns="0" tIns="0" rIns="0" bIns="457200" rtlCol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88" dirty="0">
                <a:solidFill>
                  <a:schemeClr val="tx1"/>
                </a:solidFill>
              </a:defRPr>
            </a:lvl1pPr>
            <a:lvl2pPr marL="85725" indent="-85725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5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2"/>
                </a:solidFill>
              </a:defRPr>
            </a:lvl3pPr>
            <a:lvl4pPr>
              <a:defRPr lang="en-US" sz="900" dirty="0">
                <a:solidFill>
                  <a:schemeClr val="tx2"/>
                </a:solidFill>
              </a:defRPr>
            </a:lvl4pPr>
            <a:lvl5pPr>
              <a:defRPr lang="en-US" sz="9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3526770-8F35-FB4A-8638-521D0DA87F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9986" y="1164186"/>
            <a:ext cx="2604488" cy="0"/>
          </a:xfrm>
          <a:prstGeom prst="line">
            <a:avLst/>
          </a:prstGeom>
          <a:ln w="22225">
            <a:solidFill>
              <a:schemeClr val="accent2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ontent Placeholder 17">
            <a:extLst>
              <a:ext uri="{FF2B5EF4-FFF2-40B4-BE49-F238E27FC236}">
                <a16:creationId xmlns:a16="http://schemas.microsoft.com/office/drawing/2014/main" id="{A2B343CF-FF49-7E4F-A7C9-0593553254F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11520" y="1425820"/>
            <a:ext cx="2402012" cy="919175"/>
          </a:xfrm>
          <a:noFill/>
        </p:spPr>
        <p:txBody>
          <a:bodyPr vert="horz" lIns="0" tIns="0" rIns="0" bIns="457200" rtlCol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88" dirty="0">
                <a:solidFill>
                  <a:schemeClr val="tx1"/>
                </a:solidFill>
              </a:defRPr>
            </a:lvl1pPr>
            <a:lvl2pPr marL="85725" indent="-85725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5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2"/>
                </a:solidFill>
              </a:defRPr>
            </a:lvl3pPr>
            <a:lvl4pPr>
              <a:defRPr lang="en-US" sz="900" dirty="0">
                <a:solidFill>
                  <a:schemeClr val="tx2"/>
                </a:solidFill>
              </a:defRPr>
            </a:lvl4pPr>
            <a:lvl5pPr>
              <a:defRPr lang="en-US" sz="9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3C08A52-2522-8C40-B8B1-C98FEBB888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7319" y="2494029"/>
            <a:ext cx="2604488" cy="0"/>
          </a:xfrm>
          <a:prstGeom prst="line">
            <a:avLst/>
          </a:prstGeom>
          <a:ln w="22225">
            <a:solidFill>
              <a:schemeClr val="accent3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ontent Placeholder 17">
            <a:extLst>
              <a:ext uri="{FF2B5EF4-FFF2-40B4-BE49-F238E27FC236}">
                <a16:creationId xmlns:a16="http://schemas.microsoft.com/office/drawing/2014/main" id="{65BA7F3E-AD8D-A54C-B026-DAA8FC9C0540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8853" y="2770073"/>
            <a:ext cx="2402012" cy="832537"/>
          </a:xfrm>
          <a:noFill/>
        </p:spPr>
        <p:txBody>
          <a:bodyPr vert="horz" lIns="0" tIns="0" rIns="0" bIns="457200" rtlCol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88" dirty="0">
                <a:solidFill>
                  <a:schemeClr val="tx1"/>
                </a:solidFill>
              </a:defRPr>
            </a:lvl1pPr>
            <a:lvl2pPr marL="85725" indent="-85725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5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2"/>
                </a:solidFill>
              </a:defRPr>
            </a:lvl3pPr>
            <a:lvl4pPr>
              <a:defRPr lang="en-US" sz="900" dirty="0">
                <a:solidFill>
                  <a:schemeClr val="tx2"/>
                </a:solidFill>
              </a:defRPr>
            </a:lvl4pPr>
            <a:lvl5pPr>
              <a:defRPr lang="en-US" sz="9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B57CCC6-06B1-7342-99B0-BC7C8FBE5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9986" y="2494029"/>
            <a:ext cx="2604488" cy="0"/>
          </a:xfrm>
          <a:prstGeom prst="line">
            <a:avLst/>
          </a:prstGeom>
          <a:ln w="22225">
            <a:solidFill>
              <a:schemeClr val="accent3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ontent Placeholder 17">
            <a:extLst>
              <a:ext uri="{FF2B5EF4-FFF2-40B4-BE49-F238E27FC236}">
                <a16:creationId xmlns:a16="http://schemas.microsoft.com/office/drawing/2014/main" id="{3265790D-1104-8D4D-A8C6-F7A7E77F664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11520" y="2770073"/>
            <a:ext cx="2402012" cy="849263"/>
          </a:xfrm>
          <a:noFill/>
        </p:spPr>
        <p:txBody>
          <a:bodyPr vert="horz" lIns="0" tIns="0" rIns="0" bIns="457200" rtlCol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88" dirty="0">
                <a:solidFill>
                  <a:schemeClr val="tx1"/>
                </a:solidFill>
              </a:defRPr>
            </a:lvl1pPr>
            <a:lvl2pPr marL="85725" indent="-85725">
              <a:lnSpc>
                <a:spcPct val="100000"/>
              </a:lnSpc>
              <a:spcBef>
                <a:spcPts val="0"/>
              </a:spcBef>
              <a:spcAft>
                <a:spcPts val="225"/>
              </a:spcAft>
              <a:defRPr lang="en-US" sz="750" dirty="0">
                <a:solidFill>
                  <a:schemeClr val="tx1"/>
                </a:solidFill>
              </a:defRPr>
            </a:lvl2pPr>
            <a:lvl3pPr>
              <a:defRPr lang="en-US" sz="1050" dirty="0">
                <a:solidFill>
                  <a:schemeClr val="tx2"/>
                </a:solidFill>
              </a:defRPr>
            </a:lvl3pPr>
            <a:lvl4pPr>
              <a:defRPr lang="en-US" sz="900" dirty="0">
                <a:solidFill>
                  <a:schemeClr val="tx2"/>
                </a:solidFill>
              </a:defRPr>
            </a:lvl4pPr>
            <a:lvl5pPr>
              <a:defRPr lang="en-US" sz="900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3C87E7C-5ED2-214E-8A38-ED05177A65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6673" y="3766660"/>
            <a:ext cx="2604488" cy="0"/>
          </a:xfrm>
          <a:prstGeom prst="line">
            <a:avLst/>
          </a:prstGeom>
          <a:ln w="22225">
            <a:solidFill>
              <a:schemeClr val="accent4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 Placeholder 6">
            <a:extLst>
              <a:ext uri="{FF2B5EF4-FFF2-40B4-BE49-F238E27FC236}">
                <a16:creationId xmlns:a16="http://schemas.microsoft.com/office/drawing/2014/main" id="{F0EFE66F-363C-804E-BABD-F54C3E33FDE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59940" y="3995502"/>
            <a:ext cx="2400925" cy="170591"/>
          </a:xfrm>
        </p:spPr>
        <p:txBody>
          <a:bodyPr anchor="b"/>
          <a:lstStyle>
            <a:lvl1pPr algn="l">
              <a:lnSpc>
                <a:spcPct val="100000"/>
              </a:lnSpc>
              <a:spcBef>
                <a:spcPts val="0"/>
              </a:spcBef>
              <a:defRPr sz="75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Product One</a:t>
            </a:r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0166C751-50F5-8B4F-9A97-B83901E78B0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59940" y="4195218"/>
            <a:ext cx="2400925" cy="170591"/>
          </a:xfrm>
        </p:spPr>
        <p:txBody>
          <a:bodyPr anchor="b"/>
          <a:lstStyle>
            <a:lvl1pPr algn="l">
              <a:lnSpc>
                <a:spcPct val="100000"/>
              </a:lnSpc>
              <a:spcBef>
                <a:spcPts val="0"/>
              </a:spcBef>
              <a:defRPr sz="75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Product Two</a:t>
            </a:r>
          </a:p>
        </p:txBody>
      </p:sp>
      <p:sp>
        <p:nvSpPr>
          <p:cNvPr id="58" name="Text Placeholder 6">
            <a:extLst>
              <a:ext uri="{FF2B5EF4-FFF2-40B4-BE49-F238E27FC236}">
                <a16:creationId xmlns:a16="http://schemas.microsoft.com/office/drawing/2014/main" id="{0D57825D-E522-644D-8F4A-0B77A7036EB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59940" y="4394933"/>
            <a:ext cx="2400925" cy="170591"/>
          </a:xfrm>
        </p:spPr>
        <p:txBody>
          <a:bodyPr anchor="b"/>
          <a:lstStyle>
            <a:lvl1pPr algn="l">
              <a:lnSpc>
                <a:spcPct val="100000"/>
              </a:lnSpc>
              <a:spcBef>
                <a:spcPts val="0"/>
              </a:spcBef>
              <a:defRPr sz="75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Product Three</a:t>
            </a:r>
          </a:p>
        </p:txBody>
      </p:sp>
      <p:sp>
        <p:nvSpPr>
          <p:cNvPr id="61" name="Text Placeholder 6">
            <a:extLst>
              <a:ext uri="{FF2B5EF4-FFF2-40B4-BE49-F238E27FC236}">
                <a16:creationId xmlns:a16="http://schemas.microsoft.com/office/drawing/2014/main" id="{EBAAD5C6-0007-A84B-A2C2-FCC2F00B42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301452" y="3995502"/>
            <a:ext cx="2400925" cy="170591"/>
          </a:xfrm>
        </p:spPr>
        <p:txBody>
          <a:bodyPr anchor="b"/>
          <a:lstStyle>
            <a:lvl1pPr algn="l">
              <a:lnSpc>
                <a:spcPct val="100000"/>
              </a:lnSpc>
              <a:spcBef>
                <a:spcPts val="0"/>
              </a:spcBef>
              <a:defRPr sz="75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Priority One</a:t>
            </a:r>
          </a:p>
        </p:txBody>
      </p:sp>
      <p:sp>
        <p:nvSpPr>
          <p:cNvPr id="62" name="Text Placeholder 6">
            <a:extLst>
              <a:ext uri="{FF2B5EF4-FFF2-40B4-BE49-F238E27FC236}">
                <a16:creationId xmlns:a16="http://schemas.microsoft.com/office/drawing/2014/main" id="{A8B7A6ED-D85B-2E4C-BCD6-D130232A3F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301452" y="4195218"/>
            <a:ext cx="2400925" cy="170591"/>
          </a:xfrm>
        </p:spPr>
        <p:txBody>
          <a:bodyPr anchor="b"/>
          <a:lstStyle>
            <a:lvl1pPr algn="l">
              <a:lnSpc>
                <a:spcPct val="100000"/>
              </a:lnSpc>
              <a:spcBef>
                <a:spcPts val="0"/>
              </a:spcBef>
              <a:defRPr sz="75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Priority Two</a:t>
            </a:r>
          </a:p>
        </p:txBody>
      </p:sp>
      <p:sp>
        <p:nvSpPr>
          <p:cNvPr id="63" name="Text Placeholder 6">
            <a:extLst>
              <a:ext uri="{FF2B5EF4-FFF2-40B4-BE49-F238E27FC236}">
                <a16:creationId xmlns:a16="http://schemas.microsoft.com/office/drawing/2014/main" id="{C507BC1F-4225-8C48-9110-5D75D900FFC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3301452" y="4394933"/>
            <a:ext cx="2400925" cy="170591"/>
          </a:xfrm>
        </p:spPr>
        <p:txBody>
          <a:bodyPr anchor="b"/>
          <a:lstStyle>
            <a:lvl1pPr algn="l">
              <a:lnSpc>
                <a:spcPct val="100000"/>
              </a:lnSpc>
              <a:spcBef>
                <a:spcPts val="0"/>
              </a:spcBef>
              <a:defRPr sz="750">
                <a:solidFill>
                  <a:schemeClr val="tx1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/>
              <a:t>Priority Three</a:t>
            </a:r>
          </a:p>
        </p:txBody>
      </p:sp>
      <p:sp>
        <p:nvSpPr>
          <p:cNvPr id="45" name="Picture Placeholder 8">
            <a:extLst>
              <a:ext uri="{FF2B5EF4-FFF2-40B4-BE49-F238E27FC236}">
                <a16:creationId xmlns:a16="http://schemas.microsoft.com/office/drawing/2014/main" id="{231A51E8-5046-A444-8DFA-A0B8E647C4F2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907773" y="1200151"/>
            <a:ext cx="1381485" cy="495299"/>
          </a:xfrm>
        </p:spPr>
        <p:txBody>
          <a:bodyPr anchor="ctr"/>
          <a:lstStyle>
            <a:lvl1pPr algn="ctr">
              <a:lnSpc>
                <a:spcPct val="10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Insert Logo here</a:t>
            </a:r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81E8E56D-8554-4E46-BBBC-E98827D1EE1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83761" y="1760950"/>
            <a:ext cx="2405689" cy="180975"/>
          </a:xfrm>
        </p:spPr>
        <p:txBody>
          <a:bodyPr anchor="ctr"/>
          <a:lstStyle>
            <a:lvl1pPr algn="ctr">
              <a:lnSpc>
                <a:spcPct val="10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2pPr>
            <a:lvl3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3pPr>
            <a:lvl4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4pPr>
            <a:lvl5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Location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59903D24-0D11-174E-9765-B2914D00A88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383761" y="1985468"/>
            <a:ext cx="2405689" cy="180975"/>
          </a:xfrm>
        </p:spPr>
        <p:txBody>
          <a:bodyPr anchor="ctr"/>
          <a:lstStyle>
            <a:lvl1pPr algn="ctr">
              <a:lnSpc>
                <a:spcPct val="100000"/>
              </a:lnSpc>
              <a:spcBef>
                <a:spcPts val="0"/>
              </a:spcBef>
              <a:defRPr sz="900">
                <a:solidFill>
                  <a:schemeClr val="tx1"/>
                </a:solidFill>
              </a:defRPr>
            </a:lvl1pPr>
            <a:lvl2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2pPr>
            <a:lvl3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3pPr>
            <a:lvl4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4pPr>
            <a:lvl5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Industry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2EDE5296-3D34-0C47-A404-38FF5A22C6D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388525" y="2228850"/>
            <a:ext cx="2396162" cy="1371600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C7B1EDB8-ADF5-9C41-B4C4-26AA9C0B9D2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388525" y="3766661"/>
            <a:ext cx="2400925" cy="865346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defRPr sz="1050">
                <a:solidFill>
                  <a:schemeClr val="tx1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buFont typeface="Open Sans" panose="020B0606030504020204" pitchFamily="34" charset="0"/>
              <a:buChar char="​"/>
              <a:defRPr sz="900">
                <a:solidFill>
                  <a:schemeClr val="tx1"/>
                </a:solidFill>
              </a:defRPr>
            </a:lvl2pPr>
            <a:lvl3pPr marL="0" indent="0" algn="ctr">
              <a:buFont typeface="Open Sans" panose="020B0606030504020204" pitchFamily="34" charset="0"/>
              <a:buNone/>
              <a:defRPr sz="900">
                <a:solidFill>
                  <a:schemeClr val="accent1"/>
                </a:solidFill>
              </a:defRPr>
            </a:lvl3pPr>
            <a:lvl4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4pPr>
            <a:lvl5pPr marL="0" indent="0" algn="ctr">
              <a:buFont typeface="Open Sans" panose="020B0606030504020204" pitchFamily="34" charset="0"/>
              <a:buChar char="​"/>
              <a:defRPr sz="90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3" name="page number">
            <a:extLst>
              <a:ext uri="{FF2B5EF4-FFF2-40B4-BE49-F238E27FC236}">
                <a16:creationId xmlns:a16="http://schemas.microsoft.com/office/drawing/2014/main" id="{CB20449E-0760-3743-8E7C-7D6BA7165F7F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CABBF0D-1BD1-F9E7-64FF-6B8D87E61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9986" y="3766660"/>
            <a:ext cx="2604488" cy="0"/>
          </a:xfrm>
          <a:prstGeom prst="line">
            <a:avLst/>
          </a:prstGeom>
          <a:ln w="22225">
            <a:solidFill>
              <a:schemeClr val="accent4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06119E-8D41-BF4A-7D53-2FBB71F653C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56129" y="1164432"/>
            <a:ext cx="2402116" cy="164306"/>
          </a:xfrm>
        </p:spPr>
        <p:txBody>
          <a:bodyPr anchor="b" anchorCtr="0"/>
          <a:lstStyle>
            <a:lvl1pPr>
              <a:defRPr sz="900" cap="all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About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2D6E64-9DD1-43CD-C247-B83E374482F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309609" y="1164432"/>
            <a:ext cx="2402116" cy="164306"/>
          </a:xfrm>
        </p:spPr>
        <p:txBody>
          <a:bodyPr anchor="b" anchorCtr="0"/>
          <a:lstStyle>
            <a:lvl1pPr>
              <a:defRPr sz="900" cap="all" baseline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solution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02A9C0F-4D4C-0EEC-0E20-65368D1177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56129" y="2503886"/>
            <a:ext cx="2402116" cy="164306"/>
          </a:xfrm>
        </p:spPr>
        <p:txBody>
          <a:bodyPr anchor="b" anchorCtr="0"/>
          <a:lstStyle>
            <a:lvl1pPr>
              <a:defRPr sz="900" cap="all" baseline="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/>
              <a:t>challenges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1DEF5052-BBAD-A22B-0D68-BBBFD70637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321519" y="2503886"/>
            <a:ext cx="2402116" cy="164306"/>
          </a:xfrm>
        </p:spPr>
        <p:txBody>
          <a:bodyPr anchor="b" anchorCtr="0"/>
          <a:lstStyle>
            <a:lvl1pPr>
              <a:defRPr sz="900" cap="all" baseline="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/>
              <a:t>impact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9FFF9CD2-0893-33FB-480A-506C7095C2FA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56129" y="3767138"/>
            <a:ext cx="2433080" cy="170260"/>
          </a:xfrm>
        </p:spPr>
        <p:txBody>
          <a:bodyPr anchor="b" anchorCtr="0"/>
          <a:lstStyle>
            <a:lvl1pPr>
              <a:defRPr sz="900" cap="all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products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F2B49FE0-BA78-9DF9-AB7D-9F52651E93A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321519" y="3767138"/>
            <a:ext cx="2433080" cy="170260"/>
          </a:xfrm>
        </p:spPr>
        <p:txBody>
          <a:bodyPr anchor="b" anchorCtr="0"/>
          <a:lstStyle>
            <a:lvl1pPr>
              <a:defRPr sz="900" cap="all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/>
              <a:t>Strategic priorities</a:t>
            </a:r>
          </a:p>
        </p:txBody>
      </p:sp>
    </p:spTree>
    <p:extLst>
      <p:ext uri="{BB962C8B-B14F-4D97-AF65-F5344CB8AC3E}">
        <p14:creationId xmlns:p14="http://schemas.microsoft.com/office/powerpoint/2010/main" val="1732776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4C5A99F-0678-4DC4-A266-1AD031E9C8E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Three Icon Placeholders with Text Descriptions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EBF1472-E940-4CC7-B5D3-349346A425A8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1C210DC-5DBB-4F0D-875F-CD8AAAB93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486795" y="1541572"/>
            <a:ext cx="1372077" cy="1371719"/>
          </a:xfrm>
          <a:prstGeom prst="ellipse">
            <a:avLst/>
          </a:prstGeom>
          <a:noFill/>
          <a:ln w="3810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>
              <a:solidFill>
                <a:schemeClr val="accent4"/>
              </a:solidFill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3C9F48F-8CFB-DD45-AE7E-6A5DE26F95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1505" y="1814738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4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CC9B40-9AF4-4EF7-8384-2ACE79EA95C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4727" y="3200955"/>
            <a:ext cx="205912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4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add text here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FECF9D0-D7A8-43DD-B38D-E1090C0B32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3889706" y="1541572"/>
            <a:ext cx="1372077" cy="1371719"/>
          </a:xfrm>
          <a:prstGeom prst="ellipse">
            <a:avLst/>
          </a:prstGeom>
          <a:noFill/>
          <a:ln w="3810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4DBEFEC-821B-4F4E-8D5E-E6843BF1AEA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057516" y="1814738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D69CA39A-E967-4A68-A944-35C345A456D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41841" y="3200955"/>
            <a:ext cx="205912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3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 here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46F04B0-7860-407F-85B7-42E38FAFE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6293615" y="1541572"/>
            <a:ext cx="1372077" cy="137171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1A16A22-350B-4B24-A3CD-4D5DE470DE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943958" y="3200955"/>
            <a:ext cx="205912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2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 here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0545A424-E307-E14F-A89B-1A531D114FD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58441" y="1814738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2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19" name="page number">
            <a:extLst>
              <a:ext uri="{FF2B5EF4-FFF2-40B4-BE49-F238E27FC236}">
                <a16:creationId xmlns:a16="http://schemas.microsoft.com/office/drawing/2014/main" id="{6122FC91-666D-7A42-9D21-9800CF4E3706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2558405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6ED71B-2619-4816-B753-5E850ED08F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Four Icon Placeholders with Text Descriptions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BB679D5C-AEFA-4052-96E3-7DF67D7C105A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add subtitle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085441A7-EBA5-4ABB-8D29-CE4338F0F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799520" y="1545655"/>
            <a:ext cx="1372077" cy="1371719"/>
          </a:xfrm>
          <a:prstGeom prst="ellipse">
            <a:avLst/>
          </a:prstGeom>
          <a:noFill/>
          <a:ln w="3810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>
              <a:solidFill>
                <a:schemeClr val="accent4"/>
              </a:solidFill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72EA9D9-DD59-0A4A-94D5-AC136E79CD7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55526" y="1818820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4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83A73281-E5F0-4C3B-BE4E-A12D56CC10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169" y="3202131"/>
            <a:ext cx="171494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4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45D908EF-1F96-4808-A8DB-F55AB9E8E4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2855943" y="1545655"/>
            <a:ext cx="1372077" cy="1371719"/>
          </a:xfrm>
          <a:prstGeom prst="ellipse">
            <a:avLst/>
          </a:prstGeom>
          <a:noFill/>
          <a:ln w="38100">
            <a:solidFill>
              <a:schemeClr val="accent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F7F1E977-D1E8-7040-8576-578BD8CB84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01229" y="1818820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70078EAE-661A-4C72-917B-F0225239F6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85559" y="3202131"/>
            <a:ext cx="171494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3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670C03F-6336-45E3-A9F4-0CD130D80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922857" y="1545655"/>
            <a:ext cx="1372077" cy="137171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sz="1350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6B608689-50E6-784F-8AFD-D13D124BAA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0413" y="1818820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2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66D6B40-9CB0-4B56-A3E1-9A7F945F09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43495" y="3202131"/>
            <a:ext cx="171494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2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3019BB56-AE7C-42CA-A8FF-432F4F176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6978416" y="1545655"/>
            <a:ext cx="1372077" cy="1371719"/>
          </a:xfrm>
          <a:prstGeom prst="ellipse">
            <a:avLst/>
          </a:prstGeom>
          <a:noFill/>
          <a:ln w="381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290217BC-3881-DF41-A8F3-900AF04F1B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155550" y="1818820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5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16F5CA9C-E491-4F70-B6EE-A506410601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01431" y="3202131"/>
            <a:ext cx="171494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800">
                <a:solidFill>
                  <a:schemeClr val="accent5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3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20" name="page number">
            <a:extLst>
              <a:ext uri="{FF2B5EF4-FFF2-40B4-BE49-F238E27FC236}">
                <a16:creationId xmlns:a16="http://schemas.microsoft.com/office/drawing/2014/main" id="{1D45AB97-9B77-2244-B7BA-E18EA4CD43EA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3740702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BA8A47F-2243-412F-A1A8-FA8E3475F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Five Icon Placeholders with Text Descriptions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EA64E97-C31D-49B1-B8E1-20E5F404F516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08873"/>
            <a:ext cx="8224157" cy="185807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500">
                <a:solidFill>
                  <a:schemeClr val="tx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1FDF9D3-5B68-4A75-97BF-2C5113CFA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57469" y="1548498"/>
            <a:ext cx="1372077" cy="1371719"/>
          </a:xfrm>
          <a:prstGeom prst="ellipse">
            <a:avLst/>
          </a:prstGeom>
          <a:noFill/>
          <a:ln w="3810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>
              <a:solidFill>
                <a:schemeClr val="accent4"/>
              </a:solidFill>
            </a:endParaRP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AE3C6552-FD35-F64A-AB25-15819DA5EE2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5572" y="1821663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4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2E201879-B985-4ADE-8AD6-6C3E14CE0AF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8257" y="3212155"/>
            <a:ext cx="137195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500">
                <a:solidFill>
                  <a:schemeClr val="accent4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sz="12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551C90A-573F-4E4A-9359-5C7B0F546B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2169904" y="1548498"/>
            <a:ext cx="1372077" cy="1371719"/>
          </a:xfrm>
          <a:prstGeom prst="ellipse">
            <a:avLst/>
          </a:prstGeom>
          <a:noFill/>
          <a:ln w="38100">
            <a:solidFill>
              <a:schemeClr val="accent3"/>
            </a:solidFill>
          </a:ln>
          <a:effectLst/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 algn="ctr"/>
            <a:endParaRPr lang="en-US" sz="1350">
              <a:solidFill>
                <a:schemeClr val="bg1"/>
              </a:solidFill>
            </a:endParaRP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C54AA791-D396-204E-9DF4-50E16614DD7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333463" y="1821663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2D3946B-F2F1-42AF-8E89-00761A7745D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171075" y="3212155"/>
            <a:ext cx="137195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500">
                <a:solidFill>
                  <a:schemeClr val="accent3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F79E162-3D8F-4829-A4AD-02A03597B1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3902051" y="1548498"/>
            <a:ext cx="1372077" cy="1371719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6390E06-1436-004E-875E-AAE40E05D76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060551" y="1821663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2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9495BAAB-E860-4075-9DA3-ABA7C32D23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89833" y="3212155"/>
            <a:ext cx="137195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500">
                <a:solidFill>
                  <a:schemeClr val="accent2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026B9B36-08E7-4664-970C-13123F24C7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600149" y="1548498"/>
            <a:ext cx="1372077" cy="1371719"/>
          </a:xfrm>
          <a:prstGeom prst="ellipse">
            <a:avLst/>
          </a:prstGeom>
          <a:noFill/>
          <a:ln w="381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en-US" sz="1350">
              <a:solidFill>
                <a:schemeClr val="lt1"/>
              </a:solidFill>
            </a:endParaRP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D673B6CF-B10C-8742-A91F-672EAD5163E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759310" y="1821663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accent5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22F84664-2E68-46AE-AE2C-E8D2B6C9A1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03960" y="3212155"/>
            <a:ext cx="1421122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500">
                <a:solidFill>
                  <a:schemeClr val="accent5"/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EAB1992-E472-4489-8A4E-A8FE45DE1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7310259" y="1548498"/>
            <a:ext cx="1372077" cy="1371719"/>
          </a:xfrm>
          <a:prstGeom prst="ellipse">
            <a:avLst/>
          </a:prstGeom>
          <a:noFill/>
          <a:ln w="38100">
            <a:solidFill>
              <a:srgbClr val="535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350">
              <a:solidFill>
                <a:schemeClr val="accent6"/>
              </a:solidFill>
            </a:endParaRP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FF3DA55F-C9CF-8945-A9DE-F606579BFE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87409" y="1821663"/>
            <a:ext cx="1047775" cy="825387"/>
          </a:xfrm>
        </p:spPr>
        <p:txBody>
          <a:bodyPr anchor="ctr" anchorCtr="0"/>
          <a:lstStyle>
            <a:lvl1pPr algn="ctr">
              <a:lnSpc>
                <a:spcPct val="100000"/>
              </a:lnSpc>
              <a:spcBef>
                <a:spcPts val="450"/>
              </a:spcBef>
              <a:defRPr sz="1350">
                <a:solidFill>
                  <a:schemeClr val="bg2">
                    <a:lumMod val="25000"/>
                  </a:schemeClr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/>
            </a:lvl2pPr>
          </a:lstStyle>
          <a:p>
            <a:pPr lvl="0"/>
            <a:r>
              <a:rPr lang="en-US"/>
              <a:t>add icon</a:t>
            </a:r>
            <a:br>
              <a:rPr lang="en-US"/>
            </a:br>
            <a:r>
              <a:rPr lang="en-US"/>
              <a:t>or text</a:t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CDC9B65E-8BAA-4676-9F32-44EC3772D34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15915" y="3212155"/>
            <a:ext cx="1371957" cy="1094184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450"/>
              </a:spcBef>
              <a:defRPr sz="1500">
                <a:solidFill>
                  <a:schemeClr val="bg2">
                    <a:lumMod val="25000"/>
                  </a:schemeClr>
                </a:solidFill>
              </a:defRPr>
            </a:lvl1pPr>
            <a:lvl2pPr marL="214313" indent="-214313" algn="ctr">
              <a:lnSpc>
                <a:spcPct val="100000"/>
              </a:lnSpc>
              <a:spcBef>
                <a:spcPts val="450"/>
              </a:spcBef>
              <a:buFont typeface="Open Sans" panose="020B0606030504020204" pitchFamily="34" charset="0"/>
              <a:buChar char="​"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dirty="0"/>
              <a:t>Click to add text</a:t>
            </a:r>
          </a:p>
          <a:p>
            <a:pPr marL="0" lvl="1" indent="0" algn="ctr" defTabSz="685800" rtl="0" eaLnBrk="1" latinLnBrk="0" hangingPunct="1">
              <a:lnSpc>
                <a:spcPct val="100000"/>
              </a:lnSpc>
              <a:spcBef>
                <a:spcPts val="450"/>
              </a:spcBef>
              <a:buClr>
                <a:schemeClr val="bg2">
                  <a:lumMod val="25000"/>
                </a:schemeClr>
              </a:buClr>
              <a:buSzPct val="90000"/>
              <a:buFont typeface="Open Sans" panose="020B0606030504020204" pitchFamily="34" charset="0"/>
              <a:buChar char="​"/>
            </a:pPr>
            <a:r>
              <a:rPr lang="en-US" dirty="0"/>
              <a:t>Second level</a:t>
            </a:r>
          </a:p>
        </p:txBody>
      </p:sp>
      <p:sp>
        <p:nvSpPr>
          <p:cNvPr id="27" name="page number">
            <a:extLst>
              <a:ext uri="{FF2B5EF4-FFF2-40B4-BE49-F238E27FC236}">
                <a16:creationId xmlns:a16="http://schemas.microsoft.com/office/drawing/2014/main" id="{6D94DD40-25D8-6A48-98B5-B2B0FB64FDAB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3447181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ge number">
            <a:extLst>
              <a:ext uri="{FF2B5EF4-FFF2-40B4-BE49-F238E27FC236}">
                <a16:creationId xmlns:a16="http://schemas.microsoft.com/office/drawing/2014/main" id="{BE17F87B-8433-6C45-84D8-13DF5C0ADDB4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244453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5 S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E7CED3-6B77-8742-8901-3C51DB8788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670"/>
            <a:ext cx="9146382" cy="5143500"/>
          </a:xfrm>
          <a:prstGeom prst="rect">
            <a:avLst/>
          </a:prstGeom>
        </p:spPr>
      </p:pic>
      <p:sp>
        <p:nvSpPr>
          <p:cNvPr id="2" name="Title click to edit"/>
          <p:cNvSpPr>
            <a:spLocks noGrp="1"/>
          </p:cNvSpPr>
          <p:nvPr>
            <p:ph type="title" hasCustomPrompt="1"/>
          </p:nvPr>
        </p:nvSpPr>
        <p:spPr>
          <a:xfrm>
            <a:off x="4572000" y="2370977"/>
            <a:ext cx="4130513" cy="925830"/>
          </a:xfrm>
        </p:spPr>
        <p:txBody>
          <a:bodyPr wrap="square" anchor="b"/>
          <a:lstStyle>
            <a:lvl1pPr algn="r">
              <a:defRPr sz="45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18" name="Click to edit role">
            <a:extLst>
              <a:ext uri="{FF2B5EF4-FFF2-40B4-BE49-F238E27FC236}">
                <a16:creationId xmlns:a16="http://schemas.microsoft.com/office/drawing/2014/main" id="{006FF8D0-7AF6-C549-9BFB-E838D6CDCA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1999" y="4420654"/>
            <a:ext cx="4130513" cy="266701"/>
          </a:xfrm>
        </p:spPr>
        <p:txBody>
          <a:bodyPr anchor="ctr"/>
          <a:lstStyle>
            <a:lvl1pPr algn="r">
              <a:buNone/>
              <a:defRPr sz="13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446C487-BDB0-D30C-B445-59B687C71B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1485" y="456145"/>
            <a:ext cx="2098984" cy="27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331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5 S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3E7CED3-6B77-8742-8901-3C51DB8788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1" y="670"/>
            <a:ext cx="9146382" cy="5143500"/>
          </a:xfrm>
          <a:prstGeom prst="rect">
            <a:avLst/>
          </a:prstGeom>
        </p:spPr>
      </p:pic>
      <p:sp>
        <p:nvSpPr>
          <p:cNvPr id="2" name="Title click to edit"/>
          <p:cNvSpPr>
            <a:spLocks noGrp="1"/>
          </p:cNvSpPr>
          <p:nvPr>
            <p:ph type="title" hasCustomPrompt="1"/>
          </p:nvPr>
        </p:nvSpPr>
        <p:spPr>
          <a:xfrm>
            <a:off x="441487" y="2370977"/>
            <a:ext cx="4130513" cy="925830"/>
          </a:xfrm>
        </p:spPr>
        <p:txBody>
          <a:bodyPr wrap="square" anchor="b"/>
          <a:lstStyle>
            <a:lvl1pPr algn="l">
              <a:defRPr sz="45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Text</a:t>
            </a:r>
          </a:p>
        </p:txBody>
      </p:sp>
      <p:sp>
        <p:nvSpPr>
          <p:cNvPr id="18" name="Click to edit role">
            <a:extLst>
              <a:ext uri="{FF2B5EF4-FFF2-40B4-BE49-F238E27FC236}">
                <a16:creationId xmlns:a16="http://schemas.microsoft.com/office/drawing/2014/main" id="{006FF8D0-7AF6-C549-9BFB-E838D6CDCA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1486" y="4420654"/>
            <a:ext cx="4130513" cy="266701"/>
          </a:xfrm>
        </p:spPr>
        <p:txBody>
          <a:bodyPr anchor="ctr"/>
          <a:lstStyle>
            <a:lvl1pPr algn="l">
              <a:buNone/>
              <a:defRPr sz="13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49790BF-BC16-A99C-7279-8E113BE3AF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1485" y="456145"/>
            <a:ext cx="2098984" cy="27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336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 – VMware Explore - Stay Connected">
    <p:bg>
      <p:bgPr>
        <a:gradFill>
          <a:gsLst>
            <a:gs pos="13000">
              <a:srgbClr val="0036A4"/>
            </a:gs>
            <a:gs pos="0">
              <a:srgbClr val="005BF8"/>
            </a:gs>
            <a:gs pos="39000">
              <a:srgbClr val="001559"/>
            </a:gs>
          </a:gsLst>
          <a:lin ang="189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1946" y="1575062"/>
            <a:ext cx="4454522" cy="922020"/>
          </a:xfrm>
        </p:spPr>
        <p:txBody>
          <a:bodyPr wrap="square" anchor="b"/>
          <a:lstStyle>
            <a:lvl1pPr algn="l">
              <a:defRPr sz="27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Text</a:t>
            </a:r>
          </a:p>
        </p:txBody>
      </p:sp>
      <p:sp>
        <p:nvSpPr>
          <p:cNvPr id="128" name="Subtitle">
            <a:extLst>
              <a:ext uri="{FF2B5EF4-FFF2-40B4-BE49-F238E27FC236}">
                <a16:creationId xmlns:a16="http://schemas.microsoft.com/office/drawing/2014/main" id="{6EBAFA4D-7B92-4E38-8320-94F3BCA2E41C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52342" y="2571750"/>
            <a:ext cx="4454522" cy="525662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Text</a:t>
            </a:r>
          </a:p>
        </p:txBody>
      </p:sp>
      <p:sp>
        <p:nvSpPr>
          <p:cNvPr id="14" name="page number">
            <a:extLst>
              <a:ext uri="{FF2B5EF4-FFF2-40B4-BE49-F238E27FC236}">
                <a16:creationId xmlns:a16="http://schemas.microsoft.com/office/drawing/2014/main" id="{20A83C12-6BEB-4E4C-9FB0-AA1FB4C661B1}"/>
              </a:ext>
            </a:extLst>
          </p:cNvPr>
          <p:cNvSpPr txBox="1"/>
          <p:nvPr userDrawn="1"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>
            <a:defPPr>
              <a:defRPr lang="en-US"/>
            </a:defPPr>
            <a:lvl1pPr>
              <a:lnSpc>
                <a:spcPct val="90000"/>
              </a:lnSpc>
              <a:defRPr sz="800">
                <a:solidFill>
                  <a:schemeClr val="tx2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 algn="r"/>
            <a:fld id="{7A51DB15-7364-4F0B-A3A0-1309F8830053}" type="slidenum">
              <a:rPr lang="en-US" sz="600" smtClean="0"/>
              <a:pPr lvl="0" algn="r"/>
              <a:t>‹#›</a:t>
            </a:fld>
            <a:endParaRPr lang="en-US" sz="6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896D6-28A5-851C-E9C2-96D1118460F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1485" y="456145"/>
            <a:ext cx="2098984" cy="27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879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nt Check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029BE03A-21B0-4196-A033-4E90957BA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sz="2100">
                <a:solidFill>
                  <a:schemeClr val="bg1"/>
                </a:solidFill>
              </a:rPr>
              <a:t>Metropolis Font Check</a:t>
            </a:r>
          </a:p>
        </p:txBody>
      </p:sp>
      <p:sp>
        <p:nvSpPr>
          <p:cNvPr id="51" name="Subtitle 2">
            <a:extLst>
              <a:ext uri="{FF2B5EF4-FFF2-40B4-BE49-F238E27FC236}">
                <a16:creationId xmlns:a16="http://schemas.microsoft.com/office/drawing/2014/main" id="{CB049186-CC25-4BD3-8410-4DE62ED4B08B}"/>
              </a:ext>
            </a:extLst>
          </p:cNvPr>
          <p:cNvSpPr>
            <a:spLocks noGrp="1"/>
          </p:cNvSpPr>
          <p:nvPr>
            <p:ph type="subTitle" idx="10" hasCustomPrompt="1"/>
          </p:nvPr>
        </p:nvSpPr>
        <p:spPr>
          <a:xfrm>
            <a:off x="444766" y="628579"/>
            <a:ext cx="8224157" cy="185807"/>
          </a:xfrm>
        </p:spPr>
        <p:txBody>
          <a:bodyPr/>
          <a:lstStyle>
            <a:lvl1pPr marL="0" indent="0" algn="l">
              <a:buNone/>
              <a:defRPr sz="1500">
                <a:solidFill>
                  <a:schemeClr val="bg1"/>
                </a:solidFill>
                <a:latin typeface="+mn-lt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Is the Metropolis font installed on my computer?</a:t>
            </a:r>
          </a:p>
        </p:txBody>
      </p:sp>
      <p:sp>
        <p:nvSpPr>
          <p:cNvPr id="43" name="Rectangle 42" descr="Do the fonts in the words below match on your screen?">
            <a:extLst>
              <a:ext uri="{FF2B5EF4-FFF2-40B4-BE49-F238E27FC236}">
                <a16:creationId xmlns:a16="http://schemas.microsoft.com/office/drawing/2014/main" id="{51A92F24-FC82-4FA9-9362-801284731CC8}"/>
              </a:ext>
            </a:extLst>
          </p:cNvPr>
          <p:cNvSpPr/>
          <p:nvPr userDrawn="1"/>
        </p:nvSpPr>
        <p:spPr bwMode="gray">
          <a:xfrm>
            <a:off x="467645" y="1209777"/>
            <a:ext cx="2164020" cy="18580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825">
                <a:solidFill>
                  <a:schemeClr val="accent5"/>
                </a:solidFill>
              </a:rPr>
              <a:t>Do the fonts in the words below match?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59E37DB-3217-4772-AE8E-E9673A139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7645" y="1395584"/>
            <a:ext cx="7614974" cy="0"/>
          </a:xfrm>
          <a:prstGeom prst="line">
            <a:avLst/>
          </a:prstGeom>
          <a:ln w="25400">
            <a:solidFill>
              <a:schemeClr val="bg1"/>
            </a:solidFill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0DFE264-D676-EA48-BBA7-F4F0331FA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2995" y="1664804"/>
            <a:ext cx="2316836" cy="418479"/>
          </a:xfrm>
          <a:prstGeom prst="rect">
            <a:avLst/>
          </a:prstGeom>
        </p:spPr>
      </p:pic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DDDC76C1-EE98-469A-A6AD-21148374D6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8703" y="2181175"/>
            <a:ext cx="4017024" cy="671513"/>
          </a:xfrm>
        </p:spPr>
        <p:txBody>
          <a:bodyPr/>
          <a:lstStyle>
            <a:lvl1pPr>
              <a:defRPr sz="3675">
                <a:solidFill>
                  <a:schemeClr val="bg1"/>
                </a:solidFill>
              </a:defRPr>
            </a:lvl1pPr>
            <a:lvl2pPr>
              <a:defRPr sz="27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100">
                <a:solidFill>
                  <a:schemeClr val="bg1"/>
                </a:solidFill>
              </a:defRPr>
            </a:lvl4pPr>
            <a:lvl5pPr>
              <a:defRPr sz="2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Metropolis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BB7D6E-2488-A644-A910-415B17221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524362" y="1682169"/>
            <a:ext cx="3558256" cy="403805"/>
          </a:xfrm>
          <a:prstGeom prst="rect">
            <a:avLst/>
          </a:prstGeom>
        </p:spPr>
      </p:pic>
      <p:sp>
        <p:nvSpPr>
          <p:cNvPr id="63" name="Text Placeholder 43">
            <a:extLst>
              <a:ext uri="{FF2B5EF4-FFF2-40B4-BE49-F238E27FC236}">
                <a16:creationId xmlns:a16="http://schemas.microsoft.com/office/drawing/2014/main" id="{6C28CB3F-7257-499E-B2F6-B9B1B38D82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88932" y="2181175"/>
            <a:ext cx="4017024" cy="671513"/>
          </a:xfrm>
        </p:spPr>
        <p:txBody>
          <a:bodyPr/>
          <a:lstStyle>
            <a:lvl1pPr>
              <a:defRPr sz="3675">
                <a:solidFill>
                  <a:schemeClr val="bg1"/>
                </a:solidFill>
                <a:latin typeface="+mj-lt"/>
              </a:defRPr>
            </a:lvl1pPr>
            <a:lvl2pPr>
              <a:defRPr sz="27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100">
                <a:solidFill>
                  <a:schemeClr val="bg1"/>
                </a:solidFill>
              </a:defRPr>
            </a:lvl4pPr>
            <a:lvl5pPr>
              <a:defRPr sz="2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Metropolis Light</a:t>
            </a:r>
          </a:p>
        </p:txBody>
      </p:sp>
    </p:spTree>
    <p:extLst>
      <p:ext uri="{BB962C8B-B14F-4D97-AF65-F5344CB8AC3E}">
        <p14:creationId xmlns:p14="http://schemas.microsoft.com/office/powerpoint/2010/main" val="2061956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E3F1AF9-33AA-4D9C-AD7D-10112C93FA27}"/>
              </a:ext>
            </a:extLst>
          </p:cNvPr>
          <p:cNvGrpSpPr/>
          <p:nvPr userDrawn="1"/>
        </p:nvGrpSpPr>
        <p:grpSpPr>
          <a:xfrm>
            <a:off x="-190" y="0"/>
            <a:ext cx="9144191" cy="5143500"/>
            <a:chOff x="-254" y="0"/>
            <a:chExt cx="12189079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9E9588-3727-5FEC-0E33-428A0E0E52CF}"/>
                </a:ext>
              </a:extLst>
            </p:cNvPr>
            <p:cNvGrpSpPr/>
            <p:nvPr/>
          </p:nvGrpSpPr>
          <p:grpSpPr>
            <a:xfrm>
              <a:off x="-254" y="0"/>
              <a:ext cx="12189079" cy="6858000"/>
              <a:chOff x="-127" y="-4574"/>
              <a:chExt cx="12189079" cy="6858000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EA45D55F-33A1-B5EE-1294-7193C9E52129}"/>
                  </a:ext>
                </a:extLst>
              </p:cNvPr>
              <p:cNvGrpSpPr/>
              <p:nvPr/>
            </p:nvGrpSpPr>
            <p:grpSpPr>
              <a:xfrm>
                <a:off x="0" y="-4574"/>
                <a:ext cx="12188952" cy="6858000"/>
                <a:chOff x="12729307" y="-4574"/>
                <a:chExt cx="12188952" cy="6858000"/>
              </a:xfrm>
            </p:grpSpPr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3192C1B0-FD05-3D6D-AA43-13BE9A509223}"/>
                    </a:ext>
                  </a:extLst>
                </p:cNvPr>
                <p:cNvCxnSpPr/>
                <p:nvPr/>
              </p:nvCxnSpPr>
              <p:spPr>
                <a:xfrm>
                  <a:off x="12729307" y="13670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D5467DCD-D2A3-D388-63FB-FCC706CFEA27}"/>
                    </a:ext>
                  </a:extLst>
                </p:cNvPr>
                <p:cNvCxnSpPr/>
                <p:nvPr/>
              </p:nvCxnSpPr>
              <p:spPr>
                <a:xfrm>
                  <a:off x="12729307" y="17099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C21E73B3-785B-A7C1-3348-2BF03381F215}"/>
                    </a:ext>
                  </a:extLst>
                </p:cNvPr>
                <p:cNvCxnSpPr/>
                <p:nvPr/>
              </p:nvCxnSpPr>
              <p:spPr>
                <a:xfrm>
                  <a:off x="12729307" y="10241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0EE193C1-B893-AEE6-14EF-1DD3C58EC6B0}"/>
                    </a:ext>
                  </a:extLst>
                </p:cNvPr>
                <p:cNvCxnSpPr/>
                <p:nvPr/>
              </p:nvCxnSpPr>
              <p:spPr>
                <a:xfrm>
                  <a:off x="12729307" y="6812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0A2F4852-BFDA-EE13-72F3-9580A2660556}"/>
                    </a:ext>
                  </a:extLst>
                </p:cNvPr>
                <p:cNvCxnSpPr/>
                <p:nvPr/>
              </p:nvCxnSpPr>
              <p:spPr>
                <a:xfrm>
                  <a:off x="12729307" y="3383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C3283319-C06D-CFDB-FED4-74A1C9A60351}"/>
                    </a:ext>
                  </a:extLst>
                </p:cNvPr>
                <p:cNvCxnSpPr/>
                <p:nvPr/>
              </p:nvCxnSpPr>
              <p:spPr>
                <a:xfrm>
                  <a:off x="12729307" y="-4574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99B3126F-B86D-ED04-D117-60D7D34A32CF}"/>
                    </a:ext>
                  </a:extLst>
                </p:cNvPr>
                <p:cNvCxnSpPr/>
                <p:nvPr/>
              </p:nvCxnSpPr>
              <p:spPr>
                <a:xfrm>
                  <a:off x="12729307" y="30815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D8869636-2E07-B2DA-3050-E604FE342BF0}"/>
                    </a:ext>
                  </a:extLst>
                </p:cNvPr>
                <p:cNvCxnSpPr/>
                <p:nvPr/>
              </p:nvCxnSpPr>
              <p:spPr>
                <a:xfrm>
                  <a:off x="12729307" y="34244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0907CAB0-7042-DDEA-DC67-077A1FD4A566}"/>
                    </a:ext>
                  </a:extLst>
                </p:cNvPr>
                <p:cNvCxnSpPr/>
                <p:nvPr/>
              </p:nvCxnSpPr>
              <p:spPr>
                <a:xfrm>
                  <a:off x="12729307" y="27386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CD5EEE1C-9158-1156-549F-250123325F39}"/>
                    </a:ext>
                  </a:extLst>
                </p:cNvPr>
                <p:cNvCxnSpPr/>
                <p:nvPr/>
              </p:nvCxnSpPr>
              <p:spPr>
                <a:xfrm>
                  <a:off x="12729307" y="23957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C2C6BC63-BCAE-A996-9198-F0D6E94A504D}"/>
                    </a:ext>
                  </a:extLst>
                </p:cNvPr>
                <p:cNvCxnSpPr/>
                <p:nvPr/>
              </p:nvCxnSpPr>
              <p:spPr>
                <a:xfrm>
                  <a:off x="12729307" y="20528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F77B4204-7F88-9298-8C63-F45632F814EB}"/>
                    </a:ext>
                  </a:extLst>
                </p:cNvPr>
                <p:cNvCxnSpPr/>
                <p:nvPr/>
              </p:nvCxnSpPr>
              <p:spPr>
                <a:xfrm>
                  <a:off x="12729307" y="47960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A974B396-8BFB-565A-1D45-AC5051F383B4}"/>
                    </a:ext>
                  </a:extLst>
                </p:cNvPr>
                <p:cNvCxnSpPr/>
                <p:nvPr/>
              </p:nvCxnSpPr>
              <p:spPr>
                <a:xfrm>
                  <a:off x="12729307" y="51389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72C41DE-4BA5-7EB5-C94F-6E3CB42B2850}"/>
                    </a:ext>
                  </a:extLst>
                </p:cNvPr>
                <p:cNvCxnSpPr/>
                <p:nvPr/>
              </p:nvCxnSpPr>
              <p:spPr>
                <a:xfrm>
                  <a:off x="12729307" y="44531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FFC8EBD5-04C9-A033-8F51-2D39E6444E65}"/>
                    </a:ext>
                  </a:extLst>
                </p:cNvPr>
                <p:cNvCxnSpPr/>
                <p:nvPr/>
              </p:nvCxnSpPr>
              <p:spPr>
                <a:xfrm>
                  <a:off x="12729307" y="41102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ACC7EB17-9FA7-08C5-ABB2-B679916A18F3}"/>
                    </a:ext>
                  </a:extLst>
                </p:cNvPr>
                <p:cNvCxnSpPr/>
                <p:nvPr/>
              </p:nvCxnSpPr>
              <p:spPr>
                <a:xfrm>
                  <a:off x="12729307" y="37673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44815470-E934-C198-88CA-285C1310AED2}"/>
                    </a:ext>
                  </a:extLst>
                </p:cNvPr>
                <p:cNvCxnSpPr/>
                <p:nvPr/>
              </p:nvCxnSpPr>
              <p:spPr>
                <a:xfrm>
                  <a:off x="12729307" y="65105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4DBA312E-6798-4EB2-D795-5226364BED39}"/>
                    </a:ext>
                  </a:extLst>
                </p:cNvPr>
                <p:cNvCxnSpPr/>
                <p:nvPr/>
              </p:nvCxnSpPr>
              <p:spPr>
                <a:xfrm>
                  <a:off x="12729307" y="68534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F5432DE7-E633-79FC-531D-765EC96E3943}"/>
                    </a:ext>
                  </a:extLst>
                </p:cNvPr>
                <p:cNvCxnSpPr/>
                <p:nvPr/>
              </p:nvCxnSpPr>
              <p:spPr>
                <a:xfrm>
                  <a:off x="12729307" y="58247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E9C35EB4-830D-60C7-6F97-879535329C9D}"/>
                    </a:ext>
                  </a:extLst>
                </p:cNvPr>
                <p:cNvCxnSpPr/>
                <p:nvPr/>
              </p:nvCxnSpPr>
              <p:spPr>
                <a:xfrm>
                  <a:off x="12729307" y="54818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5411CFF2-50B1-461A-4790-B8E4C6844ECD}"/>
                    </a:ext>
                  </a:extLst>
                </p:cNvPr>
                <p:cNvCxnSpPr/>
                <p:nvPr/>
              </p:nvCxnSpPr>
              <p:spPr>
                <a:xfrm>
                  <a:off x="12729307" y="6167626"/>
                  <a:ext cx="12188952" cy="0"/>
                </a:xfrm>
                <a:prstGeom prst="line">
                  <a:avLst/>
                </a:prstGeom>
                <a:ln w="3175" cap="rnd">
                  <a:solidFill>
                    <a:schemeClr val="accent3"/>
                  </a:solidFill>
                  <a:prstDash val="solid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D6CF8F1D-FCA1-0E52-9B86-1986AB299A31}"/>
                  </a:ext>
                </a:extLst>
              </p:cNvPr>
              <p:cNvGrpSpPr/>
              <p:nvPr/>
            </p:nvGrpSpPr>
            <p:grpSpPr>
              <a:xfrm>
                <a:off x="-127" y="109726"/>
                <a:ext cx="12188952" cy="6629400"/>
                <a:chOff x="12729307" y="109726"/>
                <a:chExt cx="12188952" cy="6629400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91AC671C-8C44-ED3A-442F-0949F3FA0C57}"/>
                    </a:ext>
                  </a:extLst>
                </p:cNvPr>
                <p:cNvCxnSpPr/>
                <p:nvPr/>
              </p:nvCxnSpPr>
              <p:spPr>
                <a:xfrm>
                  <a:off x="12729307" y="14813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703D5D6A-D10A-C74D-79C1-E8A312E5EE61}"/>
                    </a:ext>
                  </a:extLst>
                </p:cNvPr>
                <p:cNvCxnSpPr/>
                <p:nvPr/>
              </p:nvCxnSpPr>
              <p:spPr>
                <a:xfrm>
                  <a:off x="12729307" y="18242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1359B3D-DCBD-16BC-6029-C5EA88B3D789}"/>
                    </a:ext>
                  </a:extLst>
                </p:cNvPr>
                <p:cNvCxnSpPr/>
                <p:nvPr/>
              </p:nvCxnSpPr>
              <p:spPr>
                <a:xfrm>
                  <a:off x="12729307" y="11384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D8937785-E909-3105-F0B5-E7C4C4EAC941}"/>
                    </a:ext>
                  </a:extLst>
                </p:cNvPr>
                <p:cNvCxnSpPr/>
                <p:nvPr/>
              </p:nvCxnSpPr>
              <p:spPr>
                <a:xfrm>
                  <a:off x="12729307" y="7955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B7879331-C242-32A5-1E51-418EDAFA2749}"/>
                    </a:ext>
                  </a:extLst>
                </p:cNvPr>
                <p:cNvCxnSpPr/>
                <p:nvPr/>
              </p:nvCxnSpPr>
              <p:spPr>
                <a:xfrm>
                  <a:off x="12729307" y="4526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8CA0CDC5-2CD6-F14E-BF54-183DBDF3D2D3}"/>
                    </a:ext>
                  </a:extLst>
                </p:cNvPr>
                <p:cNvCxnSpPr/>
                <p:nvPr/>
              </p:nvCxnSpPr>
              <p:spPr>
                <a:xfrm>
                  <a:off x="12729307" y="1097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E65876-4463-ECB9-6702-FE110244B147}"/>
                    </a:ext>
                  </a:extLst>
                </p:cNvPr>
                <p:cNvCxnSpPr/>
                <p:nvPr/>
              </p:nvCxnSpPr>
              <p:spPr>
                <a:xfrm>
                  <a:off x="12729307" y="31958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A7AEEDEC-4442-2CD9-D599-2219515EB07F}"/>
                    </a:ext>
                  </a:extLst>
                </p:cNvPr>
                <p:cNvCxnSpPr/>
                <p:nvPr/>
              </p:nvCxnSpPr>
              <p:spPr>
                <a:xfrm>
                  <a:off x="12729307" y="35387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9D9A09E6-D152-739C-FD9F-757021BE146B}"/>
                    </a:ext>
                  </a:extLst>
                </p:cNvPr>
                <p:cNvCxnSpPr/>
                <p:nvPr/>
              </p:nvCxnSpPr>
              <p:spPr>
                <a:xfrm>
                  <a:off x="12729307" y="28529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792C899A-2850-506F-4B05-F6C5EFF44A42}"/>
                    </a:ext>
                  </a:extLst>
                </p:cNvPr>
                <p:cNvCxnSpPr/>
                <p:nvPr/>
              </p:nvCxnSpPr>
              <p:spPr>
                <a:xfrm>
                  <a:off x="12729307" y="25100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FD8BA1B-ACD1-5A26-E922-44AD4C805774}"/>
                    </a:ext>
                  </a:extLst>
                </p:cNvPr>
                <p:cNvCxnSpPr/>
                <p:nvPr/>
              </p:nvCxnSpPr>
              <p:spPr>
                <a:xfrm>
                  <a:off x="12729307" y="21671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6913F5C-9E71-718D-1887-E8B8FBA65578}"/>
                    </a:ext>
                  </a:extLst>
                </p:cNvPr>
                <p:cNvCxnSpPr/>
                <p:nvPr/>
              </p:nvCxnSpPr>
              <p:spPr>
                <a:xfrm>
                  <a:off x="12729307" y="49103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8610FB90-0404-EECC-CADC-1D23384B6E36}"/>
                    </a:ext>
                  </a:extLst>
                </p:cNvPr>
                <p:cNvCxnSpPr/>
                <p:nvPr/>
              </p:nvCxnSpPr>
              <p:spPr>
                <a:xfrm>
                  <a:off x="12729307" y="52532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0867295-30A8-E543-CEFA-7DEDB440211B}"/>
                    </a:ext>
                  </a:extLst>
                </p:cNvPr>
                <p:cNvCxnSpPr/>
                <p:nvPr/>
              </p:nvCxnSpPr>
              <p:spPr>
                <a:xfrm>
                  <a:off x="12729307" y="45674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CF25900-C2E7-FFDE-43F2-AEBF8B4825CF}"/>
                    </a:ext>
                  </a:extLst>
                </p:cNvPr>
                <p:cNvCxnSpPr/>
                <p:nvPr/>
              </p:nvCxnSpPr>
              <p:spPr>
                <a:xfrm>
                  <a:off x="12729307" y="42245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F60FE0-25BD-A7C8-8FED-7419FBABC89B}"/>
                    </a:ext>
                  </a:extLst>
                </p:cNvPr>
                <p:cNvCxnSpPr/>
                <p:nvPr/>
              </p:nvCxnSpPr>
              <p:spPr>
                <a:xfrm>
                  <a:off x="12729307" y="38816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6DD427AF-BA05-A3A5-6DE0-0A2BAF2EAAE5}"/>
                    </a:ext>
                  </a:extLst>
                </p:cNvPr>
                <p:cNvCxnSpPr/>
                <p:nvPr/>
              </p:nvCxnSpPr>
              <p:spPr>
                <a:xfrm>
                  <a:off x="12729307" y="66248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48D53ACE-1B51-A4E0-A937-360651F05172}"/>
                    </a:ext>
                  </a:extLst>
                </p:cNvPr>
                <p:cNvCxnSpPr/>
                <p:nvPr/>
              </p:nvCxnSpPr>
              <p:spPr>
                <a:xfrm>
                  <a:off x="12729307" y="62819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42A0918D-3B99-B4B3-8DC3-768CC277BE09}"/>
                    </a:ext>
                  </a:extLst>
                </p:cNvPr>
                <p:cNvCxnSpPr/>
                <p:nvPr/>
              </p:nvCxnSpPr>
              <p:spPr>
                <a:xfrm>
                  <a:off x="12729307" y="59390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11F1C04-FA6C-3473-D07D-D70139CE0C45}"/>
                    </a:ext>
                  </a:extLst>
                </p:cNvPr>
                <p:cNvCxnSpPr/>
                <p:nvPr/>
              </p:nvCxnSpPr>
              <p:spPr>
                <a:xfrm>
                  <a:off x="12729307" y="55961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2E297A40-E650-A585-9C5E-AEF614ED8BFC}"/>
                    </a:ext>
                  </a:extLst>
                </p:cNvPr>
                <p:cNvCxnSpPr/>
                <p:nvPr/>
              </p:nvCxnSpPr>
              <p:spPr>
                <a:xfrm>
                  <a:off x="12729307" y="15956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BB7C48DA-FC2C-4B03-AAFA-EBCF9791F089}"/>
                    </a:ext>
                  </a:extLst>
                </p:cNvPr>
                <p:cNvCxnSpPr/>
                <p:nvPr/>
              </p:nvCxnSpPr>
              <p:spPr>
                <a:xfrm>
                  <a:off x="12729307" y="19385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02A136D5-0112-4640-5CC7-E25FA93E821F}"/>
                    </a:ext>
                  </a:extLst>
                </p:cNvPr>
                <p:cNvCxnSpPr/>
                <p:nvPr/>
              </p:nvCxnSpPr>
              <p:spPr>
                <a:xfrm>
                  <a:off x="12729307" y="12527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6A8F2D6F-CE12-C271-6596-3477C8B819C4}"/>
                    </a:ext>
                  </a:extLst>
                </p:cNvPr>
                <p:cNvCxnSpPr/>
                <p:nvPr/>
              </p:nvCxnSpPr>
              <p:spPr>
                <a:xfrm>
                  <a:off x="12729307" y="9098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D2FE073-8D55-4E6A-7767-EF9463B0B6EF}"/>
                    </a:ext>
                  </a:extLst>
                </p:cNvPr>
                <p:cNvCxnSpPr/>
                <p:nvPr/>
              </p:nvCxnSpPr>
              <p:spPr>
                <a:xfrm>
                  <a:off x="12729307" y="5669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383FB654-C6AC-222C-83D7-6E5572C8652E}"/>
                    </a:ext>
                  </a:extLst>
                </p:cNvPr>
                <p:cNvCxnSpPr/>
                <p:nvPr/>
              </p:nvCxnSpPr>
              <p:spPr>
                <a:xfrm>
                  <a:off x="12729307" y="2240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DDF4D91-B1E4-A43A-D610-CCA673034A1B}"/>
                    </a:ext>
                  </a:extLst>
                </p:cNvPr>
                <p:cNvCxnSpPr/>
                <p:nvPr/>
              </p:nvCxnSpPr>
              <p:spPr>
                <a:xfrm>
                  <a:off x="12729307" y="33101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E896E85-9A43-78EF-39F5-60F4506CECBD}"/>
                    </a:ext>
                  </a:extLst>
                </p:cNvPr>
                <p:cNvCxnSpPr/>
                <p:nvPr/>
              </p:nvCxnSpPr>
              <p:spPr>
                <a:xfrm>
                  <a:off x="12729307" y="36530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5213030-AAF1-E183-7201-F5AC945C322E}"/>
                    </a:ext>
                  </a:extLst>
                </p:cNvPr>
                <p:cNvCxnSpPr/>
                <p:nvPr/>
              </p:nvCxnSpPr>
              <p:spPr>
                <a:xfrm>
                  <a:off x="12729307" y="29672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9999AE57-2AB9-02F1-D24C-1149707E0AA2}"/>
                    </a:ext>
                  </a:extLst>
                </p:cNvPr>
                <p:cNvCxnSpPr/>
                <p:nvPr/>
              </p:nvCxnSpPr>
              <p:spPr>
                <a:xfrm>
                  <a:off x="12729307" y="26243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3EFF047E-B10D-DBF6-91EB-78DAB5AD1C3F}"/>
                    </a:ext>
                  </a:extLst>
                </p:cNvPr>
                <p:cNvCxnSpPr/>
                <p:nvPr/>
              </p:nvCxnSpPr>
              <p:spPr>
                <a:xfrm>
                  <a:off x="12729307" y="22814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3BFFC60-ADA4-309C-CD72-ADAEFFBB8F61}"/>
                    </a:ext>
                  </a:extLst>
                </p:cNvPr>
                <p:cNvCxnSpPr/>
                <p:nvPr/>
              </p:nvCxnSpPr>
              <p:spPr>
                <a:xfrm>
                  <a:off x="12729307" y="50246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5B3CD360-61CD-3930-33DD-1864239EFEAA}"/>
                    </a:ext>
                  </a:extLst>
                </p:cNvPr>
                <p:cNvCxnSpPr/>
                <p:nvPr/>
              </p:nvCxnSpPr>
              <p:spPr>
                <a:xfrm>
                  <a:off x="12729307" y="53675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98A18FA4-995F-3AB5-A504-B4C31A52A354}"/>
                    </a:ext>
                  </a:extLst>
                </p:cNvPr>
                <p:cNvCxnSpPr/>
                <p:nvPr/>
              </p:nvCxnSpPr>
              <p:spPr>
                <a:xfrm>
                  <a:off x="12729307" y="46817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8240A8DE-4FAB-D642-D39D-5FF7895DC253}"/>
                    </a:ext>
                  </a:extLst>
                </p:cNvPr>
                <p:cNvCxnSpPr/>
                <p:nvPr/>
              </p:nvCxnSpPr>
              <p:spPr>
                <a:xfrm>
                  <a:off x="12729307" y="43388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7098FBC0-6135-95DC-3AA3-CB7AF67FF941}"/>
                    </a:ext>
                  </a:extLst>
                </p:cNvPr>
                <p:cNvCxnSpPr/>
                <p:nvPr/>
              </p:nvCxnSpPr>
              <p:spPr>
                <a:xfrm>
                  <a:off x="12729307" y="39959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84A25620-C85C-DE7D-82F6-814DA7AF8BDA}"/>
                    </a:ext>
                  </a:extLst>
                </p:cNvPr>
                <p:cNvCxnSpPr/>
                <p:nvPr/>
              </p:nvCxnSpPr>
              <p:spPr>
                <a:xfrm>
                  <a:off x="12729307" y="67391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02035E19-26B0-92DE-26EA-6D3F4D3A8960}"/>
                    </a:ext>
                  </a:extLst>
                </p:cNvPr>
                <p:cNvCxnSpPr/>
                <p:nvPr/>
              </p:nvCxnSpPr>
              <p:spPr>
                <a:xfrm>
                  <a:off x="12729307" y="63962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11746D02-19E5-873B-674D-8643E6406263}"/>
                    </a:ext>
                  </a:extLst>
                </p:cNvPr>
                <p:cNvCxnSpPr/>
                <p:nvPr/>
              </p:nvCxnSpPr>
              <p:spPr>
                <a:xfrm>
                  <a:off x="12729307" y="60533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9E313C31-3CD9-DDCC-E0AB-23F45589D51C}"/>
                    </a:ext>
                  </a:extLst>
                </p:cNvPr>
                <p:cNvCxnSpPr/>
                <p:nvPr/>
              </p:nvCxnSpPr>
              <p:spPr>
                <a:xfrm>
                  <a:off x="12729307" y="5710426"/>
                  <a:ext cx="12188952" cy="0"/>
                </a:xfrm>
                <a:prstGeom prst="line">
                  <a:avLst/>
                </a:prstGeom>
                <a:ln w="635" cap="rnd">
                  <a:solidFill>
                    <a:schemeClr val="accent3"/>
                  </a:solidFill>
                  <a:prstDash val="sysDash"/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A8A3896-A022-3D93-0F47-AD6B0035D343}"/>
                </a:ext>
              </a:extLst>
            </p:cNvPr>
            <p:cNvGrpSpPr/>
            <p:nvPr/>
          </p:nvGrpSpPr>
          <p:grpSpPr>
            <a:xfrm>
              <a:off x="970985" y="0"/>
              <a:ext cx="10247475" cy="6858000"/>
              <a:chOff x="971112" y="0"/>
              <a:chExt cx="10247475" cy="6858000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B29B664C-BD4B-DE6A-F674-ACF9BFD47104}"/>
                  </a:ext>
                </a:extLst>
              </p:cNvPr>
              <p:cNvCxnSpPr/>
              <p:nvPr/>
            </p:nvCxnSpPr>
            <p:spPr bwMode="gray">
              <a:xfrm flipH="1">
                <a:off x="971112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575E895-5811-2568-4785-119CC7D7A6D6}"/>
                  </a:ext>
                </a:extLst>
              </p:cNvPr>
              <p:cNvCxnSpPr/>
              <p:nvPr/>
            </p:nvCxnSpPr>
            <p:spPr bwMode="gray">
              <a:xfrm flipH="1">
                <a:off x="1902579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B3A1103-CA7C-9008-202F-0640D1BA73D9}"/>
                  </a:ext>
                </a:extLst>
              </p:cNvPr>
              <p:cNvCxnSpPr/>
              <p:nvPr/>
            </p:nvCxnSpPr>
            <p:spPr bwMode="gray">
              <a:xfrm flipH="1">
                <a:off x="2834046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1134332-D055-85AE-9F68-EB3F0E270BBC}"/>
                  </a:ext>
                </a:extLst>
              </p:cNvPr>
              <p:cNvCxnSpPr/>
              <p:nvPr/>
            </p:nvCxnSpPr>
            <p:spPr bwMode="gray">
              <a:xfrm flipH="1">
                <a:off x="3765513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17EF196-6654-8040-E97B-195A2B6F9A59}"/>
                  </a:ext>
                </a:extLst>
              </p:cNvPr>
              <p:cNvCxnSpPr/>
              <p:nvPr/>
            </p:nvCxnSpPr>
            <p:spPr bwMode="gray">
              <a:xfrm flipH="1">
                <a:off x="4696980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821FE0FE-450A-7869-8FFE-2CCD2D4F5640}"/>
                  </a:ext>
                </a:extLst>
              </p:cNvPr>
              <p:cNvCxnSpPr/>
              <p:nvPr/>
            </p:nvCxnSpPr>
            <p:spPr bwMode="gray">
              <a:xfrm flipH="1">
                <a:off x="5628447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7CBBA072-6392-A63A-2079-1440F6233CDE}"/>
                  </a:ext>
                </a:extLst>
              </p:cNvPr>
              <p:cNvCxnSpPr/>
              <p:nvPr/>
            </p:nvCxnSpPr>
            <p:spPr bwMode="gray">
              <a:xfrm flipH="1">
                <a:off x="6559914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CB6AC709-7DD1-627F-206E-E5CDC1B16AB8}"/>
                  </a:ext>
                </a:extLst>
              </p:cNvPr>
              <p:cNvCxnSpPr/>
              <p:nvPr/>
            </p:nvCxnSpPr>
            <p:spPr bwMode="gray">
              <a:xfrm flipH="1">
                <a:off x="7491381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58EE753-D5AB-2B74-D273-3BB5B1BCC23C}"/>
                  </a:ext>
                </a:extLst>
              </p:cNvPr>
              <p:cNvCxnSpPr/>
              <p:nvPr/>
            </p:nvCxnSpPr>
            <p:spPr bwMode="gray">
              <a:xfrm flipH="1">
                <a:off x="8422848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07AA1CD-0FB2-00F0-D116-149A35EB92D3}"/>
                  </a:ext>
                </a:extLst>
              </p:cNvPr>
              <p:cNvCxnSpPr/>
              <p:nvPr/>
            </p:nvCxnSpPr>
            <p:spPr bwMode="gray">
              <a:xfrm flipH="1">
                <a:off x="9354315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A67DBB3-63DE-EE8D-D442-02A28B4376CB}"/>
                  </a:ext>
                </a:extLst>
              </p:cNvPr>
              <p:cNvCxnSpPr/>
              <p:nvPr/>
            </p:nvCxnSpPr>
            <p:spPr bwMode="gray">
              <a:xfrm flipH="1">
                <a:off x="10285782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456EF32D-9505-333A-5521-F10447964281}"/>
                  </a:ext>
                </a:extLst>
              </p:cNvPr>
              <p:cNvCxnSpPr/>
              <p:nvPr/>
            </p:nvCxnSpPr>
            <p:spPr bwMode="gray">
              <a:xfrm flipH="1">
                <a:off x="11217246" y="0"/>
                <a:ext cx="1341" cy="6858000"/>
              </a:xfrm>
              <a:prstGeom prst="line">
                <a:avLst/>
              </a:prstGeom>
              <a:ln w="6350">
                <a:solidFill>
                  <a:schemeClr val="accent2"/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30BF885F-D3CC-745A-984D-D7F6966AA713}"/>
                </a:ext>
              </a:extLst>
            </p:cNvPr>
            <p:cNvGrpSpPr/>
            <p:nvPr userDrawn="1"/>
          </p:nvGrpSpPr>
          <p:grpSpPr>
            <a:xfrm>
              <a:off x="608758" y="448731"/>
              <a:ext cx="10971928" cy="5722842"/>
              <a:chOff x="608885" y="1604366"/>
              <a:chExt cx="10971928" cy="4567208"/>
            </a:xfrm>
            <a:solidFill>
              <a:schemeClr val="accent2">
                <a:lumMod val="20000"/>
                <a:lumOff val="80000"/>
                <a:alpha val="20000"/>
              </a:schemeClr>
            </a:solidFill>
          </p:grpSpPr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931424C-1645-8E9B-FA77-0A941399FCE6}"/>
                  </a:ext>
                </a:extLst>
              </p:cNvPr>
              <p:cNvSpPr/>
              <p:nvPr/>
            </p:nvSpPr>
            <p:spPr>
              <a:xfrm>
                <a:off x="608885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A9233359-F46C-9B5F-11AE-D01F64447A2A}"/>
                  </a:ext>
                </a:extLst>
              </p:cNvPr>
              <p:cNvSpPr/>
              <p:nvPr/>
            </p:nvSpPr>
            <p:spPr>
              <a:xfrm>
                <a:off x="1540352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2A1B892E-96E7-7899-F1B3-0AADC1E264B4}"/>
                  </a:ext>
                </a:extLst>
              </p:cNvPr>
              <p:cNvSpPr/>
              <p:nvPr/>
            </p:nvSpPr>
            <p:spPr>
              <a:xfrm>
                <a:off x="2471819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725B52BB-4AE6-2B60-DA7E-11AEF18FD71A}"/>
                  </a:ext>
                </a:extLst>
              </p:cNvPr>
              <p:cNvSpPr/>
              <p:nvPr/>
            </p:nvSpPr>
            <p:spPr>
              <a:xfrm>
                <a:off x="3403286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ED872CF2-3533-710C-78F5-54FC7545EE57}"/>
                  </a:ext>
                </a:extLst>
              </p:cNvPr>
              <p:cNvSpPr/>
              <p:nvPr/>
            </p:nvSpPr>
            <p:spPr>
              <a:xfrm>
                <a:off x="4334753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F0B7B9AE-CCF1-DDB8-EB57-A58B812A608C}"/>
                  </a:ext>
                </a:extLst>
              </p:cNvPr>
              <p:cNvSpPr/>
              <p:nvPr/>
            </p:nvSpPr>
            <p:spPr>
              <a:xfrm>
                <a:off x="5266220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21F47EEE-6F27-05C9-4503-E9BE3CE8C4BA}"/>
                  </a:ext>
                </a:extLst>
              </p:cNvPr>
              <p:cNvSpPr/>
              <p:nvPr/>
            </p:nvSpPr>
            <p:spPr>
              <a:xfrm>
                <a:off x="6197687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9161A4C4-ED20-3A1B-3E4C-D4DF9018B3C8}"/>
                  </a:ext>
                </a:extLst>
              </p:cNvPr>
              <p:cNvSpPr/>
              <p:nvPr/>
            </p:nvSpPr>
            <p:spPr>
              <a:xfrm>
                <a:off x="7129154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33871AC7-13F5-B68C-3B2A-C09DD68247A7}"/>
                  </a:ext>
                </a:extLst>
              </p:cNvPr>
              <p:cNvSpPr/>
              <p:nvPr/>
            </p:nvSpPr>
            <p:spPr>
              <a:xfrm>
                <a:off x="8060621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6B7EE8E7-E42C-8EA1-EE83-2D2D64D2EB56}"/>
                  </a:ext>
                </a:extLst>
              </p:cNvPr>
              <p:cNvSpPr/>
              <p:nvPr/>
            </p:nvSpPr>
            <p:spPr>
              <a:xfrm>
                <a:off x="8992088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C630D5FC-716C-9869-203A-9144CB1A1D5C}"/>
                  </a:ext>
                </a:extLst>
              </p:cNvPr>
              <p:cNvSpPr/>
              <p:nvPr/>
            </p:nvSpPr>
            <p:spPr>
              <a:xfrm>
                <a:off x="9923555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7804B598-8060-0986-AD2D-17A4815EA02D}"/>
                  </a:ext>
                </a:extLst>
              </p:cNvPr>
              <p:cNvSpPr/>
              <p:nvPr/>
            </p:nvSpPr>
            <p:spPr>
              <a:xfrm>
                <a:off x="10855019" y="1604366"/>
                <a:ext cx="725794" cy="4567208"/>
              </a:xfrm>
              <a:prstGeom prst="rect">
                <a:avLst/>
              </a:prstGeom>
              <a:grpFill/>
              <a:ln w="25400">
                <a:noFill/>
                <a:miter lim="800000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Aft>
                    <a:spcPts val="450"/>
                  </a:spcAft>
                </a:pPr>
                <a:endParaRPr lang="en-US" sz="90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24401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of Templat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46863-BC96-B418-1052-C44A7E35FC2E}"/>
              </a:ext>
            </a:extLst>
          </p:cNvPr>
          <p:cNvSpPr txBox="1"/>
          <p:nvPr userDrawn="1"/>
        </p:nvSpPr>
        <p:spPr>
          <a:xfrm>
            <a:off x="454913" y="541421"/>
            <a:ext cx="8159535" cy="366000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50" spc="225">
                <a:solidFill>
                  <a:schemeClr val="tx2"/>
                </a:solidFill>
              </a:rPr>
              <a:t>DO NOT USE </a:t>
            </a:r>
          </a:p>
          <a:p>
            <a:pPr algn="ctr">
              <a:lnSpc>
                <a:spcPct val="90000"/>
              </a:lnSpc>
            </a:pPr>
            <a:endParaRPr lang="en-US" sz="4050" spc="225">
              <a:solidFill>
                <a:schemeClr val="tx2"/>
              </a:solidFill>
            </a:endParaRPr>
          </a:p>
          <a:p>
            <a:pPr algn="ctr">
              <a:lnSpc>
                <a:spcPct val="90000"/>
              </a:lnSpc>
            </a:pPr>
            <a:r>
              <a:rPr lang="en-US" sz="4050" spc="225">
                <a:solidFill>
                  <a:schemeClr val="tx2"/>
                </a:solidFill>
              </a:rPr>
              <a:t>ALL LAYOUTS PAST THIS ARE NOT PART OF THIS TEMPLATE</a:t>
            </a:r>
          </a:p>
        </p:txBody>
      </p:sp>
    </p:spTree>
    <p:extLst>
      <p:ext uri="{BB962C8B-B14F-4D97-AF65-F5344CB8AC3E}">
        <p14:creationId xmlns:p14="http://schemas.microsoft.com/office/powerpoint/2010/main" val="3568865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Aqua">
  <p:cSld name="Quote – Aqua">
    <p:spTree>
      <p:nvGrpSpPr>
        <p:cNvPr id="1" name="Shape 3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1" name="Google Shape;3171;p197"/>
          <p:cNvPicPr preferRelativeResize="0"/>
          <p:nvPr/>
        </p:nvPicPr>
        <p:blipFill rotWithShape="1">
          <a:blip r:embed="rId2">
            <a:alphaModFix/>
          </a:blip>
          <a:srcRect l="3" r="2"/>
          <a:stretch/>
        </p:blipFill>
        <p:spPr>
          <a:xfrm>
            <a:off x="659" y="0"/>
            <a:ext cx="9140484" cy="5143871"/>
          </a:xfrm>
          <a:prstGeom prst="rect">
            <a:avLst/>
          </a:prstGeom>
          <a:noFill/>
          <a:ln>
            <a:noFill/>
          </a:ln>
        </p:spPr>
      </p:pic>
      <p:sp>
        <p:nvSpPr>
          <p:cNvPr id="3172" name="Google Shape;3172;p197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60994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086" lvl="0" indent="-361859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Char char="“"/>
              <a:defRPr sz="2099">
                <a:solidFill>
                  <a:schemeClr val="accent1"/>
                </a:solidFill>
              </a:defRPr>
            </a:lvl1pPr>
            <a:lvl2pPr marL="914171" lvl="1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257" lvl="2" indent="-298376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343" lvl="3" indent="-285679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5429" lvl="4" indent="-285679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2515" lvl="5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199600" lvl="6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3173" name="Google Shape;3173;p197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753" cy="205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086" lvl="0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rgbClr val="3C3C3C"/>
                </a:solidFill>
              </a:defRPr>
            </a:lvl1pPr>
            <a:lvl2pPr marL="914171" lvl="1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257" lvl="2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343" lvl="3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5429" lvl="4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2515" lvl="5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199600" lvl="6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3174" name="Google Shape;3174;p197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554" cy="1028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L"/>
          </a:p>
        </p:txBody>
      </p:sp>
      <p:sp>
        <p:nvSpPr>
          <p:cNvPr id="3175" name="Google Shape;3175;p197"/>
          <p:cNvSpPr txBox="1"/>
          <p:nvPr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6" name="Google Shape;3176;p197"/>
          <p:cNvSpPr txBox="1"/>
          <p:nvPr/>
        </p:nvSpPr>
        <p:spPr>
          <a:xfrm>
            <a:off x="1234134" y="4846125"/>
            <a:ext cx="2289685" cy="10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3177" name="Google Shape;3177;p197"/>
          <p:cNvSpPr txBox="1"/>
          <p:nvPr/>
        </p:nvSpPr>
        <p:spPr>
          <a:xfrm>
            <a:off x="1234134" y="4927077"/>
            <a:ext cx="2892170" cy="100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3178" name="Google Shape;3178;p197"/>
          <p:cNvGrpSpPr/>
          <p:nvPr/>
        </p:nvGrpSpPr>
        <p:grpSpPr>
          <a:xfrm>
            <a:off x="199272" y="4742454"/>
            <a:ext cx="937161" cy="277237"/>
            <a:chOff x="265625" y="6323271"/>
            <a:chExt cx="1249222" cy="369649"/>
          </a:xfrm>
        </p:grpSpPr>
        <p:grpSp>
          <p:nvGrpSpPr>
            <p:cNvPr id="3179" name="Google Shape;3179;p19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80" name="Google Shape;3180;p19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1" name="Google Shape;3181;p19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2" name="Google Shape;3182;p19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3" name="Google Shape;3183;p19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4" name="Google Shape;3184;p19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5" name="Google Shape;3185;p19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6" name="Google Shape;3186;p19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7" name="Google Shape;3187;p19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8" name="Google Shape;3188;p19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9" name="Google Shape;3189;p19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190" name="Google Shape;3190;p19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191" name="Google Shape;3191;p19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2" name="Google Shape;3192;p19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3" name="Google Shape;3193;p19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4" name="Google Shape;3194;p19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5" name="Google Shape;3195;p19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6" name="Google Shape;3196;p19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7" name="Google Shape;3197;p19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66630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9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79" name="Google Shape;1379;p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086" lvl="0" indent="-31742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 b="0" i="0">
                <a:latin typeface="Roboto"/>
                <a:ea typeface="Roboto"/>
                <a:cs typeface="Roboto"/>
                <a:sym typeface="Roboto"/>
              </a:defRPr>
            </a:lvl1pPr>
            <a:lvl2pPr marL="914171" lvl="1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257" lvl="2" indent="-298376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/>
            </a:lvl3pPr>
            <a:lvl4pPr marL="1828343" lvl="3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/>
            </a:lvl4pPr>
            <a:lvl5pPr marL="2285429" lvl="4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2515" lvl="5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/>
            </a:lvl6pPr>
            <a:lvl7pPr marL="3199600" lvl="6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/>
            </a:lvl7pPr>
            <a:lvl8pPr marL="3656686" lvl="7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/>
            </a:lvl8pPr>
            <a:lvl9pPr marL="4113771" lvl="8" indent="-285679" algn="l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/>
            </a:lvl9pPr>
          </a:lstStyle>
          <a:p>
            <a:endParaRPr/>
          </a:p>
        </p:txBody>
      </p:sp>
      <p:sp>
        <p:nvSpPr>
          <p:cNvPr id="1380" name="Google Shape;1380;p9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795309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NTENT | Blank no footer">
  <p:cSld name="1_CONTENT | Blank no footer"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3578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>
  <p:cSld name="1_Title and Subtitle">
    <p:spTree>
      <p:nvGrpSpPr>
        <p:cNvPr id="1" name="Shape 3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7" name="Google Shape;3447;p208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2902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48" name="Google Shape;3448;p208"/>
          <p:cNvSpPr txBox="1">
            <a:spLocks noGrp="1"/>
          </p:cNvSpPr>
          <p:nvPr>
            <p:ph type="subTitle" idx="1"/>
          </p:nvPr>
        </p:nvSpPr>
        <p:spPr>
          <a:xfrm>
            <a:off x="444766" y="608874"/>
            <a:ext cx="8224157" cy="185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rgbClr val="3C3C3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3449" name="Google Shape;3449;p208"/>
          <p:cNvSpPr txBox="1"/>
          <p:nvPr/>
        </p:nvSpPr>
        <p:spPr>
          <a:xfrm>
            <a:off x="8620451" y="4848606"/>
            <a:ext cx="328578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30595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Outcome, Benefit">
  <p:cSld name="1_Diagram with Outcome, Benefit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4"/>
          <p:cNvSpPr txBox="1">
            <a:spLocks noGrp="1"/>
          </p:cNvSpPr>
          <p:nvPr>
            <p:ph type="title"/>
          </p:nvPr>
        </p:nvSpPr>
        <p:spPr>
          <a:xfrm>
            <a:off x="434975" y="309563"/>
            <a:ext cx="8252899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5" name="Google Shape;725;p44"/>
          <p:cNvSpPr txBox="1">
            <a:spLocks noGrp="1"/>
          </p:cNvSpPr>
          <p:nvPr>
            <p:ph type="subTitle" idx="1"/>
          </p:nvPr>
        </p:nvSpPr>
        <p:spPr>
          <a:xfrm>
            <a:off x="444770" y="608873"/>
            <a:ext cx="8224092" cy="185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800"/>
              <a:buNone/>
              <a:defRPr sz="1500"/>
            </a:lvl2pPr>
            <a:lvl3pPr lvl="2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None/>
              <a:defRPr sz="1350"/>
            </a:lvl3pPr>
            <a:lvl4pPr lvl="3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440"/>
              <a:buNone/>
              <a:defRPr sz="1200"/>
            </a:lvl9pPr>
          </a:lstStyle>
          <a:p>
            <a:endParaRPr/>
          </a:p>
        </p:txBody>
      </p:sp>
      <p:sp>
        <p:nvSpPr>
          <p:cNvPr id="726" name="Google Shape;726;p44"/>
          <p:cNvSpPr txBox="1">
            <a:spLocks noGrp="1"/>
          </p:cNvSpPr>
          <p:nvPr>
            <p:ph type="body" idx="2"/>
          </p:nvPr>
        </p:nvSpPr>
        <p:spPr>
          <a:xfrm>
            <a:off x="446689" y="1200151"/>
            <a:ext cx="5559623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4350" tIns="457200" rIns="457200" bIns="457200" anchor="t" anchorCtr="0">
            <a:noAutofit/>
          </a:bodyPr>
          <a:lstStyle>
            <a:lvl1pPr marL="342900" lvl="0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​"/>
              <a:defRPr sz="1350">
                <a:solidFill>
                  <a:schemeClr val="lt1"/>
                </a:solidFill>
              </a:defRPr>
            </a:lvl1pPr>
            <a:lvl2pPr marL="685800" lvl="1" indent="-2400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440"/>
              <a:buChar char="•"/>
              <a:defRPr sz="1200">
                <a:solidFill>
                  <a:schemeClr val="lt1"/>
                </a:solidFill>
              </a:defRPr>
            </a:lvl2pPr>
            <a:lvl3pPr marL="1028700" lvl="2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60"/>
              <a:buChar char="–"/>
              <a:defRPr sz="1050">
                <a:solidFill>
                  <a:schemeClr val="lt1"/>
                </a:solidFill>
              </a:defRPr>
            </a:lvl3pPr>
            <a:lvl4pPr marL="1371600" lvl="3" indent="-222885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900">
                <a:solidFill>
                  <a:schemeClr val="lt1"/>
                </a:solidFill>
              </a:defRPr>
            </a:lvl4pPr>
            <a:lvl5pPr marL="1714500" lvl="4" indent="-22288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080"/>
              <a:buChar char="–"/>
              <a:defRPr sz="900">
                <a:solidFill>
                  <a:schemeClr val="lt1"/>
                </a:solidFill>
              </a:defRPr>
            </a:lvl5pPr>
            <a:lvl6pPr marL="2057400" lvl="5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620"/>
              <a:buChar char="•"/>
              <a:defRPr sz="1350">
                <a:solidFill>
                  <a:schemeClr val="lt1"/>
                </a:solidFill>
              </a:defRPr>
            </a:lvl6pPr>
            <a:lvl7pPr marL="2400300" lvl="6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60"/>
              <a:buChar char="-"/>
              <a:defRPr sz="1050">
                <a:solidFill>
                  <a:schemeClr val="lt1"/>
                </a:solidFill>
              </a:defRPr>
            </a:lvl7pPr>
            <a:lvl8pPr marL="2743200" lvl="7" indent="-22288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080"/>
              <a:buChar char="•"/>
              <a:defRPr sz="900">
                <a:solidFill>
                  <a:schemeClr val="lt1"/>
                </a:solidFill>
              </a:defRPr>
            </a:lvl8pPr>
            <a:lvl9pPr marL="3086100" lvl="8" indent="-248603" algn="l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lt1"/>
              </a:buClr>
              <a:buSzPts val="1620"/>
              <a:buChar char="-"/>
              <a:defRPr sz="135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727" name="Google Shape;727;p44"/>
          <p:cNvCxnSpPr/>
          <p:nvPr/>
        </p:nvCxnSpPr>
        <p:spPr>
          <a:xfrm>
            <a:off x="6287012" y="1206501"/>
            <a:ext cx="2857119" cy="0"/>
          </a:xfrm>
          <a:prstGeom prst="straightConnector1">
            <a:avLst/>
          </a:prstGeom>
          <a:noFill/>
          <a:ln w="25400" cap="flat" cmpd="sng">
            <a:solidFill>
              <a:schemeClr val="accent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28" name="Google Shape;728;p44"/>
          <p:cNvSpPr txBox="1">
            <a:spLocks noGrp="1"/>
          </p:cNvSpPr>
          <p:nvPr>
            <p:ph type="body" idx="3"/>
          </p:nvPr>
        </p:nvSpPr>
        <p:spPr>
          <a:xfrm>
            <a:off x="6287012" y="1274766"/>
            <a:ext cx="1505417" cy="2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342900" lvl="0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​"/>
              <a:defRPr sz="1350">
                <a:solidFill>
                  <a:schemeClr val="accent6"/>
                </a:solidFill>
              </a:defRPr>
            </a:lvl1pPr>
            <a:lvl2pPr marL="685800" lvl="1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2pPr>
            <a:lvl3pPr marL="1028700" lvl="2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–"/>
              <a:defRPr/>
            </a:lvl3pPr>
            <a:lvl4pPr marL="1371600" lvl="3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4pPr>
            <a:lvl5pPr marL="1714500" lvl="4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60"/>
              <a:buChar char="–"/>
              <a:defRPr/>
            </a:lvl5pPr>
            <a:lvl6pPr marL="2057400" lvl="5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6pPr>
            <a:lvl7pPr marL="2400300" lvl="6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-"/>
              <a:defRPr/>
            </a:lvl7pPr>
            <a:lvl8pPr marL="2743200" lvl="7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8pPr>
            <a:lvl9pPr marL="3086100" lvl="8" indent="-248603" algn="l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29" name="Google Shape;729;p44"/>
          <p:cNvSpPr txBox="1">
            <a:spLocks noGrp="1"/>
          </p:cNvSpPr>
          <p:nvPr>
            <p:ph type="body" idx="4"/>
          </p:nvPr>
        </p:nvSpPr>
        <p:spPr>
          <a:xfrm>
            <a:off x="6285820" y="1547286"/>
            <a:ext cx="2402051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342900" lvl="0" indent="-2400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Char char="​"/>
              <a:defRPr sz="1200">
                <a:solidFill>
                  <a:schemeClr val="lt1"/>
                </a:solidFill>
              </a:defRPr>
            </a:lvl1pPr>
            <a:lvl2pPr marL="685800" lvl="1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60"/>
              <a:buChar char="•"/>
              <a:defRPr sz="1050">
                <a:solidFill>
                  <a:schemeClr val="lt1"/>
                </a:solidFill>
              </a:defRPr>
            </a:lvl2pPr>
            <a:lvl3pPr marL="1028700" lvl="2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60"/>
              <a:buChar char="–"/>
              <a:defRPr sz="1050">
                <a:solidFill>
                  <a:schemeClr val="lt1"/>
                </a:solidFill>
              </a:defRPr>
            </a:lvl3pPr>
            <a:lvl4pPr marL="1371600" lvl="3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4pPr>
            <a:lvl5pPr marL="1714500" lvl="4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–"/>
              <a:defRPr/>
            </a:lvl5pPr>
            <a:lvl6pPr marL="2057400" lvl="5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6pPr>
            <a:lvl7pPr marL="2400300" lvl="6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-"/>
              <a:defRPr/>
            </a:lvl7pPr>
            <a:lvl8pPr marL="2743200" lvl="7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8pPr>
            <a:lvl9pPr marL="3086100" lvl="8" indent="-248603" algn="l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cxnSp>
        <p:nvCxnSpPr>
          <p:cNvPr id="730" name="Google Shape;730;p44"/>
          <p:cNvCxnSpPr/>
          <p:nvPr/>
        </p:nvCxnSpPr>
        <p:spPr>
          <a:xfrm>
            <a:off x="6287012" y="2904331"/>
            <a:ext cx="2857119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731" name="Google Shape;731;p44"/>
          <p:cNvSpPr txBox="1">
            <a:spLocks noGrp="1"/>
          </p:cNvSpPr>
          <p:nvPr>
            <p:ph type="body" idx="5"/>
          </p:nvPr>
        </p:nvSpPr>
        <p:spPr>
          <a:xfrm>
            <a:off x="6287012" y="2979352"/>
            <a:ext cx="1505417" cy="22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342900" lvl="0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​"/>
              <a:defRPr sz="1350">
                <a:solidFill>
                  <a:schemeClr val="accent5"/>
                </a:solidFill>
              </a:defRPr>
            </a:lvl1pPr>
            <a:lvl2pPr marL="685800" lvl="1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2pPr>
            <a:lvl3pPr marL="1028700" lvl="2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–"/>
              <a:defRPr/>
            </a:lvl3pPr>
            <a:lvl4pPr marL="1371600" lvl="3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4pPr>
            <a:lvl5pPr marL="1714500" lvl="4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60"/>
              <a:buChar char="–"/>
              <a:defRPr/>
            </a:lvl5pPr>
            <a:lvl6pPr marL="2057400" lvl="5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6pPr>
            <a:lvl7pPr marL="2400300" lvl="6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-"/>
              <a:defRPr/>
            </a:lvl7pPr>
            <a:lvl8pPr marL="2743200" lvl="7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8pPr>
            <a:lvl9pPr marL="3086100" lvl="8" indent="-248603" algn="l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32" name="Google Shape;732;p44"/>
          <p:cNvSpPr txBox="1">
            <a:spLocks noGrp="1"/>
          </p:cNvSpPr>
          <p:nvPr>
            <p:ph type="body" idx="6"/>
          </p:nvPr>
        </p:nvSpPr>
        <p:spPr>
          <a:xfrm>
            <a:off x="6285820" y="3260928"/>
            <a:ext cx="2402051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342900" lvl="0" indent="-2400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40"/>
              <a:buChar char="​"/>
              <a:defRPr sz="1200">
                <a:solidFill>
                  <a:schemeClr val="lt1"/>
                </a:solidFill>
              </a:defRPr>
            </a:lvl1pPr>
            <a:lvl2pPr marL="685800" lvl="1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60"/>
              <a:buChar char="•"/>
              <a:defRPr sz="1050">
                <a:solidFill>
                  <a:schemeClr val="lt1"/>
                </a:solidFill>
              </a:defRPr>
            </a:lvl2pPr>
            <a:lvl3pPr marL="1028700" lvl="2" indent="-231458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60"/>
              <a:buChar char="–"/>
              <a:defRPr sz="1050">
                <a:solidFill>
                  <a:schemeClr val="lt1"/>
                </a:solidFill>
              </a:defRPr>
            </a:lvl3pPr>
            <a:lvl4pPr marL="1371600" lvl="3" indent="-248602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4pPr>
            <a:lvl5pPr marL="1714500" lvl="4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–"/>
              <a:defRPr/>
            </a:lvl5pPr>
            <a:lvl6pPr marL="2057400" lvl="5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6pPr>
            <a:lvl7pPr marL="2400300" lvl="6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-"/>
              <a:defRPr/>
            </a:lvl7pPr>
            <a:lvl8pPr marL="2743200" lvl="7" indent="-248603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620"/>
              <a:buChar char="•"/>
              <a:defRPr/>
            </a:lvl8pPr>
            <a:lvl9pPr marL="3086100" lvl="8" indent="-248603" algn="l" rtl="0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620"/>
              <a:buChar char="-"/>
              <a:defRPr/>
            </a:lvl9pPr>
          </a:lstStyle>
          <a:p>
            <a:endParaRPr/>
          </a:p>
        </p:txBody>
      </p:sp>
      <p:sp>
        <p:nvSpPr>
          <p:cNvPr id="733" name="Google Shape;733;p44"/>
          <p:cNvSpPr txBox="1"/>
          <p:nvPr/>
        </p:nvSpPr>
        <p:spPr>
          <a:xfrm>
            <a:off x="8620539" y="4848606"/>
            <a:ext cx="328586" cy="13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6730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and Content">
  <p:cSld name="1_Title, Subtitle and Content">
    <p:spTree>
      <p:nvGrpSpPr>
        <p:cNvPr id="1" name="Shape 2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120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42" name="Google Shape;2042;p120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rgbClr val="3C3C3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043" name="Google Shape;2043;p120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086" lvl="0" indent="-317421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​"/>
              <a:defRPr>
                <a:solidFill>
                  <a:srgbClr val="3C3C3C"/>
                </a:solidFill>
              </a:defRPr>
            </a:lvl1pPr>
            <a:lvl2pPr marL="914171" lvl="1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>
                <a:solidFill>
                  <a:srgbClr val="3C3C3C"/>
                </a:solidFill>
              </a:defRPr>
            </a:lvl2pPr>
            <a:lvl3pPr marL="1371257" lvl="2" indent="-298376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rgbClr val="3C3C3C"/>
                </a:solidFill>
              </a:defRPr>
            </a:lvl3pPr>
            <a:lvl4pPr marL="1828343" lvl="3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rgbClr val="3C3C3C"/>
                </a:solidFill>
              </a:defRPr>
            </a:lvl4pPr>
            <a:lvl5pPr marL="2285429" lvl="4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rgbClr val="3C3C3C"/>
                </a:solidFill>
              </a:defRPr>
            </a:lvl5pPr>
            <a:lvl6pPr marL="2742515" lvl="5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/>
            </a:lvl6pPr>
            <a:lvl7pPr marL="3199600" lvl="6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2044" name="Google Shape;2044;p12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lang="en" sz="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t>‹#›</a:t>
            </a:fld>
            <a:endParaRPr sz="6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90230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spTree>
      <p:nvGrpSpPr>
        <p:cNvPr id="1" name="Shape 2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Google Shape;2760;p138"/>
          <p:cNvSpPr txBox="1">
            <a:spLocks noGrp="1"/>
          </p:cNvSpPr>
          <p:nvPr>
            <p:ph type="body" idx="1"/>
          </p:nvPr>
        </p:nvSpPr>
        <p:spPr>
          <a:xfrm>
            <a:off x="309753" y="1028701"/>
            <a:ext cx="8524575" cy="364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42797" lvl="0" indent="-285665" algn="l" rtl="0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400"/>
              <a:buChar char="​"/>
              <a:defRPr sz="1799"/>
            </a:lvl1pPr>
            <a:lvl2pPr marL="685595" lvl="1" indent="-26662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Char char="–"/>
              <a:defRPr/>
            </a:lvl2pPr>
            <a:lvl3pPr marL="1028392" lvl="2" indent="-261859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900"/>
              <a:buFont typeface="Arial"/>
              <a:buChar char="–"/>
              <a:defRPr sz="1424"/>
            </a:lvl3pPr>
            <a:lvl4pPr marL="1371188" lvl="3" indent="-247576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Font typeface="Arial"/>
              <a:buChar char="–"/>
              <a:defRPr/>
            </a:lvl4pPr>
            <a:lvl5pPr marL="1713986" lvl="4" indent="-242815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500"/>
              <a:buFont typeface="Arial"/>
              <a:buChar char="–"/>
              <a:defRPr sz="1125"/>
            </a:lvl5pPr>
            <a:lvl6pPr marL="2056783" lvl="5" indent="-261859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6pPr>
            <a:lvl7pPr marL="2399580" lvl="6" indent="-261859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Char char="-"/>
              <a:defRPr/>
            </a:lvl7pPr>
            <a:lvl8pPr marL="2742377" lvl="7" indent="-261859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8pPr>
            <a:lvl9pPr marL="3085175" lvl="8" indent="-261859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Char char="-"/>
              <a:defRPr/>
            </a:lvl9pPr>
          </a:lstStyle>
          <a:p>
            <a:endParaRPr/>
          </a:p>
        </p:txBody>
      </p:sp>
      <p:sp>
        <p:nvSpPr>
          <p:cNvPr id="2761" name="Google Shape;2761;p138"/>
          <p:cNvSpPr txBox="1">
            <a:spLocks noGrp="1"/>
          </p:cNvSpPr>
          <p:nvPr>
            <p:ph type="title"/>
          </p:nvPr>
        </p:nvSpPr>
        <p:spPr>
          <a:xfrm>
            <a:off x="309753" y="413483"/>
            <a:ext cx="8524575" cy="274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9473447"/>
      </p:ext>
    </p:extLst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1_Comparison">
    <p:spTree>
      <p:nvGrpSpPr>
        <p:cNvPr id="1" name="Shape 4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5" name="Google Shape;4715;p274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16" name="Google Shape;4716;p274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rgbClr val="3C3C3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4717" name="Google Shape;4717;p274"/>
          <p:cNvSpPr txBox="1">
            <a:spLocks noGrp="1"/>
          </p:cNvSpPr>
          <p:nvPr>
            <p:ph type="body" idx="2"/>
          </p:nvPr>
        </p:nvSpPr>
        <p:spPr>
          <a:xfrm>
            <a:off x="444765" y="1200152"/>
            <a:ext cx="3784200" cy="65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342950" bIns="68575" anchor="b" anchorCtr="0">
            <a:noAutofit/>
          </a:bodyPr>
          <a:lstStyle>
            <a:lvl1pPr marL="457086" lvl="0" indent="-317421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accent1"/>
                </a:solidFill>
              </a:defRPr>
            </a:lvl1pPr>
            <a:lvl2pPr marL="914171" lvl="1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257" lvl="2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343" lvl="3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5429" lvl="4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2515" lvl="5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199600" lvl="6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718" name="Google Shape;4718;p274"/>
          <p:cNvSpPr/>
          <p:nvPr/>
        </p:nvSpPr>
        <p:spPr>
          <a:xfrm>
            <a:off x="444765" y="1863132"/>
            <a:ext cx="3784200" cy="3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58" tIns="34266" rIns="68558" bIns="34266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9" name="Google Shape;4719;p274"/>
          <p:cNvSpPr txBox="1">
            <a:spLocks noGrp="1"/>
          </p:cNvSpPr>
          <p:nvPr>
            <p:ph type="body" idx="3"/>
          </p:nvPr>
        </p:nvSpPr>
        <p:spPr>
          <a:xfrm>
            <a:off x="434970" y="1965765"/>
            <a:ext cx="3804600" cy="26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086" lvl="0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rgbClr val="3C3C3C"/>
                </a:solidFill>
              </a:defRPr>
            </a:lvl1pPr>
            <a:lvl2pPr marL="914171" lvl="1" indent="-298376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rgbClr val="3C3C3C"/>
                </a:solidFill>
              </a:defRPr>
            </a:lvl2pPr>
            <a:lvl3pPr marL="1371257" lvl="2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rgbClr val="3C3C3C"/>
                </a:solidFill>
              </a:defRPr>
            </a:lvl3pPr>
            <a:lvl4pPr marL="1828343" lvl="3" indent="-2793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rgbClr val="3C3C3C"/>
                </a:solidFill>
              </a:defRPr>
            </a:lvl4pPr>
            <a:lvl5pPr marL="2285429" lvl="4" indent="-2793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rgbClr val="3C3C3C"/>
                </a:solidFill>
              </a:defRPr>
            </a:lvl5pPr>
            <a:lvl6pPr marL="2742515" lvl="5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199600" lvl="6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720" name="Google Shape;4720;p274"/>
          <p:cNvSpPr txBox="1">
            <a:spLocks noGrp="1"/>
          </p:cNvSpPr>
          <p:nvPr>
            <p:ph type="body" idx="4"/>
          </p:nvPr>
        </p:nvSpPr>
        <p:spPr>
          <a:xfrm>
            <a:off x="4918905" y="1200152"/>
            <a:ext cx="4030200" cy="65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342950" bIns="68575" anchor="b" anchorCtr="0">
            <a:noAutofit/>
          </a:bodyPr>
          <a:lstStyle>
            <a:lvl1pPr marL="457086" lvl="0" indent="-317421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1"/>
                </a:solidFill>
              </a:defRPr>
            </a:lvl1pPr>
            <a:lvl2pPr marL="914171" lvl="1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257" lvl="2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343" lvl="3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5429" lvl="4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2515" lvl="5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199600" lvl="6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721" name="Google Shape;4721;p274"/>
          <p:cNvSpPr/>
          <p:nvPr/>
        </p:nvSpPr>
        <p:spPr>
          <a:xfrm>
            <a:off x="4915266" y="1863132"/>
            <a:ext cx="3784200" cy="34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68558" tIns="34266" rIns="68558" bIns="34266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2" name="Google Shape;4722;p274"/>
          <p:cNvSpPr txBox="1">
            <a:spLocks noGrp="1"/>
          </p:cNvSpPr>
          <p:nvPr>
            <p:ph type="body" idx="5"/>
          </p:nvPr>
        </p:nvSpPr>
        <p:spPr>
          <a:xfrm>
            <a:off x="4918468" y="1965960"/>
            <a:ext cx="4030500" cy="26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086" lvl="0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rgbClr val="3C3C3C"/>
                </a:solidFill>
              </a:defRPr>
            </a:lvl1pPr>
            <a:lvl2pPr marL="914171" lvl="1" indent="-298376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rgbClr val="3C3C3C"/>
                </a:solidFill>
              </a:defRPr>
            </a:lvl2pPr>
            <a:lvl3pPr marL="1371257" lvl="2" indent="-285679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rgbClr val="3C3C3C"/>
                </a:solidFill>
              </a:defRPr>
            </a:lvl3pPr>
            <a:lvl4pPr marL="1828343" lvl="3" indent="-2793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rgbClr val="3C3C3C"/>
                </a:solidFill>
              </a:defRPr>
            </a:lvl4pPr>
            <a:lvl5pPr marL="2285429" lvl="4" indent="-27933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rgbClr val="3C3C3C"/>
                </a:solidFill>
              </a:defRPr>
            </a:lvl5pPr>
            <a:lvl6pPr marL="2742515" lvl="5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199600" lvl="6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6686" lvl="7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3771" lvl="8" indent="-304724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723" name="Google Shape;4723;p274"/>
          <p:cNvSpPr txBox="1"/>
          <p:nvPr/>
        </p:nvSpPr>
        <p:spPr>
          <a:xfrm>
            <a:off x="8620451" y="4848606"/>
            <a:ext cx="3285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pPr marL="0" marR="0" lvl="0" indent="0" algn="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0747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49103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Zero-to-Hero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17729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27.xml"/><Relationship Id="rId24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0.xml"/><Relationship Id="rId27" Type="http://schemas.openxmlformats.org/officeDocument/2006/relationships/slideLayout" Target="../slideLayouts/slideLayout31.xml"/><Relationship Id="rId28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33.xml"/><Relationship Id="rId30" Type="http://schemas.openxmlformats.org/officeDocument/2006/relationships/slideLayout" Target="../slideLayouts/slideLayout34.xml"/><Relationship Id="rId31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37.xml"/><Relationship Id="rId34" Type="http://schemas.openxmlformats.org/officeDocument/2006/relationships/slideLayout" Target="../slideLayouts/slideLayout38.xml"/><Relationship Id="rId35" Type="http://schemas.openxmlformats.org/officeDocument/2006/relationships/slideLayout" Target="../slideLayouts/slideLayout39.xml"/><Relationship Id="rId36" Type="http://schemas.openxmlformats.org/officeDocument/2006/relationships/theme" Target="../theme/theme2.xml"/><Relationship Id="rId3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ick to edit title"/>
          <p:cNvSpPr>
            <a:spLocks noGrp="1"/>
          </p:cNvSpPr>
          <p:nvPr>
            <p:ph type="title"/>
          </p:nvPr>
        </p:nvSpPr>
        <p:spPr>
          <a:xfrm>
            <a:off x="434970" y="309563"/>
            <a:ext cx="8252902" cy="28575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/>
          <a:p>
            <a:r>
              <a:rPr lang="en-US"/>
              <a:t>Click to edit Master default content style</a:t>
            </a:r>
          </a:p>
        </p:txBody>
      </p:sp>
      <p:sp>
        <p:nvSpPr>
          <p:cNvPr id="3" name="Click to edit content box"/>
          <p:cNvSpPr>
            <a:spLocks noGrp="1"/>
          </p:cNvSpPr>
          <p:nvPr>
            <p:ph type="body" idx="1"/>
          </p:nvPr>
        </p:nvSpPr>
        <p:spPr>
          <a:xfrm>
            <a:off x="457200" y="1200152"/>
            <a:ext cx="8229600" cy="34353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6C16E6-5A1F-46F7-8642-A7F025A5BD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548" y="5514023"/>
            <a:ext cx="308690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586C86-F823-4766-9B10-773EDC51C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8441" y="5514023"/>
            <a:ext cx="205674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D295A3-96FB-4E80-91AF-4225D266C57B}" type="slidenum">
              <a:rPr lang="en-US" smtClean="0"/>
              <a:t>‹#›</a:t>
            </a:fld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5138C-BA05-506A-37F6-E09D7B567181}"/>
              </a:ext>
            </a:extLst>
          </p:cNvPr>
          <p:cNvSpPr txBox="1"/>
          <p:nvPr/>
        </p:nvSpPr>
        <p:spPr>
          <a:xfrm>
            <a:off x="1582463" y="4796896"/>
            <a:ext cx="27539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525" spc="0" baseline="0" dirty="0">
                <a:ln/>
                <a:solidFill>
                  <a:srgbClr val="000000"/>
                </a:solidFill>
                <a:latin typeface="Metropolis-Regular"/>
                <a:sym typeface="Metropolis-Regular"/>
                <a:rtl val="0"/>
              </a:rPr>
              <a:t>Broadcom Proprietary and Confidential. Copyright © 2024 Broadcom. </a:t>
            </a:r>
          </a:p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25" spc="0" baseline="0" dirty="0">
                <a:ln/>
                <a:solidFill>
                  <a:srgbClr val="000000"/>
                </a:solidFill>
                <a:latin typeface="Metropolis-Regular"/>
                <a:sym typeface="Metropolis-Regular"/>
                <a:rtl val="0"/>
              </a:rPr>
              <a:t>All Rights Reserved. The term “Broadcom” refers to Broadcom Inc. and/or its subsidiaries.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44F6323-6F3D-CE97-EED0-CB4332C6677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41486" y="4809513"/>
            <a:ext cx="1035502" cy="136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880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  <p:sldLayoutId id="2147483674" r:id="rId21"/>
    <p:sldLayoutId id="2147483675" r:id="rId22"/>
    <p:sldLayoutId id="2147483676" r:id="rId23"/>
    <p:sldLayoutId id="2147483677" r:id="rId24"/>
    <p:sldLayoutId id="2147483678" r:id="rId25"/>
    <p:sldLayoutId id="2147483679" r:id="rId26"/>
    <p:sldLayoutId id="2147483680" r:id="rId27"/>
    <p:sldLayoutId id="2147483681" r:id="rId28"/>
    <p:sldLayoutId id="2147483682" r:id="rId29"/>
    <p:sldLayoutId id="2147483683" r:id="rId30"/>
    <p:sldLayoutId id="2147483684" r:id="rId31"/>
    <p:sldLayoutId id="2147483685" r:id="rId32"/>
    <p:sldLayoutId id="2147483686" r:id="rId33"/>
    <p:sldLayoutId id="2147483687" r:id="rId34"/>
    <p:sldLayoutId id="2147483688" r:id="rId3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tx1">
            <a:lumMod val="60000"/>
            <a:lumOff val="40000"/>
          </a:schemeClr>
        </a:buClr>
        <a:buSzPct val="90000"/>
        <a:buFont typeface="Arial" panose="020B0604020202020204" pitchFamily="34" charset="0"/>
        <a:buChar char="​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8113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58404" indent="-127397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Camphor Std" panose="020B0504030404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7472" indent="-125016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03585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Camphor Std" panose="020B0504030404020204" pitchFamily="34" charset="0"/>
        <a:buChar char="–"/>
        <a:tabLst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944166" indent="-83344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Arial" panose="020B0604020202020204" pitchFamily="34" charset="0"/>
        <a:buChar char="•"/>
        <a:tabLst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1034654" indent="-90488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System Font Regular"/>
        <a:buChar char="-"/>
        <a:tabLst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1163241" indent="-90488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Arial" panose="020B0604020202020204" pitchFamily="34" charset="0"/>
        <a:buChar char="•"/>
        <a:tabLst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291829" indent="-90488" algn="l" defTabSz="685800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>
          <a:schemeClr val="bg2">
            <a:lumMod val="25000"/>
          </a:schemeClr>
        </a:buClr>
        <a:buSzPct val="90000"/>
        <a:buFont typeface="System Font Regular"/>
        <a:buChar char="-"/>
        <a:tabLst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39">
          <p15:clr>
            <a:srgbClr val="F26B43"/>
          </p15:clr>
        </p15:guide>
        <p15:guide id="3" orient="horz" pos="1872">
          <p15:clr>
            <a:srgbClr val="F26B43"/>
          </p15:clr>
        </p15:guide>
        <p15:guide id="4" orient="horz" pos="1584">
          <p15:clr>
            <a:srgbClr val="F26B43"/>
          </p15:clr>
        </p15:guide>
        <p15:guide id="5" orient="horz" pos="1296">
          <p15:clr>
            <a:srgbClr val="F26B43"/>
          </p15:clr>
        </p15:guide>
        <p15:guide id="6" orient="horz" pos="1008">
          <p15:clr>
            <a:srgbClr val="F26B43"/>
          </p15:clr>
        </p15:guide>
        <p15:guide id="7" orient="horz" pos="720">
          <p15:clr>
            <a:srgbClr val="F26B43"/>
          </p15:clr>
        </p15:guide>
        <p15:guide id="8" orient="horz" pos="576">
          <p15:clr>
            <a:srgbClr val="F26B43"/>
          </p15:clr>
        </p15:guide>
        <p15:guide id="9" orient="horz" pos="288">
          <p15:clr>
            <a:srgbClr val="F26B43"/>
          </p15:clr>
        </p15:guide>
        <p15:guide id="10" orient="horz">
          <p15:clr>
            <a:srgbClr val="F26B43"/>
          </p15:clr>
        </p15:guide>
        <p15:guide id="11" orient="horz" pos="2448">
          <p15:clr>
            <a:srgbClr val="F26B43"/>
          </p15:clr>
        </p15:guide>
        <p15:guide id="12" orient="horz" pos="2736">
          <p15:clr>
            <a:srgbClr val="F26B43"/>
          </p15:clr>
        </p15:guide>
        <p15:guide id="13" orient="horz" pos="3024">
          <p15:clr>
            <a:srgbClr val="F26B43"/>
          </p15:clr>
        </p15:guide>
        <p15:guide id="14" orient="horz" pos="3312">
          <p15:clr>
            <a:srgbClr val="F26B43"/>
          </p15:clr>
        </p15:guide>
        <p15:guide id="15" orient="horz" pos="3600">
          <p15:clr>
            <a:srgbClr val="F26B43"/>
          </p15:clr>
        </p15:guide>
        <p15:guide id="16" orient="horz" pos="3888">
          <p15:clr>
            <a:srgbClr val="F26B43"/>
          </p15:clr>
        </p15:guide>
        <p15:guide id="17" orient="horz" pos="4032">
          <p15:clr>
            <a:srgbClr val="F26B43"/>
          </p15:clr>
        </p15:guide>
        <p15:guide id="18" pos="3551">
          <p15:clr>
            <a:srgbClr val="F26B43"/>
          </p15:clr>
        </p15:guide>
        <p15:guide id="19" pos="3263">
          <p15:clr>
            <a:srgbClr val="F26B43"/>
          </p15:clr>
        </p15:guide>
        <p15:guide id="20" pos="2975">
          <p15:clr>
            <a:srgbClr val="F26B43"/>
          </p15:clr>
        </p15:guide>
        <p15:guide id="21" pos="2687">
          <p15:clr>
            <a:srgbClr val="F26B43"/>
          </p15:clr>
        </p15:guide>
        <p15:guide id="22" pos="2399">
          <p15:clr>
            <a:srgbClr val="F26B43"/>
          </p15:clr>
        </p15:guide>
        <p15:guide id="23" pos="2111">
          <p15:clr>
            <a:srgbClr val="F26B43"/>
          </p15:clr>
        </p15:guide>
        <p15:guide id="24" pos="1823">
          <p15:clr>
            <a:srgbClr val="F26B43"/>
          </p15:clr>
        </p15:guide>
        <p15:guide id="25" pos="1535">
          <p15:clr>
            <a:srgbClr val="F26B43"/>
          </p15:clr>
        </p15:guide>
        <p15:guide id="26" pos="1247">
          <p15:clr>
            <a:srgbClr val="F26B43"/>
          </p15:clr>
        </p15:guide>
        <p15:guide id="27" pos="959">
          <p15:clr>
            <a:srgbClr val="F26B43"/>
          </p15:clr>
        </p15:guide>
        <p15:guide id="28" pos="671">
          <p15:clr>
            <a:srgbClr val="F26B43"/>
          </p15:clr>
        </p15:guide>
        <p15:guide id="29" pos="383">
          <p15:clr>
            <a:srgbClr val="F26B43"/>
          </p15:clr>
        </p15:guide>
        <p15:guide id="30" pos="4127">
          <p15:clr>
            <a:srgbClr val="F26B43"/>
          </p15:clr>
        </p15:guide>
        <p15:guide id="31" pos="4415">
          <p15:clr>
            <a:srgbClr val="F26B43"/>
          </p15:clr>
        </p15:guide>
        <p15:guide id="32" pos="4703">
          <p15:clr>
            <a:srgbClr val="F26B43"/>
          </p15:clr>
        </p15:guide>
        <p15:guide id="33" pos="4991">
          <p15:clr>
            <a:srgbClr val="F26B43"/>
          </p15:clr>
        </p15:guide>
        <p15:guide id="34" pos="5279">
          <p15:clr>
            <a:srgbClr val="F26B43"/>
          </p15:clr>
        </p15:guide>
        <p15:guide id="35" pos="5567">
          <p15:clr>
            <a:srgbClr val="F26B43"/>
          </p15:clr>
        </p15:guide>
        <p15:guide id="36" pos="5855">
          <p15:clr>
            <a:srgbClr val="F26B43"/>
          </p15:clr>
        </p15:guide>
        <p15:guide id="37" pos="6143">
          <p15:clr>
            <a:srgbClr val="F26B43"/>
          </p15:clr>
        </p15:guide>
        <p15:guide id="38" pos="6431">
          <p15:clr>
            <a:srgbClr val="F26B43"/>
          </p15:clr>
        </p15:guide>
        <p15:guide id="39" pos="6719">
          <p15:clr>
            <a:srgbClr val="F26B43"/>
          </p15:clr>
        </p15:guide>
        <p15:guide id="40" pos="7007">
          <p15:clr>
            <a:srgbClr val="F26B43"/>
          </p15:clr>
        </p15:guide>
        <p15:guide id="41" pos="7295">
          <p15:clr>
            <a:srgbClr val="F26B43"/>
          </p15:clr>
        </p15:guide>
        <p15:guide id="42" pos="7678">
          <p15:clr>
            <a:srgbClr val="F26B43"/>
          </p15:clr>
        </p15:guide>
        <p15:guide id="43" orient="horz" pos="4320">
          <p15:clr>
            <a:srgbClr val="F26B43"/>
          </p15:clr>
        </p15:guide>
        <p15:guide id="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Relationship Id="rId5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Relationship Id="rId14" Type="http://schemas.openxmlformats.org/officeDocument/2006/relationships/image" Target="../media/image30.png"/><Relationship Id="rId15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Relationship Id="rId17" Type="http://schemas.openxmlformats.org/officeDocument/2006/relationships/image" Target="../media/image46.png"/><Relationship Id="rId18" Type="http://schemas.openxmlformats.org/officeDocument/2006/relationships/image" Target="../media/image47.png"/><Relationship Id="rId19" Type="http://schemas.openxmlformats.org/officeDocument/2006/relationships/image" Target="../media/image48.png"/><Relationship Id="rId20" Type="http://schemas.openxmlformats.org/officeDocument/2006/relationships/image" Target="../media/image4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5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5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6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eaceful-beautiful-franklin/mnt/springiobarcelona26--spring-ai-zero-to-hero/ai-content/springi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"/>
            <a:ext cx="182880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19531"/>
            <a:ext cx="8229600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AI Zero to Hero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1457325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AI Fundamentals to Agentic Systems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4114800"/>
            <a:ext cx="2103120" cy="347472"/>
          </a:xfrm>
          <a:prstGeom prst="rect">
            <a:avLst/>
          </a:prstGeom>
          <a:solidFill>
            <a:srgbClr val="4A8C2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457200" y="4114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 4.0.5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834640" y="4114800"/>
            <a:ext cx="2103120" cy="347472"/>
          </a:xfrm>
          <a:prstGeom prst="rect">
            <a:avLst/>
          </a:prstGeom>
          <a:solidFill>
            <a:srgbClr val="4A8C2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5"/>
          <p:cNvSpPr/>
          <p:nvPr/>
        </p:nvSpPr>
        <p:spPr>
          <a:xfrm>
            <a:off x="2834640" y="4114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AI 2.0.0-M4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212080" y="4114800"/>
            <a:ext cx="2103120" cy="347472"/>
          </a:xfrm>
          <a:prstGeom prst="rect">
            <a:avLst/>
          </a:prstGeom>
          <a:solidFill>
            <a:srgbClr val="4A8C2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212080" y="41148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25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 •  April 13-15, 2026</a:t>
            </a:r>
            <a:endParaRPr lang="en-US" sz="1300" dirty="0"/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5742B02C-0676-03B1-F6C9-A79C4486B50D}"/>
              </a:ext>
            </a:extLst>
          </p:cNvPr>
          <p:cNvSpPr/>
          <p:nvPr/>
        </p:nvSpPr>
        <p:spPr>
          <a:xfrm>
            <a:off x="505327" y="2496553"/>
            <a:ext cx="8229600" cy="1618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base"/>
            <a:r>
              <a:rPr lang="en-US" dirty="0"/>
              <a:t>Neven Cvetkovic</a:t>
            </a:r>
            <a:endParaRPr lang="en-US" sz="2400" dirty="0"/>
          </a:p>
          <a:p>
            <a:pPr fontAlgn="base"/>
            <a:r>
              <a:rPr lang="en-US" dirty="0"/>
              <a:t>David Caron</a:t>
            </a:r>
            <a:br>
              <a:rPr lang="en-US" dirty="0"/>
            </a:br>
            <a:r>
              <a:rPr lang="en-US" dirty="0"/>
              <a:t>Andreas Lange</a:t>
            </a:r>
            <a:br>
              <a:rPr lang="en-US" dirty="0"/>
            </a:br>
            <a:r>
              <a:rPr lang="en-US" dirty="0"/>
              <a:t>Oded Shopen</a:t>
            </a:r>
          </a:p>
          <a:p>
            <a:br>
              <a:rPr lang="en-US" dirty="0"/>
            </a:br>
            <a:r>
              <a:rPr lang="en-US" sz="1200" dirty="0"/>
              <a:t>Additional content by Adib Saikali and Dan Vega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051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Revolution — A Brief History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10512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572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17647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Developers Enter the AI World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23744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457200" y="2523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4780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Spring AI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236976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5720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191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Chat, Prompts &amp; Structured Output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950208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57200" y="3950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39044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&amp; Multimodal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097280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4754880" y="1097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57800" y="1051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&amp; Vector Stores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1810512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75488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57800" y="176479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&amp; Chat Memory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2523744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754880" y="2523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57800" y="24780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Patterns &amp; MCP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3236976"/>
            <a:ext cx="365760" cy="36576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754880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IX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57800" y="319125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 – Basic Intro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Revolution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Turing to Transformers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Long Road to AI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667512" y="1280160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" y="1005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0058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 Test — Alan Turing asks "Can machines think?"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7512" y="1993392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914400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1956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17190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Dartmouth Conference — The term "Artificial Intelligence" is coined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2542032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67512" y="2706624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1440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1966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4323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ELIZA — First chatbot. Pattern matching, no understanding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" y="3255264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667512" y="3419856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914400" y="31455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1974-93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31455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Winters — Overpromise, underdeliver. Funding dries up. Twice.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3968496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28800" y="385876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Blue beats Kasparov — Brute force, not learning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Deep Learning Revolution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667512" y="1280160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" y="1005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0058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— Deep neural nets crush ImageNet. GPU training changes everything.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146304" cy="146304"/>
          </a:xfrm>
          <a:prstGeom prst="ellipse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7512" y="1993392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914400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0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17190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 — Words become vectors. "King - Man + Woman = Queen."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2542032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67512" y="2706624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1440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4323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"Attention Is All You Need" — The Transformer architecture.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" y="3255264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667512" y="3419856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914400" y="31455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31455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GPT-1 &amp; BERT — Pre-trained language models arrive.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3968496"/>
            <a:ext cx="146304" cy="146304"/>
          </a:xfrm>
          <a:prstGeom prst="ellipse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44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28800" y="385876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 — 175B parameters. Few-shot learning. "It can write code?!"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Generative AI Explosion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594360" y="1115568"/>
            <a:ext cx="146304" cy="146304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667512" y="1280160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" y="10058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 2022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0058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launches — 100M users in 2 months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1828800"/>
            <a:ext cx="146304" cy="146304"/>
          </a:xfrm>
          <a:prstGeom prst="ellipse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7512" y="1993392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914400" y="171907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17190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GPT-4, Claude, Gemini, Llama 2 — Multimodal, open-source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2542032"/>
            <a:ext cx="146304" cy="146304"/>
          </a:xfrm>
          <a:prstGeom prst="ellipse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67512" y="2706624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91440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44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43230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MCP — AI that uses tools, browses the web, writes code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" y="3255264"/>
            <a:ext cx="146304" cy="146304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667512" y="3419856"/>
            <a:ext cx="0" cy="548640"/>
          </a:xfrm>
          <a:prstGeom prst="line">
            <a:avLst/>
          </a:prstGeom>
          <a:noFill/>
          <a:ln w="190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914400" y="31455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28800" y="31455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1.0 — The Spring ecosystem embraces AI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3968496"/>
            <a:ext cx="146304" cy="146304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28800" y="385876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2.0 + Spring Boot 4 — That's us, today.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Approaches to AI — What Changed?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1" y="1254923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Rule-Based (1960s-90s)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444752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Hand-written rules, expert systems, decision trees. Brittle. Doesn't scale. Every edge case = new rule.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00584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1" name="Shape 8"/>
          <p:cNvSpPr/>
          <p:nvPr/>
        </p:nvSpPr>
        <p:spPr>
          <a:xfrm>
            <a:off x="3291840" y="1005840"/>
            <a:ext cx="54864" cy="182880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347472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1" y="1254923"/>
            <a:ext cx="215067" cy="2150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7764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ML (2000s-10s)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977640" y="1444752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patterns from data. SVM, random forests, gradient boosting. Good for structured data. Requires feature engineering.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26480" y="100584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3"/>
          <p:cNvSpPr/>
          <p:nvPr/>
        </p:nvSpPr>
        <p:spPr>
          <a:xfrm>
            <a:off x="6126480" y="1005840"/>
            <a:ext cx="54864" cy="18288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Shape 14"/>
          <p:cNvSpPr/>
          <p:nvPr/>
        </p:nvSpPr>
        <p:spPr>
          <a:xfrm>
            <a:off x="630936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3851" y="1254923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(2020s)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812280" y="1444752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the internet. Understands language. Generates text, code, images. Describe intent in natural language.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108960"/>
            <a:ext cx="8229600" cy="50292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3" name="Shape 18"/>
          <p:cNvSpPr/>
          <p:nvPr/>
        </p:nvSpPr>
        <p:spPr>
          <a:xfrm>
            <a:off x="457200" y="3108960"/>
            <a:ext cx="45720" cy="50292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4" name="Text 19"/>
          <p:cNvSpPr/>
          <p:nvPr/>
        </p:nvSpPr>
        <p:spPr>
          <a:xfrm>
            <a:off x="640080" y="3108960"/>
            <a:ext cx="7909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paradigm shift: from programming rules to describing intent. The model figures out the rest.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LLMs Actually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005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Transformer neural network trained on vast text corpora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38988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task: predict the next token given all previous tokens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739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7739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database — it generates text probabilistically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15798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15798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Stateless: every call is independent. Context must be provided each 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54864" cy="10972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640080" y="286207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1" y="2946563"/>
            <a:ext cx="215067" cy="215067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3000" y="28072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43000" y="31363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see tokens, not words. ~1 token ≈ 0.75 English words. "Spring Framework" → 2-3 tokens.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846320" y="2697480"/>
            <a:ext cx="384048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9" name="Shape 16"/>
          <p:cNvSpPr/>
          <p:nvPr/>
        </p:nvSpPr>
        <p:spPr>
          <a:xfrm>
            <a:off x="4846320" y="2697480"/>
            <a:ext cx="54864" cy="109728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0" name="Shape 17"/>
          <p:cNvSpPr/>
          <p:nvPr/>
        </p:nvSpPr>
        <p:spPr>
          <a:xfrm>
            <a:off x="5029200" y="286207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3691" y="2946563"/>
            <a:ext cx="215067" cy="215067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532120" y="280720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5532120" y="31363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tokens per request (input + output). GPT-4o: 128K. Claude: 200K. Qwen3: 32K.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Limitations — Know Before You Build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54864" cy="8686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facts or API names with total confidence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54864" cy="8686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Stale Data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 — can't answer about recent events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54864" cy="86868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Non-Determinism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prompt, different answer — flaky tests, review churn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105156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4663440" y="1051560"/>
            <a:ext cx="54864" cy="86868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84632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threads get truncated; model "forgets" earlier details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10312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663440" y="2103120"/>
            <a:ext cx="54864" cy="8686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84632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Leak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468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Proprietary/PII text could leave your trusted boundary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315468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4663440" y="3154680"/>
            <a:ext cx="54864" cy="8686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8463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&amp; Latency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4632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High-token chains drain budget and slow UX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solidFill>
            <a:srgbClr val="FEF5E7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457200" y="4251960"/>
            <a:ext cx="45720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aren't bugs — they're inherent to how LLMs work. The key is building systems that mitigate them.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Java Enters the AI World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Just Python Anymore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Python Assumption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been Python-first since the deep learning revolution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508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TensorFlow, PyTorch, scikit-learn, LangChain, HuggingFace — all Python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65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965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developers were told: "Learn Python or get left behind"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45720" cy="54864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7909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here's the thing: building AI-powered applications is fundamentally different from training AI models.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vs. Consuming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6576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1" y="1254923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1155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Models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444752"/>
            <a:ext cx="2788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clusters, CUDA, tensor math, loss functions, gradient descent.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Python territory.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probably won't do this.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51960" y="1645920"/>
            <a:ext cx="640080" cy="640080"/>
          </a:xfrm>
          <a:prstGeom prst="ellipse">
            <a:avLst/>
          </a:prstGeom>
          <a:solidFill>
            <a:srgbClr val="ECF0F1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8"/>
          <p:cNvSpPr/>
          <p:nvPr/>
        </p:nvSpPr>
        <p:spPr>
          <a:xfrm>
            <a:off x="4251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F8C8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0" y="1005840"/>
            <a:ext cx="36576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Shape 10"/>
          <p:cNvSpPr/>
          <p:nvPr/>
        </p:nvSpPr>
        <p:spPr>
          <a:xfrm>
            <a:off x="5029200" y="1005840"/>
            <a:ext cx="54864" cy="201168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Shape 11"/>
          <p:cNvSpPr/>
          <p:nvPr/>
        </p:nvSpPr>
        <p:spPr>
          <a:xfrm>
            <a:off x="521208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6571" y="1254923"/>
            <a:ext cx="215067" cy="215067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15000" y="1115568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AI Applications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715000" y="1444752"/>
            <a:ext cx="2788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APIs, dependency injection, transaction management, security, observability.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territory.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is about this.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9" name="Shape 15"/>
          <p:cNvSpPr/>
          <p:nvPr/>
        </p:nvSpPr>
        <p:spPr>
          <a:xfrm>
            <a:off x="457200" y="3291840"/>
            <a:ext cx="45720" cy="50292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0" name="Text 16"/>
          <p:cNvSpPr/>
          <p:nvPr/>
        </p:nvSpPr>
        <p:spPr>
          <a:xfrm>
            <a:off x="640080" y="3291840"/>
            <a:ext cx="7909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accessed via HTTP APIs. You need good application architecture — and that's where Java and Spring shine.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Java Developers Are Uniquely Positioned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173736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1" y="1254923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Backbone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444752"/>
            <a:ext cx="1691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ship inside existing enterprise apps — not as standalone notebooks. Your Spring services are where AI lands.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005840"/>
            <a:ext cx="25603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1" name="Shape 8"/>
          <p:cNvSpPr/>
          <p:nvPr/>
        </p:nvSpPr>
        <p:spPr>
          <a:xfrm>
            <a:off x="3291840" y="1005840"/>
            <a:ext cx="54864" cy="173736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347472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1" y="1254923"/>
            <a:ext cx="215067" cy="2150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7764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Readiness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977640" y="1444752"/>
            <a:ext cx="1691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safety, observability, security, transactions, testing. Python notebooks don't deploy themselves.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26480" y="1005840"/>
            <a:ext cx="2560320" cy="173736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3"/>
          <p:cNvSpPr/>
          <p:nvPr/>
        </p:nvSpPr>
        <p:spPr>
          <a:xfrm>
            <a:off x="6126480" y="1005840"/>
            <a:ext cx="54864" cy="17373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Shape 14"/>
          <p:cNvSpPr/>
          <p:nvPr/>
        </p:nvSpPr>
        <p:spPr>
          <a:xfrm>
            <a:off x="630936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3851" y="1254923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Ecosystem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812280" y="1444752"/>
            <a:ext cx="16916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DI, auto-configuration, portable abstractions, Micrometer, Actuator. All of this now works with AI.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Stack for Java Developers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solidFill>
            <a:srgbClr val="F4F6F8"/>
          </a:solidFill>
          <a:ln w="6350">
            <a:solidFill>
              <a:srgbClr val="DEE2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DON'T need to know          You DO need to know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~~~~~~~~~~~~~~~~~~~~~~          ~~~~~~~~~~~~~~~~~~~~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PyTorch / TensorFlow            Spring Boot / Spring AI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CUDA / GPU programming          REST APIs / HTTP clients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training / fine-tuning    Prompt engineering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data science stack       Embeddings &amp; vector stores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Jupyter notebooks               RAG patterns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Gradient descent math           Tool calling &amp; agents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45720" cy="4572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brings AI to your existing skills. No career pivot required.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Spring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Spring Way to Build AI Applications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Spring AI?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92608" cy="29260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74" y="1115934"/>
            <a:ext cx="163860" cy="1638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103327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Spring ecosystem project for AI-powered applications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508760"/>
            <a:ext cx="292608" cy="29260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74" y="1573134"/>
            <a:ext cx="163860" cy="1638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149047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abstractions: write once, run against any provider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1965960"/>
            <a:ext cx="292608" cy="29260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74" y="2030334"/>
            <a:ext cx="163860" cy="1638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194767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Auto-configuration: add a starter, set an API key, go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457200" y="2423160"/>
            <a:ext cx="292608" cy="29260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74" y="2487534"/>
            <a:ext cx="163860" cy="1638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68680" y="240487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POJO-centric: your business logic stays in plain Java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Shape 11"/>
          <p:cNvSpPr/>
          <p:nvPr/>
        </p:nvSpPr>
        <p:spPr>
          <a:xfrm>
            <a:off x="457200" y="3063240"/>
            <a:ext cx="45720" cy="50292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Text 12"/>
          <p:cNvSpPr/>
          <p:nvPr/>
        </p:nvSpPr>
        <p:spPr>
          <a:xfrm>
            <a:off x="640080" y="3063240"/>
            <a:ext cx="7909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"Spring Data for AI" — a uniform API across providers, just like Spring Data across databases.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8" name="Google Shape;3238;p153"/>
          <p:cNvSpPr/>
          <p:nvPr/>
        </p:nvSpPr>
        <p:spPr>
          <a:xfrm>
            <a:off x="402365" y="1863860"/>
            <a:ext cx="8464995" cy="751979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txBody>
          <a:bodyPr spcFirstLastPara="1" wrap="square" lIns="91382" tIns="91382" rIns="91382" bIns="91382" anchor="t" anchorCtr="0">
            <a:noAutofit/>
          </a:bodyPr>
          <a:lstStyle/>
          <a:p>
            <a:pPr algn="ctr" defTabSz="685800">
              <a:buClr>
                <a:srgbClr val="000000"/>
              </a:buClr>
              <a:buSzPts val="2100"/>
            </a:pPr>
            <a:r>
              <a:rPr lang="en-US" sz="157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Spring Data</a:t>
            </a:r>
            <a:endParaRPr sz="1574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39" name="Google Shape;3239;p1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5803" y="3438399"/>
            <a:ext cx="692866" cy="46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0" name="Google Shape;3240;p15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0865" y="3549434"/>
            <a:ext cx="363011" cy="363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1" name="Google Shape;3241;p15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5806" y="4103639"/>
            <a:ext cx="951055" cy="123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2" name="Google Shape;3242;p153"/>
          <p:cNvPicPr preferRelativeResize="0"/>
          <p:nvPr/>
        </p:nvPicPr>
        <p:blipFill rotWithShape="1">
          <a:blip r:embed="rId6">
            <a:alphaModFix/>
          </a:blip>
          <a:srcRect l="2061" t="18661" r="27585" b="28064"/>
          <a:stretch/>
        </p:blipFill>
        <p:spPr>
          <a:xfrm>
            <a:off x="3169535" y="4031933"/>
            <a:ext cx="951303" cy="2669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3" name="Google Shape;3243;p15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352609" y="3438412"/>
            <a:ext cx="584996" cy="584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4" name="Google Shape;3244;p153"/>
          <p:cNvPicPr preferRelativeResize="0"/>
          <p:nvPr/>
        </p:nvPicPr>
        <p:blipFill rotWithShape="1">
          <a:blip r:embed="rId8">
            <a:alphaModFix/>
          </a:blip>
          <a:srcRect l="6958" t="7187" r="7027" b="6739"/>
          <a:stretch/>
        </p:blipFill>
        <p:spPr>
          <a:xfrm>
            <a:off x="2736147" y="3549309"/>
            <a:ext cx="363011" cy="363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5" name="Google Shape;3245;p15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286957" y="4062625"/>
            <a:ext cx="753632" cy="205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6" name="Google Shape;3246;p15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848854" y="3574114"/>
            <a:ext cx="468181" cy="470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7" name="Google Shape;3247;p15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89093" y="4142860"/>
            <a:ext cx="1025228" cy="274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8" name="Google Shape;3248;p15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964080" y="3575002"/>
            <a:ext cx="698936" cy="4685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9" name="Google Shape;3249;p153"/>
          <p:cNvPicPr preferRelativeResize="0"/>
          <p:nvPr/>
        </p:nvPicPr>
        <p:blipFill rotWithShape="1">
          <a:blip r:embed="rId13">
            <a:alphaModFix/>
          </a:blip>
          <a:srcRect l="5741" t="10881" r="7925" b="9341"/>
          <a:stretch/>
        </p:blipFill>
        <p:spPr>
          <a:xfrm>
            <a:off x="5091415" y="3627751"/>
            <a:ext cx="805821" cy="363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0" name="Google Shape;3250;p15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091415" y="4196879"/>
            <a:ext cx="1133987" cy="2491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1" name="Google Shape;3251;p15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603011" y="3632662"/>
            <a:ext cx="698936" cy="353192"/>
          </a:xfrm>
          <a:prstGeom prst="rect">
            <a:avLst/>
          </a:prstGeom>
          <a:noFill/>
          <a:ln>
            <a:noFill/>
          </a:ln>
        </p:spPr>
      </p:pic>
      <p:sp>
        <p:nvSpPr>
          <p:cNvPr id="3252" name="Google Shape;3252;p153"/>
          <p:cNvSpPr/>
          <p:nvPr/>
        </p:nvSpPr>
        <p:spPr>
          <a:xfrm>
            <a:off x="402361" y="1558852"/>
            <a:ext cx="8464995" cy="353383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spcFirstLastPara="1" wrap="square" lIns="91382" tIns="91382" rIns="91382" bIns="91382" anchor="ctr" anchorCtr="0">
            <a:noAutofit/>
          </a:bodyPr>
          <a:lstStyle/>
          <a:p>
            <a:pPr algn="ctr" defTabSz="685800">
              <a:buClr>
                <a:srgbClr val="000000"/>
              </a:buClr>
              <a:buSzPts val="1900"/>
            </a:pPr>
            <a:r>
              <a:rPr lang="en-US" sz="142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Application components, controllers, services …</a:t>
            </a:r>
            <a:endParaRPr sz="1424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53" name="Google Shape;3253;p153"/>
          <p:cNvCxnSpPr/>
          <p:nvPr/>
        </p:nvCxnSpPr>
        <p:spPr>
          <a:xfrm>
            <a:off x="402381" y="3294624"/>
            <a:ext cx="1216708" cy="90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54" name="Google Shape;3254;p153"/>
          <p:cNvCxnSpPr/>
          <p:nvPr/>
        </p:nvCxnSpPr>
        <p:spPr>
          <a:xfrm>
            <a:off x="3299388" y="3294624"/>
            <a:ext cx="1216708" cy="90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55" name="Google Shape;3255;p153"/>
          <p:cNvSpPr/>
          <p:nvPr/>
        </p:nvSpPr>
        <p:spPr>
          <a:xfrm>
            <a:off x="1673951" y="3230691"/>
            <a:ext cx="1600458" cy="14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82" tIns="91382" rIns="91382" bIns="91382" anchor="ctr" anchorCtr="0">
            <a:noAutofit/>
          </a:bodyPr>
          <a:lstStyle/>
          <a:p>
            <a:pPr algn="ctr" defTabSz="685800">
              <a:buClr>
                <a:srgbClr val="000000"/>
              </a:buClr>
              <a:buSzPts val="1200"/>
            </a:pPr>
            <a:r>
              <a:rPr lang="en-US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Relational DBs</a:t>
            </a:r>
            <a:endParaRPr sz="900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56" name="Google Shape;3256;p153"/>
          <p:cNvCxnSpPr/>
          <p:nvPr/>
        </p:nvCxnSpPr>
        <p:spPr>
          <a:xfrm>
            <a:off x="4732796" y="3294624"/>
            <a:ext cx="1216933" cy="90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57" name="Google Shape;3257;p153"/>
          <p:cNvCxnSpPr/>
          <p:nvPr/>
        </p:nvCxnSpPr>
        <p:spPr>
          <a:xfrm>
            <a:off x="7629488" y="3294624"/>
            <a:ext cx="1216933" cy="90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58" name="Google Shape;3258;p153"/>
          <p:cNvSpPr/>
          <p:nvPr/>
        </p:nvSpPr>
        <p:spPr>
          <a:xfrm>
            <a:off x="6004228" y="3230691"/>
            <a:ext cx="1600458" cy="14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82" tIns="91382" rIns="91382" bIns="91382" anchor="ctr" anchorCtr="0">
            <a:noAutofit/>
          </a:bodyPr>
          <a:lstStyle/>
          <a:p>
            <a:pPr algn="ctr" defTabSz="685800">
              <a:buClr>
                <a:srgbClr val="000000"/>
              </a:buClr>
              <a:buSzPts val="1200"/>
            </a:pPr>
            <a:r>
              <a:rPr lang="en-US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Non-relational DBs</a:t>
            </a:r>
            <a:endParaRPr sz="900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9" name="Google Shape;3259;p153"/>
          <p:cNvSpPr txBox="1"/>
          <p:nvPr/>
        </p:nvSpPr>
        <p:spPr>
          <a:xfrm>
            <a:off x="3573" y="497336"/>
            <a:ext cx="9136895" cy="415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 defTabSz="685800">
              <a:buClr>
                <a:srgbClr val="000000"/>
              </a:buClr>
              <a:buSzPts val="3600"/>
            </a:pPr>
            <a:r>
              <a:rPr lang="en-US" sz="2699">
                <a:solidFill>
                  <a:srgbClr val="1D428A"/>
                </a:solidFill>
                <a:latin typeface="Arial"/>
                <a:ea typeface="Arial"/>
                <a:cs typeface="Arial"/>
                <a:sym typeface="Arial"/>
              </a:rPr>
              <a:t>Spring Is Already The World’s Trusted Data Abstraction</a:t>
            </a:r>
            <a:endParaRPr sz="3299">
              <a:solidFill>
                <a:srgbClr val="1A428A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2925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64" name="Google Shape;3264;p154"/>
          <p:cNvCxnSpPr/>
          <p:nvPr/>
        </p:nvCxnSpPr>
        <p:spPr>
          <a:xfrm>
            <a:off x="457106" y="3094394"/>
            <a:ext cx="2742486" cy="90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265" name="Google Shape;3265;p154"/>
          <p:cNvCxnSpPr/>
          <p:nvPr/>
        </p:nvCxnSpPr>
        <p:spPr>
          <a:xfrm>
            <a:off x="6193028" y="3094394"/>
            <a:ext cx="2742486" cy="900"/>
          </a:xfrm>
          <a:prstGeom prst="straightConnector1">
            <a:avLst/>
          </a:prstGeom>
          <a:noFill/>
          <a:ln w="9525" cap="flat" cmpd="sng">
            <a:solidFill>
              <a:srgbClr val="888888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66" name="Google Shape;3266;p154"/>
          <p:cNvSpPr/>
          <p:nvPr/>
        </p:nvSpPr>
        <p:spPr>
          <a:xfrm>
            <a:off x="3075062" y="3030462"/>
            <a:ext cx="3295167" cy="14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382" tIns="91382" rIns="91382" bIns="91382" anchor="ctr" anchorCtr="0">
            <a:noAutofit/>
          </a:bodyPr>
          <a:lstStyle/>
          <a:p>
            <a:pPr algn="ctr" defTabSz="685800">
              <a:buClr>
                <a:srgbClr val="000000"/>
              </a:buClr>
              <a:buSzPts val="1200"/>
            </a:pPr>
            <a:r>
              <a:rPr lang="en-US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Supported </a:t>
            </a:r>
            <a:r>
              <a:rPr lang="en-US" sz="900">
                <a:solidFill>
                  <a:srgbClr val="888888"/>
                </a:solidFill>
                <a:latin typeface="Metropolis"/>
              </a:rPr>
              <a:t>ecosystem</a:t>
            </a:r>
            <a:endParaRPr sz="900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7" name="Google Shape;3267;p154"/>
          <p:cNvSpPr/>
          <p:nvPr/>
        </p:nvSpPr>
        <p:spPr>
          <a:xfrm>
            <a:off x="465819" y="1110331"/>
            <a:ext cx="8469494" cy="1781761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txBody>
          <a:bodyPr spcFirstLastPara="1" wrap="square" lIns="91382" tIns="91382" rIns="91382" bIns="91382" anchor="t" anchorCtr="0">
            <a:noAutofit/>
          </a:bodyPr>
          <a:lstStyle/>
          <a:p>
            <a:pPr algn="ctr" defTabSz="685800">
              <a:buClr>
                <a:srgbClr val="000000"/>
              </a:buClr>
              <a:buSzPts val="2100"/>
            </a:pPr>
            <a:r>
              <a:rPr lang="en-US" sz="1574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Spring AI</a:t>
            </a:r>
            <a:endParaRPr sz="1574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8" name="Google Shape;3268;p154"/>
          <p:cNvSpPr/>
          <p:nvPr/>
        </p:nvSpPr>
        <p:spPr>
          <a:xfrm>
            <a:off x="567800" y="2179434"/>
            <a:ext cx="3085296" cy="61701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spcFirstLastPara="1" wrap="square" lIns="68551" tIns="0" rIns="68551" bIns="68551" anchor="t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ingestion</a:t>
            </a:r>
            <a:endParaRPr sz="11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9" name="Google Shape;3269;p154"/>
          <p:cNvSpPr/>
          <p:nvPr/>
        </p:nvSpPr>
        <p:spPr>
          <a:xfrm>
            <a:off x="733370" y="2418354"/>
            <a:ext cx="1371243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 b="1">
                <a:solidFill>
                  <a:srgbClr val="FFFFFF"/>
                </a:solidFill>
                <a:latin typeface="Metropolis"/>
              </a:rPr>
              <a:t>ETL</a:t>
            </a:r>
            <a:r>
              <a:rPr lang="en-US" sz="1125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pipeline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0" name="Google Shape;3270;p154"/>
          <p:cNvSpPr/>
          <p:nvPr/>
        </p:nvSpPr>
        <p:spPr>
          <a:xfrm>
            <a:off x="2171147" y="2418354"/>
            <a:ext cx="1371243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Embedding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1" name="Google Shape;3271;p154"/>
          <p:cNvSpPr/>
          <p:nvPr/>
        </p:nvSpPr>
        <p:spPr>
          <a:xfrm>
            <a:off x="567873" y="1806256"/>
            <a:ext cx="7817614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algn="ctr" defTabSz="685800">
              <a:buClr>
                <a:srgbClr val="000000"/>
              </a:buClr>
              <a:buSzPts val="2300"/>
            </a:pPr>
            <a:r>
              <a:rPr lang="en-US" sz="1125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Orchestration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2" name="Google Shape;3272;p154"/>
          <p:cNvSpPr/>
          <p:nvPr/>
        </p:nvSpPr>
        <p:spPr>
          <a:xfrm>
            <a:off x="3713796" y="2179427"/>
            <a:ext cx="3085296" cy="61701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spcFirstLastPara="1" wrap="square" lIns="68551" tIns="0" rIns="68551" bIns="68551" anchor="t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>
                <a:solidFill>
                  <a:srgbClr val="000000"/>
                </a:solidFill>
                <a:latin typeface="Metropolis"/>
              </a:rPr>
              <a:t>Model</a:t>
            </a:r>
            <a:r>
              <a:rPr lang="en-US" sz="1125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Access</a:t>
            </a:r>
            <a:endParaRPr sz="11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3" name="Google Shape;3273;p154"/>
          <p:cNvSpPr/>
          <p:nvPr/>
        </p:nvSpPr>
        <p:spPr>
          <a:xfrm>
            <a:off x="5292500" y="2418354"/>
            <a:ext cx="1371243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 b="1">
                <a:solidFill>
                  <a:srgbClr val="FFFFFF"/>
                </a:solidFill>
                <a:latin typeface="Metropolis"/>
              </a:rPr>
              <a:t>Prompting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4" name="Google Shape;3274;p154"/>
          <p:cNvSpPr/>
          <p:nvPr/>
        </p:nvSpPr>
        <p:spPr>
          <a:xfrm>
            <a:off x="3763880" y="2418354"/>
            <a:ext cx="1371243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 b="1">
                <a:solidFill>
                  <a:srgbClr val="FFFFFF"/>
                </a:solidFill>
                <a:latin typeface="Metropolis"/>
              </a:rPr>
              <a:t>Agent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5" name="Google Shape;3275;p154"/>
          <p:cNvSpPr/>
          <p:nvPr/>
        </p:nvSpPr>
        <p:spPr>
          <a:xfrm>
            <a:off x="566900" y="1495762"/>
            <a:ext cx="7817614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algn="ctr" defTabSz="685800">
              <a:buClr>
                <a:srgbClr val="000000"/>
              </a:buClr>
              <a:buSzPts val="1500"/>
            </a:pPr>
            <a:r>
              <a:rPr lang="en-US" sz="1125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APIs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6" name="Google Shape;3276;p154"/>
          <p:cNvSpPr txBox="1"/>
          <p:nvPr/>
        </p:nvSpPr>
        <p:spPr>
          <a:xfrm>
            <a:off x="326130" y="279714"/>
            <a:ext cx="8267497" cy="290849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2800" b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00"/>
            <a:r>
              <a:rPr lang="en-US" sz="2100" dirty="0">
                <a:solidFill>
                  <a:srgbClr val="005B84"/>
                </a:solidFill>
                <a:latin typeface="Metropolis Light"/>
                <a:sym typeface="Arial"/>
              </a:rPr>
              <a:t>Spring AI abstracts away the complexity of LLMs</a:t>
            </a:r>
            <a:endParaRPr sz="2100" dirty="0">
              <a:solidFill>
                <a:srgbClr val="005B84"/>
              </a:solidFill>
              <a:latin typeface="Metropolis Light"/>
              <a:sym typeface="Arial"/>
            </a:endParaRPr>
          </a:p>
        </p:txBody>
      </p:sp>
      <p:grpSp>
        <p:nvGrpSpPr>
          <p:cNvPr id="3277" name="Google Shape;3277;p154"/>
          <p:cNvGrpSpPr/>
          <p:nvPr/>
        </p:nvGrpSpPr>
        <p:grpSpPr>
          <a:xfrm>
            <a:off x="457090" y="3311902"/>
            <a:ext cx="2056865" cy="1234028"/>
            <a:chOff x="2497125" y="5084500"/>
            <a:chExt cx="2743200" cy="1645800"/>
          </a:xfrm>
        </p:grpSpPr>
        <p:sp>
          <p:nvSpPr>
            <p:cNvPr id="3278" name="Google Shape;3278;p154"/>
            <p:cNvSpPr/>
            <p:nvPr/>
          </p:nvSpPr>
          <p:spPr>
            <a:xfrm>
              <a:off x="2497125" y="5084500"/>
              <a:ext cx="2743200" cy="1645800"/>
            </a:xfrm>
            <a:prstGeom prst="roundRect">
              <a:avLst>
                <a:gd name="adj" fmla="val 7143"/>
              </a:avLst>
            </a:prstGeom>
            <a:noFill/>
            <a:ln w="9525" cap="flat" cmpd="sng">
              <a:solidFill>
                <a:srgbClr val="88888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51" tIns="68551" rIns="68551" bIns="68551" anchor="t" anchorCtr="0">
              <a:noAutofit/>
            </a:bodyPr>
            <a:lstStyle/>
            <a:p>
              <a:pPr defTabSz="685800"/>
              <a:r>
                <a:rPr lang="en-US" sz="900" b="1">
                  <a:solidFill>
                    <a:srgbClr val="000000"/>
                  </a:solidFill>
                  <a:latin typeface="Metropolis"/>
                </a:rPr>
                <a:t>Chat completion</a:t>
              </a:r>
              <a:endParaRPr sz="900" b="1">
                <a:solidFill>
                  <a:srgbClr val="000000"/>
                </a:solidFill>
                <a:latin typeface="Metropolis"/>
              </a:endParaRPr>
            </a:p>
          </p:txBody>
        </p:sp>
        <p:pic>
          <p:nvPicPr>
            <p:cNvPr id="3279" name="Google Shape;3279;p15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97375" y="5596948"/>
              <a:ext cx="819000" cy="2227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0" name="Google Shape;3280;p154"/>
            <p:cNvPicPr preferRelativeResize="0"/>
            <p:nvPr/>
          </p:nvPicPr>
          <p:blipFill rotWithShape="1">
            <a:blip r:embed="rId4">
              <a:alphaModFix/>
            </a:blip>
            <a:srcRect l="21735" t="25367" r="20839"/>
            <a:stretch/>
          </p:blipFill>
          <p:spPr>
            <a:xfrm>
              <a:off x="3913802" y="5488571"/>
              <a:ext cx="252282" cy="327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1" name="Google Shape;3281;p154"/>
            <p:cNvPicPr preferRelativeResize="0"/>
            <p:nvPr/>
          </p:nvPicPr>
          <p:blipFill rotWithShape="1">
            <a:blip r:embed="rId5">
              <a:alphaModFix/>
            </a:blip>
            <a:srcRect l="27639" t="14450" r="32903" b="14151"/>
            <a:stretch/>
          </p:blipFill>
          <p:spPr>
            <a:xfrm>
              <a:off x="4616739" y="5432786"/>
              <a:ext cx="439349" cy="43948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2" name="Google Shape;3282;p15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983925" y="5954225"/>
              <a:ext cx="1168880" cy="3107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3" name="Google Shape;3283;p154"/>
            <p:cNvPicPr preferRelativeResize="0"/>
            <p:nvPr/>
          </p:nvPicPr>
          <p:blipFill rotWithShape="1">
            <a:blip r:embed="rId7">
              <a:alphaModFix/>
            </a:blip>
            <a:srcRect t="23244" b="20770"/>
            <a:stretch/>
          </p:blipFill>
          <p:spPr>
            <a:xfrm>
              <a:off x="2711213" y="5890501"/>
              <a:ext cx="1182624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4" name="Google Shape;3284;p154"/>
            <p:cNvPicPr preferRelativeResize="0"/>
            <p:nvPr/>
          </p:nvPicPr>
          <p:blipFill rotWithShape="1">
            <a:blip r:embed="rId8">
              <a:alphaModFix/>
            </a:blip>
            <a:srcRect l="32694" t="41198" r="33192" b="39791"/>
            <a:stretch/>
          </p:blipFill>
          <p:spPr>
            <a:xfrm>
              <a:off x="2711225" y="6326988"/>
              <a:ext cx="991301" cy="31073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5" name="Google Shape;3285;p15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4098751" y="6346912"/>
              <a:ext cx="819001" cy="27090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86" name="Google Shape;3286;p154"/>
          <p:cNvGrpSpPr/>
          <p:nvPr/>
        </p:nvGrpSpPr>
        <p:grpSpPr>
          <a:xfrm>
            <a:off x="4722079" y="3311902"/>
            <a:ext cx="2056865" cy="1234028"/>
            <a:chOff x="3416775" y="4318875"/>
            <a:chExt cx="2743200" cy="1645800"/>
          </a:xfrm>
        </p:grpSpPr>
        <p:sp>
          <p:nvSpPr>
            <p:cNvPr id="3287" name="Google Shape;3287;p154"/>
            <p:cNvSpPr/>
            <p:nvPr/>
          </p:nvSpPr>
          <p:spPr>
            <a:xfrm>
              <a:off x="3416775" y="4318875"/>
              <a:ext cx="2743200" cy="1645800"/>
            </a:xfrm>
            <a:prstGeom prst="roundRect">
              <a:avLst>
                <a:gd name="adj" fmla="val 7143"/>
              </a:avLst>
            </a:prstGeom>
            <a:noFill/>
            <a:ln w="9525" cap="flat" cmpd="sng">
              <a:solidFill>
                <a:srgbClr val="88888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51" tIns="68551" rIns="68551" bIns="68551" anchor="t" anchorCtr="0">
              <a:noAutofit/>
            </a:bodyPr>
            <a:lstStyle/>
            <a:p>
              <a:pPr defTabSz="685800"/>
              <a:r>
                <a:rPr lang="en-US" sz="900" b="1">
                  <a:solidFill>
                    <a:srgbClr val="000000"/>
                  </a:solidFill>
                  <a:latin typeface="Metropolis"/>
                </a:rPr>
                <a:t>Embeddings</a:t>
              </a:r>
              <a:endParaRPr sz="900" b="1">
                <a:solidFill>
                  <a:srgbClr val="000000"/>
                </a:solidFill>
                <a:latin typeface="Metropolis"/>
              </a:endParaRPr>
            </a:p>
          </p:txBody>
        </p:sp>
        <p:pic>
          <p:nvPicPr>
            <p:cNvPr id="3288" name="Google Shape;3288;p15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607862" y="4812123"/>
              <a:ext cx="819000" cy="2227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89" name="Google Shape;3289;p154"/>
            <p:cNvPicPr preferRelativeResize="0"/>
            <p:nvPr/>
          </p:nvPicPr>
          <p:blipFill rotWithShape="1">
            <a:blip r:embed="rId4">
              <a:alphaModFix/>
            </a:blip>
            <a:srcRect l="21735" t="25367" r="20839"/>
            <a:stretch/>
          </p:blipFill>
          <p:spPr>
            <a:xfrm>
              <a:off x="5772140" y="5028809"/>
              <a:ext cx="252282" cy="327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0" name="Google Shape;3290;p154"/>
            <p:cNvPicPr preferRelativeResize="0"/>
            <p:nvPr/>
          </p:nvPicPr>
          <p:blipFill rotWithShape="1">
            <a:blip r:embed="rId5">
              <a:alphaModFix/>
            </a:blip>
            <a:srcRect l="27639" t="14450" r="32903" b="14151"/>
            <a:stretch/>
          </p:blipFill>
          <p:spPr>
            <a:xfrm>
              <a:off x="5678601" y="5461699"/>
              <a:ext cx="439349" cy="43948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1" name="Google Shape;3291;p154"/>
            <p:cNvPicPr preferRelativeResize="0"/>
            <p:nvPr/>
          </p:nvPicPr>
          <p:blipFill rotWithShape="1">
            <a:blip r:embed="rId7">
              <a:alphaModFix/>
            </a:blip>
            <a:srcRect t="23244" b="20770"/>
            <a:stretch/>
          </p:blipFill>
          <p:spPr>
            <a:xfrm>
              <a:off x="3569400" y="5097626"/>
              <a:ext cx="1182624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2" name="Google Shape;3292;p154"/>
            <p:cNvPicPr preferRelativeResize="0"/>
            <p:nvPr/>
          </p:nvPicPr>
          <p:blipFill rotWithShape="1">
            <a:blip r:embed="rId8">
              <a:alphaModFix/>
            </a:blip>
            <a:srcRect l="32694" t="41198" r="33192" b="39791"/>
            <a:stretch/>
          </p:blipFill>
          <p:spPr>
            <a:xfrm>
              <a:off x="3569412" y="5526075"/>
              <a:ext cx="991301" cy="31073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3" name="Google Shape;3293;p154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4770514" y="5545987"/>
              <a:ext cx="819001" cy="2709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4" name="Google Shape;3294;p15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06987" y="5107575"/>
              <a:ext cx="359864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5" name="Google Shape;3295;p154"/>
            <p:cNvPicPr preferRelativeResize="0"/>
            <p:nvPr/>
          </p:nvPicPr>
          <p:blipFill rotWithShape="1">
            <a:blip r:embed="rId11">
              <a:alphaModFix/>
            </a:blip>
            <a:srcRect l="14153" t="37182" r="13187" b="35455"/>
            <a:stretch/>
          </p:blipFill>
          <p:spPr>
            <a:xfrm>
              <a:off x="4565840" y="4763976"/>
              <a:ext cx="1376796" cy="270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96" name="Google Shape;3296;p154"/>
          <p:cNvGrpSpPr/>
          <p:nvPr/>
        </p:nvGrpSpPr>
        <p:grpSpPr>
          <a:xfrm>
            <a:off x="6868276" y="3311902"/>
            <a:ext cx="2056865" cy="1234028"/>
            <a:chOff x="6391225" y="4337575"/>
            <a:chExt cx="2743200" cy="1645800"/>
          </a:xfrm>
        </p:grpSpPr>
        <p:sp>
          <p:nvSpPr>
            <p:cNvPr id="3297" name="Google Shape;3297;p154"/>
            <p:cNvSpPr/>
            <p:nvPr/>
          </p:nvSpPr>
          <p:spPr>
            <a:xfrm>
              <a:off x="6391225" y="4337575"/>
              <a:ext cx="2743200" cy="1645800"/>
            </a:xfrm>
            <a:prstGeom prst="roundRect">
              <a:avLst>
                <a:gd name="adj" fmla="val 7143"/>
              </a:avLst>
            </a:prstGeom>
            <a:noFill/>
            <a:ln w="9525" cap="flat" cmpd="sng">
              <a:solidFill>
                <a:srgbClr val="88888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51" tIns="68551" rIns="68551" bIns="68551" anchor="t" anchorCtr="0">
              <a:noAutofit/>
            </a:bodyPr>
            <a:lstStyle/>
            <a:p>
              <a:pPr defTabSz="685800"/>
              <a:r>
                <a:rPr lang="en-US" sz="900" b="1">
                  <a:solidFill>
                    <a:srgbClr val="000000"/>
                  </a:solidFill>
                  <a:latin typeface="Metropolis"/>
                </a:rPr>
                <a:t>Vector databases</a:t>
              </a:r>
              <a:endParaRPr sz="900" b="1">
                <a:solidFill>
                  <a:srgbClr val="000000"/>
                </a:solidFill>
                <a:latin typeface="Metropolis"/>
              </a:endParaRPr>
            </a:p>
          </p:txBody>
        </p:sp>
        <p:pic>
          <p:nvPicPr>
            <p:cNvPr id="3298" name="Google Shape;3298;p154"/>
            <p:cNvPicPr preferRelativeResize="0"/>
            <p:nvPr/>
          </p:nvPicPr>
          <p:blipFill>
            <a:blip r:embed="rId12">
              <a:alphaModFix/>
            </a:blip>
            <a:stretch>
              <a:fillRect/>
            </a:stretch>
          </p:blipFill>
          <p:spPr>
            <a:xfrm>
              <a:off x="7490877" y="4800588"/>
              <a:ext cx="439350" cy="41461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99" name="Google Shape;3299;p154"/>
            <p:cNvPicPr preferRelativeResize="0"/>
            <p:nvPr/>
          </p:nvPicPr>
          <p:blipFill>
            <a:blip r:embed="rId13">
              <a:alphaModFix/>
            </a:blip>
            <a:stretch>
              <a:fillRect/>
            </a:stretch>
          </p:blipFill>
          <p:spPr>
            <a:xfrm>
              <a:off x="6555187" y="5269234"/>
              <a:ext cx="935676" cy="2557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0" name="Google Shape;3300;p154"/>
            <p:cNvPicPr preferRelativeResize="0"/>
            <p:nvPr/>
          </p:nvPicPr>
          <p:blipFill>
            <a:blip r:embed="rId14">
              <a:alphaModFix/>
            </a:blip>
            <a:stretch>
              <a:fillRect/>
            </a:stretch>
          </p:blipFill>
          <p:spPr>
            <a:xfrm>
              <a:off x="8507700" y="5426987"/>
              <a:ext cx="439350" cy="439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1" name="Google Shape;3301;p154"/>
            <p:cNvPicPr preferRelativeResize="0"/>
            <p:nvPr/>
          </p:nvPicPr>
          <p:blipFill rotWithShape="1">
            <a:blip r:embed="rId15">
              <a:alphaModFix/>
            </a:blip>
            <a:srcRect t="29002" b="27470"/>
            <a:stretch/>
          </p:blipFill>
          <p:spPr>
            <a:xfrm>
              <a:off x="7592600" y="5308487"/>
              <a:ext cx="935700" cy="23273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2" name="Google Shape;3302;p154"/>
            <p:cNvPicPr preferRelativeResize="0"/>
            <p:nvPr/>
          </p:nvPicPr>
          <p:blipFill>
            <a:blip r:embed="rId16">
              <a:alphaModFix/>
            </a:blip>
            <a:stretch>
              <a:fillRect/>
            </a:stretch>
          </p:blipFill>
          <p:spPr>
            <a:xfrm>
              <a:off x="6526832" y="4803313"/>
              <a:ext cx="818318" cy="4091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3" name="Google Shape;3303;p154"/>
            <p:cNvPicPr preferRelativeResize="0"/>
            <p:nvPr/>
          </p:nvPicPr>
          <p:blipFill>
            <a:blip r:embed="rId17">
              <a:alphaModFix/>
            </a:blip>
            <a:stretch>
              <a:fillRect/>
            </a:stretch>
          </p:blipFill>
          <p:spPr>
            <a:xfrm>
              <a:off x="6591301" y="5581726"/>
              <a:ext cx="689375" cy="2318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4" name="Google Shape;3304;p154"/>
            <p:cNvPicPr preferRelativeResize="0"/>
            <p:nvPr/>
          </p:nvPicPr>
          <p:blipFill rotWithShape="1">
            <a:blip r:embed="rId18">
              <a:alphaModFix/>
            </a:blip>
            <a:srcRect l="14324" t="28668" r="13800" b="29036"/>
            <a:stretch/>
          </p:blipFill>
          <p:spPr>
            <a:xfrm>
              <a:off x="7654938" y="5634500"/>
              <a:ext cx="617169" cy="231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5" name="Google Shape;3305;p154"/>
            <p:cNvPicPr preferRelativeResize="0"/>
            <p:nvPr/>
          </p:nvPicPr>
          <p:blipFill rotWithShape="1">
            <a:blip r:embed="rId19">
              <a:alphaModFix/>
            </a:blip>
            <a:srcRect l="11534" r="10945"/>
            <a:stretch/>
          </p:blipFill>
          <p:spPr>
            <a:xfrm>
              <a:off x="8547413" y="4886038"/>
              <a:ext cx="359876" cy="24372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306" name="Google Shape;3306;p154"/>
          <p:cNvGrpSpPr/>
          <p:nvPr/>
        </p:nvGrpSpPr>
        <p:grpSpPr>
          <a:xfrm>
            <a:off x="2623762" y="3311902"/>
            <a:ext cx="959825" cy="1234028"/>
            <a:chOff x="3420575" y="4434900"/>
            <a:chExt cx="1280100" cy="1645800"/>
          </a:xfrm>
        </p:grpSpPr>
        <p:sp>
          <p:nvSpPr>
            <p:cNvPr id="3307" name="Google Shape;3307;p154"/>
            <p:cNvSpPr/>
            <p:nvPr/>
          </p:nvSpPr>
          <p:spPr>
            <a:xfrm>
              <a:off x="3420575" y="4434900"/>
              <a:ext cx="1280100" cy="1645800"/>
            </a:xfrm>
            <a:prstGeom prst="roundRect">
              <a:avLst>
                <a:gd name="adj" fmla="val 7143"/>
              </a:avLst>
            </a:prstGeom>
            <a:noFill/>
            <a:ln w="9525" cap="flat" cmpd="sng">
              <a:solidFill>
                <a:srgbClr val="88888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51" tIns="68551" rIns="68551" bIns="68551" anchor="t" anchorCtr="0">
              <a:noAutofit/>
            </a:bodyPr>
            <a:lstStyle/>
            <a:p>
              <a:pPr defTabSz="685800"/>
              <a:r>
                <a:rPr lang="en-US" sz="900" b="1">
                  <a:solidFill>
                    <a:srgbClr val="000000"/>
                  </a:solidFill>
                  <a:latin typeface="Metropolis"/>
                </a:rPr>
                <a:t>Image generation</a:t>
              </a:r>
              <a:endParaRPr sz="900" b="1">
                <a:solidFill>
                  <a:srgbClr val="000000"/>
                </a:solidFill>
                <a:latin typeface="Metropolis"/>
              </a:endParaRPr>
            </a:p>
          </p:txBody>
        </p:sp>
        <p:pic>
          <p:nvPicPr>
            <p:cNvPr id="3308" name="Google Shape;3308;p15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651125" y="5127648"/>
              <a:ext cx="819000" cy="2227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09" name="Google Shape;3309;p154"/>
            <p:cNvPicPr preferRelativeResize="0"/>
            <p:nvPr/>
          </p:nvPicPr>
          <p:blipFill>
            <a:blip r:embed="rId20">
              <a:alphaModFix/>
            </a:blip>
            <a:stretch>
              <a:fillRect/>
            </a:stretch>
          </p:blipFill>
          <p:spPr>
            <a:xfrm>
              <a:off x="3651125" y="5404875"/>
              <a:ext cx="819000" cy="15929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310" name="Google Shape;3310;p154"/>
          <p:cNvGrpSpPr/>
          <p:nvPr/>
        </p:nvGrpSpPr>
        <p:grpSpPr>
          <a:xfrm>
            <a:off x="3672921" y="3311902"/>
            <a:ext cx="959825" cy="1234028"/>
            <a:chOff x="4854250" y="4434900"/>
            <a:chExt cx="1280100" cy="1645800"/>
          </a:xfrm>
        </p:grpSpPr>
        <p:sp>
          <p:nvSpPr>
            <p:cNvPr id="3311" name="Google Shape;3311;p154"/>
            <p:cNvSpPr/>
            <p:nvPr/>
          </p:nvSpPr>
          <p:spPr>
            <a:xfrm>
              <a:off x="4854250" y="4434900"/>
              <a:ext cx="1280100" cy="1645800"/>
            </a:xfrm>
            <a:prstGeom prst="roundRect">
              <a:avLst>
                <a:gd name="adj" fmla="val 7143"/>
              </a:avLst>
            </a:prstGeom>
            <a:noFill/>
            <a:ln w="9525" cap="flat" cmpd="sng">
              <a:solidFill>
                <a:srgbClr val="88888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51" tIns="68551" rIns="68551" bIns="68551" anchor="t" anchorCtr="0">
              <a:noAutofit/>
            </a:bodyPr>
            <a:lstStyle/>
            <a:p>
              <a:pPr defTabSz="685800"/>
              <a:r>
                <a:rPr lang="en-US" sz="900" b="1">
                  <a:solidFill>
                    <a:srgbClr val="000000"/>
                  </a:solidFill>
                  <a:latin typeface="Metropolis"/>
                </a:rPr>
                <a:t>Transcription</a:t>
              </a:r>
              <a:endParaRPr sz="900" b="1">
                <a:solidFill>
                  <a:srgbClr val="000000"/>
                </a:solidFill>
                <a:latin typeface="Metropolis"/>
              </a:endParaRPr>
            </a:p>
          </p:txBody>
        </p:sp>
        <p:pic>
          <p:nvPicPr>
            <p:cNvPr id="3312" name="Google Shape;3312;p15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084800" y="5127648"/>
              <a:ext cx="819000" cy="2227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13" name="Google Shape;3313;p154"/>
          <p:cNvSpPr/>
          <p:nvPr/>
        </p:nvSpPr>
        <p:spPr>
          <a:xfrm rot="-5400000">
            <a:off x="7954126" y="2011533"/>
            <a:ext cx="1292513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defTabSz="685800"/>
            <a:r>
              <a:rPr lang="en-US" sz="1125" b="1">
                <a:solidFill>
                  <a:srgbClr val="FFFFFF"/>
                </a:solidFill>
                <a:latin typeface="Metropolis"/>
              </a:rPr>
              <a:t>Evaluation</a:t>
            </a:r>
            <a:endParaRPr sz="1125" b="1">
              <a:solidFill>
                <a:srgbClr val="FFFFFF"/>
              </a:solidFill>
              <a:latin typeface="Metropolis"/>
            </a:endParaRPr>
          </a:p>
        </p:txBody>
      </p:sp>
      <p:sp>
        <p:nvSpPr>
          <p:cNvPr id="3314" name="Google Shape;3314;p154"/>
          <p:cNvSpPr/>
          <p:nvPr/>
        </p:nvSpPr>
        <p:spPr>
          <a:xfrm>
            <a:off x="6876956" y="2179424"/>
            <a:ext cx="1508457" cy="61701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spcFirstLastPara="1" wrap="square" lIns="68551" tIns="0" rIns="68551" bIns="68551" anchor="t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>
                <a:solidFill>
                  <a:srgbClr val="000000"/>
                </a:solidFill>
                <a:latin typeface="Metropolis"/>
              </a:rPr>
              <a:t>Task execution</a:t>
            </a:r>
            <a:endParaRPr sz="1125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5" name="Google Shape;3315;p154"/>
          <p:cNvSpPr/>
          <p:nvPr/>
        </p:nvSpPr>
        <p:spPr>
          <a:xfrm>
            <a:off x="6937046" y="2418354"/>
            <a:ext cx="1371243" cy="274204"/>
          </a:xfrm>
          <a:prstGeom prst="rect">
            <a:avLst/>
          </a:prstGeom>
          <a:solidFill>
            <a:srgbClr val="45818E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51" tIns="68551" rIns="68551" bIns="68551" anchor="ctr" anchorCtr="0">
            <a:noAutofit/>
          </a:bodyPr>
          <a:lstStyle/>
          <a:p>
            <a:pPr defTabSz="685800">
              <a:buClr>
                <a:srgbClr val="000000"/>
              </a:buClr>
              <a:buSzPts val="1500"/>
            </a:pPr>
            <a:r>
              <a:rPr lang="en-US" sz="1125" b="1">
                <a:solidFill>
                  <a:srgbClr val="FFFFFF"/>
                </a:solidFill>
                <a:latin typeface="Metropolis"/>
              </a:rPr>
              <a:t>Functions</a:t>
            </a:r>
            <a:endParaRPr sz="1125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5192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AI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code against abstractions — Spring AI maps them to any provider at runtime.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@RestController  +  ChatClient.prompt().user(…).call().content()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calls portable API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1051560"/>
          </a:xfrm>
          <a:prstGeom prst="rect">
            <a:avLst/>
          </a:prstGeom>
          <a:solidFill>
            <a:srgbClr val="F0F8EC"/>
          </a:solidFill>
          <a:ln w="19050">
            <a:solidFill>
              <a:srgbClr val="6DB33F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8C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697480"/>
            <a:ext cx="1828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51760" y="2697480"/>
            <a:ext cx="1828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2651760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EmbeddingModel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63440" y="2697480"/>
            <a:ext cx="1828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4663440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675120" y="2697480"/>
            <a:ext cx="1828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675120" y="26974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Advisor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8600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auto-configured by starter dependency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solidFill>
            <a:srgbClr val="FEF9E7"/>
          </a:solidFill>
          <a:ln w="19050">
            <a:solidFill>
              <a:srgbClr val="D4A843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PROVIDERS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0233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(local)  •  OpenAI  •  Anthropic  •  Azure  •  Google Gemini  •  AWS Bedrock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57200" y="4526280"/>
            <a:ext cx="45720" cy="41148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640080" y="45262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providers by changing a Maven dependency + one YAML property. Zero code changes.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Abstractions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94560" y="1005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0" y="1005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194560" y="1371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ChatModel / ChatClient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generation &amp; conversation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5564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548640" y="1755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94560" y="1755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1755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semantic vectors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139696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21396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21396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&amp; search embeddings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52374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48640" y="25237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194560" y="252374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Advisor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2523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Intercept/enrich prompts (RAG, memory)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907792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48640" y="29077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194560" y="29077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37760" y="2907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models call your Java methods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48640" y="32918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194560" y="3291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Context Protocol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37760" y="3291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tool/resource sharing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675888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48640" y="36758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194560" y="36758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StreamingChatModel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37760" y="367588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reactive output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4059936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548640" y="40599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194560" y="405993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Micrometer + 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37760" y="4059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traces, logs for AI calls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Provider Portability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different provider — swap a Maven dependency and a YAML property.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1344168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 dirty="0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7955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This code runs against ANY provider - zero changes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joke about Spring"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54864" cy="384048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594360" y="27432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74520" y="27432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free — no API key needed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54864" cy="384048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7452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o3 — broadest ecosystem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54864" cy="384048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594360" y="3657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7452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— strong reasoning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743200"/>
            <a:ext cx="54864" cy="384048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800600" y="27432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OpenAI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80760" y="27432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compliance &amp; VPC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200400"/>
            <a:ext cx="54864" cy="38404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4800600" y="32004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Multimodal, 1M token context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3657600"/>
            <a:ext cx="54864" cy="38404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AWS Bedrock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807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 multi-model gateway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8632841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Choose 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54864" cy="36576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Task Fit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68880" y="9601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vs. embedding vs. multimodal — pick the right 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54864" cy="36576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468880" y="1417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coherence, instruction-following for your domain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54864" cy="36576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4008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Latency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874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chat needs &lt; 500 ms TTFT; batch is fine with seconds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54864" cy="3657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68880" y="23317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pricing × daily volume — compare cloud vs. local (Ollama = free)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54864" cy="36576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68880" y="27889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 → 128 K+ ; RAG doc size &amp; conversation length drive the need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54864" cy="36576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" y="3246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&amp; Compliance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468880" y="32461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(Ollama), VPC (Bedrock), or cloud API — data residency rules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54864" cy="365760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4008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468880" y="37033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starter available? SDK maturity? Community support?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54864" cy="36576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40080" y="4160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Licensing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160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(Llama, Qwen) vs. proprietary (GPT, Claude) — know the terms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457200" y="4617720"/>
            <a:ext cx="45720" cy="41148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461772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AI's portable abstractions let you switch models without changing code — experiment freely.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C33A4-3770-3C72-67FA-E621CB57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BC2CFFD-87E0-FC10-0204-BA7C63B440D3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Remember This? LLM Limitations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B2FDAC4-8F6A-5E76-5848-17E8BDE4BABA}"/>
              </a:ext>
            </a:extLst>
          </p:cNvPr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8C403E7-98EA-53AC-ABFD-E7DC6E5C3D13}"/>
              </a:ext>
            </a:extLst>
          </p:cNvPr>
          <p:cNvSpPr/>
          <p:nvPr/>
        </p:nvSpPr>
        <p:spPr>
          <a:xfrm>
            <a:off x="457200" y="105156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4831D54-8943-8F25-0344-9546AE865E09}"/>
              </a:ext>
            </a:extLst>
          </p:cNvPr>
          <p:cNvSpPr/>
          <p:nvPr/>
        </p:nvSpPr>
        <p:spPr>
          <a:xfrm>
            <a:off x="457200" y="1051560"/>
            <a:ext cx="54864" cy="8686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9953DE0-9906-18C8-F131-98EFE4E1967E}"/>
              </a:ext>
            </a:extLst>
          </p:cNvPr>
          <p:cNvSpPr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</a:t>
            </a:r>
            <a:endParaRPr lang="en-US" sz="13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46B7E0D-16B3-A7B1-1FF9-06F7E81DD789}"/>
              </a:ext>
            </a:extLst>
          </p:cNvPr>
          <p:cNvSpPr/>
          <p:nvPr/>
        </p:nvSpPr>
        <p:spPr>
          <a:xfrm>
            <a:off x="64008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Invents facts or API names with total confidence</a:t>
            </a:r>
            <a:endParaRPr lang="en-US" sz="105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14A015F-2623-2EB5-3BF4-B8233876217D}"/>
              </a:ext>
            </a:extLst>
          </p:cNvPr>
          <p:cNvSpPr/>
          <p:nvPr/>
        </p:nvSpPr>
        <p:spPr>
          <a:xfrm>
            <a:off x="457200" y="210312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BA6AFE0-3460-FE15-295B-34EA1A245968}"/>
              </a:ext>
            </a:extLst>
          </p:cNvPr>
          <p:cNvSpPr/>
          <p:nvPr/>
        </p:nvSpPr>
        <p:spPr>
          <a:xfrm>
            <a:off x="457200" y="2103120"/>
            <a:ext cx="54864" cy="86868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13272CC-DA1E-3AC5-03A6-EBBEFBB575D6}"/>
              </a:ext>
            </a:extLst>
          </p:cNvPr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Stale Data</a:t>
            </a:r>
            <a:endParaRPr lang="en-US" sz="13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D12FAED-6017-F035-9EDA-18DA4023A5B4}"/>
              </a:ext>
            </a:extLst>
          </p:cNvPr>
          <p:cNvSpPr/>
          <p:nvPr/>
        </p:nvSpPr>
        <p:spPr>
          <a:xfrm>
            <a:off x="640080" y="2468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cutoff — can't answer about recent events</a:t>
            </a:r>
            <a:endParaRPr lang="en-US" sz="10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4EDC5727-C421-A151-E437-7D391C6382DD}"/>
              </a:ext>
            </a:extLst>
          </p:cNvPr>
          <p:cNvSpPr/>
          <p:nvPr/>
        </p:nvSpPr>
        <p:spPr>
          <a:xfrm>
            <a:off x="457200" y="315468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2EBF9F6-92BF-13B9-2B90-9DDB1BA154B3}"/>
              </a:ext>
            </a:extLst>
          </p:cNvPr>
          <p:cNvSpPr/>
          <p:nvPr/>
        </p:nvSpPr>
        <p:spPr>
          <a:xfrm>
            <a:off x="457200" y="3154680"/>
            <a:ext cx="54864" cy="86868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AFECE64-548E-5825-FBE2-B6C82B237079}"/>
              </a:ext>
            </a:extLst>
          </p:cNvPr>
          <p:cNvSpPr/>
          <p:nvPr/>
        </p:nvSpPr>
        <p:spPr>
          <a:xfrm>
            <a:off x="64008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Non-Determinism</a:t>
            </a:r>
            <a:endParaRPr lang="en-US" sz="13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4C72A2A-BDD9-AE2E-D0DC-493ADA67813A}"/>
              </a:ext>
            </a:extLst>
          </p:cNvPr>
          <p:cNvSpPr/>
          <p:nvPr/>
        </p:nvSpPr>
        <p:spPr>
          <a:xfrm>
            <a:off x="64008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prompt, different answer — flaky tests, review churn</a:t>
            </a:r>
            <a:endParaRPr lang="en-US" sz="10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176A9F3-D799-82D2-B197-F830ED881D28}"/>
              </a:ext>
            </a:extLst>
          </p:cNvPr>
          <p:cNvSpPr/>
          <p:nvPr/>
        </p:nvSpPr>
        <p:spPr>
          <a:xfrm>
            <a:off x="4663440" y="105156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DD6B76F-B31B-F580-3A0F-ABD4D314C1B1}"/>
              </a:ext>
            </a:extLst>
          </p:cNvPr>
          <p:cNvSpPr/>
          <p:nvPr/>
        </p:nvSpPr>
        <p:spPr>
          <a:xfrm>
            <a:off x="4663440" y="1051560"/>
            <a:ext cx="54864" cy="86868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CC3864A8-AA61-1EDE-20D5-EE1EE04F4350}"/>
              </a:ext>
            </a:extLst>
          </p:cNvPr>
          <p:cNvSpPr/>
          <p:nvPr/>
        </p:nvSpPr>
        <p:spPr>
          <a:xfrm>
            <a:off x="484632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Window</a:t>
            </a:r>
            <a:endParaRPr lang="en-US" sz="13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A3B8046-B188-209E-7F26-4A03BC1219CA}"/>
              </a:ext>
            </a:extLst>
          </p:cNvPr>
          <p:cNvSpPr/>
          <p:nvPr/>
        </p:nvSpPr>
        <p:spPr>
          <a:xfrm>
            <a:off x="4846320" y="1417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threads get truncated; model "forgets" earlier details</a:t>
            </a:r>
            <a:endParaRPr lang="en-US" sz="10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4373EEE-E152-0326-1BF5-5D09F6FCB34A}"/>
              </a:ext>
            </a:extLst>
          </p:cNvPr>
          <p:cNvSpPr/>
          <p:nvPr/>
        </p:nvSpPr>
        <p:spPr>
          <a:xfrm>
            <a:off x="4663440" y="210312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B095EBF5-AC36-5169-9AA1-7FC907D14BE2}"/>
              </a:ext>
            </a:extLst>
          </p:cNvPr>
          <p:cNvSpPr/>
          <p:nvPr/>
        </p:nvSpPr>
        <p:spPr>
          <a:xfrm>
            <a:off x="4663440" y="2103120"/>
            <a:ext cx="54864" cy="8686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45ACEBB-E81F-639B-D649-397A8BA40F1C}"/>
              </a:ext>
            </a:extLst>
          </p:cNvPr>
          <p:cNvSpPr/>
          <p:nvPr/>
        </p:nvSpPr>
        <p:spPr>
          <a:xfrm>
            <a:off x="484632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Leak</a:t>
            </a:r>
            <a:endParaRPr lang="en-US" sz="13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B412EAB2-62E3-C7BB-BD21-C6FF8D7FB43B}"/>
              </a:ext>
            </a:extLst>
          </p:cNvPr>
          <p:cNvSpPr/>
          <p:nvPr/>
        </p:nvSpPr>
        <p:spPr>
          <a:xfrm>
            <a:off x="4846320" y="2468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Proprietary/PII text could leave your trusted boundary</a:t>
            </a:r>
            <a:endParaRPr lang="en-US" sz="105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D7F0446-BEDB-66C2-BFA5-75E54823436E}"/>
              </a:ext>
            </a:extLst>
          </p:cNvPr>
          <p:cNvSpPr/>
          <p:nvPr/>
        </p:nvSpPr>
        <p:spPr>
          <a:xfrm>
            <a:off x="4663440" y="315468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E6B427F-D983-4768-C209-62552CC19B12}"/>
              </a:ext>
            </a:extLst>
          </p:cNvPr>
          <p:cNvSpPr/>
          <p:nvPr/>
        </p:nvSpPr>
        <p:spPr>
          <a:xfrm>
            <a:off x="4663440" y="3154680"/>
            <a:ext cx="54864" cy="86868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4B76B9F9-1CF0-7996-BCA0-0C8E9AE8ED52}"/>
              </a:ext>
            </a:extLst>
          </p:cNvPr>
          <p:cNvSpPr/>
          <p:nvPr/>
        </p:nvSpPr>
        <p:spPr>
          <a:xfrm>
            <a:off x="48463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&amp; Latency</a:t>
            </a:r>
            <a:endParaRPr lang="en-US" sz="13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79A3313E-53FF-3DEB-230D-82AA4EBEDB41}"/>
              </a:ext>
            </a:extLst>
          </p:cNvPr>
          <p:cNvSpPr/>
          <p:nvPr/>
        </p:nvSpPr>
        <p:spPr>
          <a:xfrm>
            <a:off x="4846320" y="35204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High-token chains drain budget and slow UX</a:t>
            </a:r>
            <a:endParaRPr lang="en-US" sz="10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1A92B625-581E-EEFF-958C-0AB641203EFB}"/>
              </a:ext>
            </a:extLst>
          </p:cNvPr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solidFill>
            <a:srgbClr val="FEF5E7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93A6F007-64B9-5502-35B5-8B40D63D24A0}"/>
              </a:ext>
            </a:extLst>
          </p:cNvPr>
          <p:cNvSpPr/>
          <p:nvPr/>
        </p:nvSpPr>
        <p:spPr>
          <a:xfrm>
            <a:off x="457200" y="4251960"/>
            <a:ext cx="45720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777FDD89-360B-ED10-B43C-DB25DDD40D7B}"/>
              </a:ext>
            </a:extLst>
          </p:cNvPr>
          <p:cNvSpPr/>
          <p:nvPr/>
        </p:nvSpPr>
        <p:spPr>
          <a:xfrm>
            <a:off x="640080" y="42519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aren't bugs — they're inherent to how LLMs work. The key is building systems that mitigate them.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9136883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Spring AI Helps Overcome 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7899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1163483"/>
            <a:ext cx="215067" cy="21506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024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Guarding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291840" y="10241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constrain behavior (tone, honesty, refusal policy)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1600200"/>
            <a:ext cx="8229600" cy="0"/>
          </a:xfrm>
          <a:prstGeom prst="line">
            <a:avLst/>
          </a:prstGeom>
          <a:noFill/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6"/>
          <p:cNvSpPr/>
          <p:nvPr/>
        </p:nvSpPr>
        <p:spPr>
          <a:xfrm>
            <a:off x="457200" y="1792224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1876715"/>
            <a:ext cx="215067" cy="2150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Stuffing / RAG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29184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fresh, task-specific context so the model quotes facts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2313432"/>
            <a:ext cx="8229600" cy="0"/>
          </a:xfrm>
          <a:prstGeom prst="line">
            <a:avLst/>
          </a:prstGeom>
          <a:noFill/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0"/>
          <p:cNvSpPr/>
          <p:nvPr/>
        </p:nvSpPr>
        <p:spPr>
          <a:xfrm>
            <a:off x="457200" y="2505456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691" y="2589947"/>
            <a:ext cx="215067" cy="21506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05840" y="2450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Calling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291840" y="245059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model invoke code or APIs for real-time data and calculations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3026664"/>
            <a:ext cx="8229600" cy="0"/>
          </a:xfrm>
          <a:prstGeom prst="line">
            <a:avLst/>
          </a:prstGeom>
          <a:noFill/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4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691" y="3303179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05840" y="316382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0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3291840" y="3163824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tools as reusable, versioned endpoints every client can share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57200" y="3739896"/>
            <a:ext cx="8229600" cy="0"/>
          </a:xfrm>
          <a:prstGeom prst="line">
            <a:avLst/>
          </a:prstGeom>
          <a:noFill/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18"/>
          <p:cNvSpPr/>
          <p:nvPr/>
        </p:nvSpPr>
        <p:spPr>
          <a:xfrm>
            <a:off x="457200" y="3931920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1691" y="4016411"/>
            <a:ext cx="215067" cy="21506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05840" y="387705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B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3291840" y="387705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 prompt, token count, and latency to catch cost/quality issues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3017520"/>
          </a:xfrm>
          <a:prstGeom prst="rect">
            <a:avLst/>
          </a:prstGeom>
          <a:solidFill>
            <a:srgbClr val="F4F6F8"/>
          </a:solidFill>
          <a:ln w="6350">
            <a:solidFill>
              <a:srgbClr val="DEE2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spring-ai-zero-to-hero/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applications/               ← Provider-specific apps (pick one)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provider-ollama/        ← LOCAL: no API keys needed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provider-openai/        ← CLOUD: full features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...                     ← anthropic, azure, google, aws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components/                 ← Shared, provider-independent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apis/chat/              ← Stage 1: Chat fundamentals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apis/embedding/         ← Stage 2: Embeddings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apis/vector-store/      ← Stage 3: Vector stores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patterns/               ← Stages 4-5: RAG, memory, CoT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mcp/                        ← Stage 6: MCP servers &amp; clients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agentic-system/             ← Stage 7: Agentic patterns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docker/                     ← PostgreSQL, Grafana LGTM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4206240"/>
            <a:ext cx="45720" cy="4572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420624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depend on spring-ai-client-chat (the abstraction). Provider apps add the starter. No code changes to switch.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ChatModel, ChatClient, Prompts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Spring AI — Raw HttpClient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324612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51560"/>
            <a:ext cx="795528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newHttpClient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"model": "gpt-4o",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"messages": [{ "role": "user",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"content": "Tell me a joke" }] }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newBuilder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"https://api.openai.com/v1/chat/completions"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"Authorization"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"Bearer 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"Content-Type"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"application/json"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BodyPublishers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BodyHandlers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Now manually parse JSON, handle errors, map to objects…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solidFill>
            <a:srgbClr val="FEF5E7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4343400"/>
            <a:ext cx="45720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JSON, manual auth, manual error handling, and locked to one provider. Every AI call looks like this.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1222908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Simplest AI Call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2286000" cy="292608"/>
          </a:xfrm>
          <a:prstGeom prst="rect">
            <a:avLst/>
          </a:prstGeom>
          <a:solidFill>
            <a:srgbClr val="F0F8EC"/>
          </a:solidFill>
          <a:ln w="63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/chat/01/joke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146304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7955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ChatModel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chatModel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"joke"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getJoke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chatModel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joke"</a:t>
            </a: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45720" cy="4572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ChatModel.call(String) — string in, string out. The absolute minimum API.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176555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ChatClient — The Fluent API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5943600" y="274320"/>
            <a:ext cx="1463040" cy="256032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292608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94360" y="109728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Full response chain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ChatResponse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joke about 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chatResponse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Generation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generation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getResult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AssistantMessage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msg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generation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getOutput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msg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getText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Shorthand (preferred!)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joke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short joke"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 is to ChatModel what Spring Data JPA is to JDBC.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099363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ChatClient, Spring AI </a:t>
            </a:r>
            <a:r>
              <a:rPr lang="en-US" sz="1800" dirty="0" err="1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Petclinic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Templates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solidFill>
            <a:srgbClr val="1E1E1E"/>
          </a:solidFill>
          <a:ln w="6350">
            <a:solidFill>
              <a:srgbClr val="3C3C3C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Inline template with {variable} placeholders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2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-&gt;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"Tell me a joke about {topic}"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"topic"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File-based template (classpath resource)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2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-&gt;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</a:t>
            </a: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ClassPathResource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"prompts/plays.st"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"author"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252526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3566160"/>
            <a:ext cx="45720" cy="457200"/>
          </a:xfrm>
          <a:prstGeom prst="rect">
            <a:avLst/>
          </a:prstGeom>
          <a:solidFill>
            <a:srgbClr val="569CD6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{variable} + .param() instead of string concatenation. Cleaner, testable, supports external files.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304187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 Best Practices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1645920" cy="27432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987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286000" y="960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directly — no examples. Works for simple tasks.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"Translate this to French: Hello World"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645920" cy="27432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One/Few-Shot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1709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1-3 examples to steer format and style.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286000" y="202996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Input: happy → Output: sad. Input: big → Output: small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487168"/>
            <a:ext cx="1645920" cy="27432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86000" y="245973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step by step" — boosts reasoning accuracy.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"Explain your reasoning before giving the answer."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236976"/>
            <a:ext cx="1645920" cy="274320"/>
          </a:xfrm>
          <a:prstGeom prst="rect">
            <a:avLst/>
          </a:prstGeom>
          <a:solidFill>
            <a:srgbClr val="E67E22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57200" y="32369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Decomposition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286000" y="320954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complex prompts into smaller sub-tasks.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286000" y="352958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1: Extract entities.  Step 2: Classify sentiment.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986784"/>
            <a:ext cx="1645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39867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86000" y="39593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persona, constraints, and output format up front.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286000" y="427939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senior Java developer. Reply in JSON only."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Output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→ typed Java records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7955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Define your target type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publicationYear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{}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Return typed Java records — the Spring AI magic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plays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"List plays by {author}"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"author"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"Shakespeare"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2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entity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[].</a:t>
            </a:r>
            <a:r>
              <a:rPr lang="en-US" sz="12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2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45720" cy="4572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" y="352044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.entity(Class) auto-generates JSON schema, appends format instructions, and deserializes. No manual parsing.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8698406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D04B-3EFD-67F7-DD23-693AD55D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B9A170-7D90-CB45-64F8-7BA6F4A40DBE}"/>
              </a:ext>
            </a:extLst>
          </p:cNvPr>
          <p:cNvSpPr>
            <a:spLocks noGrp="1"/>
          </p:cNvSpPr>
          <p:nvPr>
            <p:ph type="title"/>
          </p:nvPr>
        </p:nvSpPr>
        <p:spPr>
          <a:noFill/>
          <a:ln/>
        </p:spPr>
        <p:txBody>
          <a:bodyPr wrap="square" lIns="0" tIns="0" rIns="0" bIns="0" rtlCol="0" anchor="ctr"/>
          <a:lstStyle/>
          <a:p>
            <a:pPr defTabSz="914400"/>
            <a:r>
              <a:rPr lang="en-US" sz="2800" b="1" dirty="0">
                <a:solidFill>
                  <a:srgbClr val="1B2631"/>
                </a:solidFill>
                <a:latin typeface="Georgia" pitchFamily="34" charset="0"/>
              </a:rPr>
              <a:t>Why Tool Calling is Needed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1841A5-99B1-D6ED-4ABC-FF8D0088B4E2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92" y="794680"/>
            <a:ext cx="3972741" cy="3429000"/>
          </a:xfrm>
        </p:spPr>
        <p:txBody>
          <a:bodyPr/>
          <a:lstStyle/>
          <a:p>
            <a:pPr marL="214313" indent="-214313">
              <a:buFont typeface="Courier New" panose="02070309020205020404" pitchFamily="49" charset="0"/>
              <a:buChar char="o"/>
            </a:pPr>
            <a:r>
              <a:rPr lang="en-US" dirty="0"/>
              <a:t>Integrates LLMs with your own custom APIs for </a:t>
            </a:r>
            <a:r>
              <a:rPr lang="en-US" b="1" dirty="0"/>
              <a:t>personalized responses</a:t>
            </a:r>
            <a:r>
              <a:rPr lang="en-US" dirty="0"/>
              <a:t>.</a:t>
            </a:r>
          </a:p>
          <a:p>
            <a:pPr marL="214313" indent="-214313">
              <a:buFont typeface="Courier New" panose="02070309020205020404" pitchFamily="49" charset="0"/>
              <a:buChar char="o"/>
            </a:pPr>
            <a:r>
              <a:rPr lang="en-US" dirty="0"/>
              <a:t>Enables real-time access to dynamic, external data sources.</a:t>
            </a:r>
          </a:p>
          <a:p>
            <a:pPr marL="214313" indent="-214313">
              <a:buFont typeface="Courier New" panose="02070309020205020404" pitchFamily="49" charset="0"/>
              <a:buChar char="o"/>
            </a:pPr>
            <a:r>
              <a:rPr lang="en-US" dirty="0"/>
              <a:t>Enhances app functionality by making the LLM an active part of your system's ecosystem</a:t>
            </a:r>
          </a:p>
          <a:p>
            <a:pPr marL="214313" indent="-214313">
              <a:buFont typeface="Courier New" panose="02070309020205020404" pitchFamily="49" charset="0"/>
              <a:buChar char="o"/>
            </a:pPr>
            <a:endParaRPr lang="en-US" dirty="0"/>
          </a:p>
          <a:p>
            <a:pPr marL="214313" indent="-214313">
              <a:buFont typeface="Courier New" panose="02070309020205020404" pitchFamily="49" charset="0"/>
              <a:buChar char="o"/>
            </a:pPr>
            <a:endParaRPr lang="en-IL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072C7B-8EE7-AB70-B608-F9B995738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5540" y="805169"/>
            <a:ext cx="4371261" cy="3408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1">
            <a:extLst>
              <a:ext uri="{FF2B5EF4-FFF2-40B4-BE49-F238E27FC236}">
                <a16:creationId xmlns:a16="http://schemas.microsoft.com/office/drawing/2014/main" id="{7A667274-8B9B-FE0F-440D-2AED6D23CDCE}"/>
              </a:ext>
            </a:extLst>
          </p:cNvPr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802533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Calling with @Tool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39"/>
            <a:ext cx="8229600" cy="3246103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Your Java methods become AI-callable tools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TimeTools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"Returns the current time in a specific timezone"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currentTimeIn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@ToolParam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"IANA timezone"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timeZone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ZonedDateTime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ZonedDateTime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ZoneId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timeZone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"Today is 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getDayOfWeek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+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Register tools with the prompt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TimeTools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the current time in {city}?"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"city"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4297680"/>
            <a:ext cx="45720" cy="45720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429768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decides when to call the tool. Spring AI handles the multi-turn conversation automatically.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246947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6" name="Google Shape;3566;p159"/>
          <p:cNvSpPr txBox="1">
            <a:spLocks noGrp="1"/>
          </p:cNvSpPr>
          <p:nvPr>
            <p:ph type="title"/>
          </p:nvPr>
        </p:nvSpPr>
        <p:spPr>
          <a:xfrm>
            <a:off x="436048" y="310152"/>
            <a:ext cx="8250851" cy="285676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/>
          <a:p>
            <a:r>
              <a:rPr lang="en-US" dirty="0"/>
              <a:t>Bring real-time data into your apps using function calling</a:t>
            </a:r>
          </a:p>
        </p:txBody>
      </p:sp>
      <p:sp>
        <p:nvSpPr>
          <p:cNvPr id="3567" name="Google Shape;3567;p159"/>
          <p:cNvSpPr txBox="1">
            <a:spLocks noGrp="1"/>
          </p:cNvSpPr>
          <p:nvPr>
            <p:ph type="subTitle" idx="1"/>
          </p:nvPr>
        </p:nvSpPr>
        <p:spPr>
          <a:xfrm>
            <a:off x="445841" y="609385"/>
            <a:ext cx="8222058" cy="185801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endParaRPr/>
          </a:p>
        </p:txBody>
      </p:sp>
      <p:pic>
        <p:nvPicPr>
          <p:cNvPr id="3569" name="Google Shape;3569;p1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1747" y="808744"/>
            <a:ext cx="5418539" cy="3930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5">
          <a:extLst>
            <a:ext uri="{FF2B5EF4-FFF2-40B4-BE49-F238E27FC236}">
              <a16:creationId xmlns:a16="http://schemas.microsoft.com/office/drawing/2014/main" id="{34835BE3-ACA7-D706-DDF3-EAEEAB75A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6" name="Google Shape;3566;p159">
            <a:extLst>
              <a:ext uri="{FF2B5EF4-FFF2-40B4-BE49-F238E27FC236}">
                <a16:creationId xmlns:a16="http://schemas.microsoft.com/office/drawing/2014/main" id="{DF79504E-58AF-19FE-266D-46259A0658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6048" y="310152"/>
            <a:ext cx="8250851" cy="285676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/>
          <a:p>
            <a:r>
              <a:rPr lang="en-US" dirty="0"/>
              <a:t>Bring real-time data into your apps using function calling</a:t>
            </a:r>
            <a:endParaRPr dirty="0"/>
          </a:p>
        </p:txBody>
      </p:sp>
      <p:sp>
        <p:nvSpPr>
          <p:cNvPr id="3567" name="Google Shape;3567;p159">
            <a:extLst>
              <a:ext uri="{FF2B5EF4-FFF2-40B4-BE49-F238E27FC236}">
                <a16:creationId xmlns:a16="http://schemas.microsoft.com/office/drawing/2014/main" id="{EF62FC74-B75B-5B5F-4D60-DC64F99956F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45841" y="609385"/>
            <a:ext cx="8222058" cy="185801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endParaRPr/>
          </a:p>
        </p:txBody>
      </p:sp>
      <p:pic>
        <p:nvPicPr>
          <p:cNvPr id="3569" name="Google Shape;3569;p159">
            <a:extLst>
              <a:ext uri="{FF2B5EF4-FFF2-40B4-BE49-F238E27FC236}">
                <a16:creationId xmlns:a16="http://schemas.microsoft.com/office/drawing/2014/main" id="{B632629A-5C7B-1C3F-275D-B6C271A4191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85326" y="848103"/>
            <a:ext cx="9945961" cy="72137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327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5">
          <a:extLst>
            <a:ext uri="{FF2B5EF4-FFF2-40B4-BE49-F238E27FC236}">
              <a16:creationId xmlns:a16="http://schemas.microsoft.com/office/drawing/2014/main" id="{D57BB4DB-5F8F-1933-F8E3-A357DBF33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6" name="Google Shape;3566;p159">
            <a:extLst>
              <a:ext uri="{FF2B5EF4-FFF2-40B4-BE49-F238E27FC236}">
                <a16:creationId xmlns:a16="http://schemas.microsoft.com/office/drawing/2014/main" id="{ADBD0698-6CF4-DDA8-5C66-9157872B4C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6048" y="310152"/>
            <a:ext cx="8250851" cy="285676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/>
          <a:p>
            <a:r>
              <a:rPr lang="en-US" dirty="0"/>
              <a:t>Bring </a:t>
            </a:r>
            <a:r>
              <a:rPr lang="en-US" dirty="0" err="1"/>
              <a:t>realtime</a:t>
            </a:r>
            <a:r>
              <a:rPr lang="en-US" dirty="0"/>
              <a:t> data into you apps with function calling</a:t>
            </a:r>
            <a:endParaRPr dirty="0"/>
          </a:p>
        </p:txBody>
      </p:sp>
      <p:sp>
        <p:nvSpPr>
          <p:cNvPr id="3567" name="Google Shape;3567;p159">
            <a:extLst>
              <a:ext uri="{FF2B5EF4-FFF2-40B4-BE49-F238E27FC236}">
                <a16:creationId xmlns:a16="http://schemas.microsoft.com/office/drawing/2014/main" id="{39040E27-A701-A530-EBD0-9BFD56B6C02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45841" y="609385"/>
            <a:ext cx="8222058" cy="185801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endParaRPr/>
          </a:p>
        </p:txBody>
      </p:sp>
      <p:pic>
        <p:nvPicPr>
          <p:cNvPr id="3569" name="Google Shape;3569;p159">
            <a:extLst>
              <a:ext uri="{FF2B5EF4-FFF2-40B4-BE49-F238E27FC236}">
                <a16:creationId xmlns:a16="http://schemas.microsoft.com/office/drawing/2014/main" id="{68E84053-AEBE-D9F2-A172-B648B9242E1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445982" y="-1885154"/>
            <a:ext cx="11394225" cy="86059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48141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5">
          <a:extLst>
            <a:ext uri="{FF2B5EF4-FFF2-40B4-BE49-F238E27FC236}">
              <a16:creationId xmlns:a16="http://schemas.microsoft.com/office/drawing/2014/main" id="{FB4A222B-C512-494C-423F-E120DA159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6" name="Google Shape;3566;p159">
            <a:extLst>
              <a:ext uri="{FF2B5EF4-FFF2-40B4-BE49-F238E27FC236}">
                <a16:creationId xmlns:a16="http://schemas.microsoft.com/office/drawing/2014/main" id="{AB4103AF-67D4-7571-699D-232712BE38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6048" y="310152"/>
            <a:ext cx="8250851" cy="285676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/>
          <a:p>
            <a:r>
              <a:rPr lang="en-US" dirty="0"/>
              <a:t>Bring </a:t>
            </a:r>
            <a:r>
              <a:rPr lang="en-US" dirty="0" err="1"/>
              <a:t>realtime</a:t>
            </a:r>
            <a:r>
              <a:rPr lang="en-US" dirty="0"/>
              <a:t> data into you apps with function calling</a:t>
            </a:r>
            <a:endParaRPr dirty="0"/>
          </a:p>
        </p:txBody>
      </p:sp>
      <p:sp>
        <p:nvSpPr>
          <p:cNvPr id="3567" name="Google Shape;3567;p159">
            <a:extLst>
              <a:ext uri="{FF2B5EF4-FFF2-40B4-BE49-F238E27FC236}">
                <a16:creationId xmlns:a16="http://schemas.microsoft.com/office/drawing/2014/main" id="{6ABFB77A-1CC1-E5CD-02C6-B70D9BE54A3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45841" y="609385"/>
            <a:ext cx="8222058" cy="185801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endParaRPr/>
          </a:p>
        </p:txBody>
      </p:sp>
      <p:pic>
        <p:nvPicPr>
          <p:cNvPr id="3569" name="Google Shape;3569;p159">
            <a:extLst>
              <a:ext uri="{FF2B5EF4-FFF2-40B4-BE49-F238E27FC236}">
                <a16:creationId xmlns:a16="http://schemas.microsoft.com/office/drawing/2014/main" id="{EF75725F-8370-C754-0936-C7A5839896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015" y="-3507812"/>
            <a:ext cx="11067152" cy="86513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50321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5">
          <a:extLst>
            <a:ext uri="{FF2B5EF4-FFF2-40B4-BE49-F238E27FC236}">
              <a16:creationId xmlns:a16="http://schemas.microsoft.com/office/drawing/2014/main" id="{3ED55F36-7F9D-8E14-1706-13480FCA9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6" name="Google Shape;3566;p159">
            <a:extLst>
              <a:ext uri="{FF2B5EF4-FFF2-40B4-BE49-F238E27FC236}">
                <a16:creationId xmlns:a16="http://schemas.microsoft.com/office/drawing/2014/main" id="{2FD4A462-B40E-7541-1839-DC42555DB9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6048" y="310152"/>
            <a:ext cx="8250851" cy="285676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/>
          <a:p>
            <a:r>
              <a:rPr lang="en-US" dirty="0"/>
              <a:t>Bring </a:t>
            </a:r>
            <a:r>
              <a:rPr lang="en-US" dirty="0" err="1"/>
              <a:t>realtime</a:t>
            </a:r>
            <a:r>
              <a:rPr lang="en-US" dirty="0"/>
              <a:t> data into you apps with function calling</a:t>
            </a:r>
            <a:endParaRPr dirty="0"/>
          </a:p>
        </p:txBody>
      </p:sp>
      <p:sp>
        <p:nvSpPr>
          <p:cNvPr id="3567" name="Google Shape;3567;p159">
            <a:extLst>
              <a:ext uri="{FF2B5EF4-FFF2-40B4-BE49-F238E27FC236}">
                <a16:creationId xmlns:a16="http://schemas.microsoft.com/office/drawing/2014/main" id="{DE1A2181-C35C-2D08-DCC4-73D38A68764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45841" y="609385"/>
            <a:ext cx="8222058" cy="185801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endParaRPr/>
          </a:p>
        </p:txBody>
      </p:sp>
      <p:pic>
        <p:nvPicPr>
          <p:cNvPr id="3569" name="Google Shape;3569;p159">
            <a:extLst>
              <a:ext uri="{FF2B5EF4-FFF2-40B4-BE49-F238E27FC236}">
                <a16:creationId xmlns:a16="http://schemas.microsoft.com/office/drawing/2014/main" id="{2FDD7BAC-9D2F-B4D3-C66E-F4B1283B35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359199" y="-3623371"/>
            <a:ext cx="11067152" cy="86513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7515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5">
          <a:extLst>
            <a:ext uri="{FF2B5EF4-FFF2-40B4-BE49-F238E27FC236}">
              <a16:creationId xmlns:a16="http://schemas.microsoft.com/office/drawing/2014/main" id="{9CADA83E-F0DF-C825-362C-B42AE6385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6" name="Google Shape;3566;p159">
            <a:extLst>
              <a:ext uri="{FF2B5EF4-FFF2-40B4-BE49-F238E27FC236}">
                <a16:creationId xmlns:a16="http://schemas.microsoft.com/office/drawing/2014/main" id="{83CB4BDC-F371-ABFC-8BBC-3F1B88A51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36048" y="310152"/>
            <a:ext cx="8250851" cy="285676"/>
          </a:xfrm>
          <a:prstGeom prst="rect">
            <a:avLst/>
          </a:prstGeom>
        </p:spPr>
        <p:txBody>
          <a:bodyPr spcFirstLastPara="1" vert="horz" wrap="square" lIns="0" tIns="0" rIns="0" bIns="0" rtlCol="0" anchor="b" anchorCtr="0">
            <a:noAutofit/>
          </a:bodyPr>
          <a:lstStyle/>
          <a:p>
            <a:r>
              <a:rPr lang="en-US" dirty="0"/>
              <a:t>Bring real-time data into your apps using function calling</a:t>
            </a:r>
            <a:endParaRPr dirty="0"/>
          </a:p>
        </p:txBody>
      </p:sp>
      <p:sp>
        <p:nvSpPr>
          <p:cNvPr id="3567" name="Google Shape;3567;p159">
            <a:extLst>
              <a:ext uri="{FF2B5EF4-FFF2-40B4-BE49-F238E27FC236}">
                <a16:creationId xmlns:a16="http://schemas.microsoft.com/office/drawing/2014/main" id="{1B792E44-DC66-F1B5-96AB-4C18D8D2829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45841" y="609385"/>
            <a:ext cx="8222058" cy="185801"/>
          </a:xfrm>
          <a:prstGeom prst="rect">
            <a:avLst/>
          </a:prstGeom>
        </p:spPr>
        <p:txBody>
          <a:bodyPr spcFirstLastPara="1" vert="horz" wrap="square" lIns="0" tIns="0" rIns="0" bIns="0" rtlCol="0" anchor="t" anchorCtr="0">
            <a:noAutofit/>
          </a:bodyPr>
          <a:lstStyle/>
          <a:p>
            <a:endParaRPr/>
          </a:p>
        </p:txBody>
      </p:sp>
      <p:pic>
        <p:nvPicPr>
          <p:cNvPr id="3569" name="Google Shape;3569;p159">
            <a:extLst>
              <a:ext uri="{FF2B5EF4-FFF2-40B4-BE49-F238E27FC236}">
                <a16:creationId xmlns:a16="http://schemas.microsoft.com/office/drawing/2014/main" id="{4AE11AA6-256B-00CA-CCAC-7AC4BF779DA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3205" y="808743"/>
            <a:ext cx="5887330" cy="39861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2954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Roles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RoleController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defaultSystem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You are a helpful expert on plants, however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you are not allowed to answer any question about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vegetables - you can only answer about fruits.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"""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@GetMapping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"/fruit"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the color of a banana?"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</a:t>
            </a: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"A banana is yellow when ripe"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1492843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8229600" cy="251460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594360" y="1371600"/>
            <a:ext cx="79546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6A9955"/>
                </a:solidFill>
                <a:latin typeface="Consolas"/>
              </a:rPr>
              <a:t>// Send image + text in a single prompt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9CDCFE"/>
                </a:solidFill>
                <a:latin typeface="Consolas"/>
              </a:rPr>
              <a:t>chatClient</a:t>
            </a:r>
            <a:r>
              <a:rPr sz="1400" b="0">
                <a:solidFill>
                  <a:srgbClr val="D4D4D4"/>
                </a:solidFill>
                <a:latin typeface="Consolas"/>
              </a:rPr>
              <a:t>.</a:t>
            </a:r>
            <a:r>
              <a:rPr sz="1400" b="0">
                <a:solidFill>
                  <a:srgbClr val="DCDCAA"/>
                </a:solidFill>
                <a:latin typeface="Consolas"/>
              </a:rPr>
              <a:t>prompt</a:t>
            </a:r>
            <a:r>
              <a:rPr sz="1400" b="0">
                <a:solidFill>
                  <a:srgbClr val="D4D4D4"/>
                </a:solidFill>
                <a:latin typeface="Consolas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.</a:t>
            </a:r>
            <a:r>
              <a:rPr sz="1400" b="0">
                <a:solidFill>
                  <a:srgbClr val="DCDCAA"/>
                </a:solidFill>
                <a:latin typeface="Consolas"/>
              </a:rPr>
              <a:t>user</a:t>
            </a:r>
            <a:r>
              <a:rPr sz="1400" b="0">
                <a:solidFill>
                  <a:srgbClr val="D4D4D4"/>
                </a:solidFill>
                <a:latin typeface="Consolas"/>
              </a:rPr>
              <a:t>(u -&gt; u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400" b="0">
                <a:solidFill>
                  <a:srgbClr val="DCDCAA"/>
                </a:solidFill>
                <a:latin typeface="Consolas"/>
              </a:rPr>
              <a:t>text</a:t>
            </a:r>
            <a:r>
              <a:rPr sz="140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>
                <a:solidFill>
                  <a:srgbClr val="CE9178"/>
                </a:solidFill>
                <a:latin typeface="Consolas"/>
              </a:rPr>
              <a:t>"Describe this image"</a:t>
            </a:r>
            <a:r>
              <a:rPr sz="1400" b="0">
                <a:solidFill>
                  <a:srgbClr val="D4D4D4"/>
                </a:solidFill>
                <a:latin typeface="Consolas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400" b="0">
                <a:solidFill>
                  <a:srgbClr val="DCDCAA"/>
                </a:solidFill>
                <a:latin typeface="Consolas"/>
              </a:rPr>
              <a:t>media</a:t>
            </a:r>
            <a:r>
              <a:rPr sz="140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>
                <a:solidFill>
                  <a:srgbClr val="4EC9B0"/>
                </a:solidFill>
                <a:latin typeface="Consolas"/>
              </a:rPr>
              <a:t>MimeTypeUtils</a:t>
            </a:r>
            <a:r>
              <a:rPr sz="1400" b="0">
                <a:solidFill>
                  <a:srgbClr val="D4D4D4"/>
                </a:solidFill>
                <a:latin typeface="Consolas"/>
              </a:rPr>
              <a:t>.</a:t>
            </a:r>
            <a:r>
              <a:rPr sz="1400" b="0">
                <a:solidFill>
                  <a:srgbClr val="9CDCFE"/>
                </a:solidFill>
                <a:latin typeface="Consolas"/>
              </a:rPr>
              <a:t>IMAGE_PNG</a:t>
            </a:r>
            <a:r>
              <a:rPr sz="1400" b="0">
                <a:solidFill>
                  <a:srgbClr val="D4D4D4"/>
                </a:solidFill>
                <a:latin typeface="Consolas"/>
              </a:rPr>
              <a:t>,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       </a:t>
            </a:r>
            <a:r>
              <a:rPr sz="1400" b="0">
                <a:solidFill>
                  <a:srgbClr val="9CDCFE"/>
                </a:solidFill>
                <a:latin typeface="Consolas"/>
              </a:rPr>
              <a:t>imageResource</a:t>
            </a:r>
            <a:r>
              <a:rPr sz="1400" b="0">
                <a:solidFill>
                  <a:srgbClr val="D4D4D4"/>
                </a:solidFill>
                <a:latin typeface="Consolas"/>
              </a:rPr>
              <a:t>))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.</a:t>
            </a:r>
            <a:r>
              <a:rPr sz="1400" b="0">
                <a:solidFill>
                  <a:srgbClr val="DCDCAA"/>
                </a:solidFill>
                <a:latin typeface="Consolas"/>
              </a:rPr>
              <a:t>call</a:t>
            </a:r>
            <a:r>
              <a:rPr sz="1400" b="0">
                <a:solidFill>
                  <a:srgbClr val="D4D4D4"/>
                </a:solidFill>
                <a:latin typeface="Consolas"/>
              </a:rPr>
              <a:t>().</a:t>
            </a:r>
            <a:r>
              <a:rPr sz="1400" b="0">
                <a:solidFill>
                  <a:srgbClr val="DCDCAA"/>
                </a:solidFill>
                <a:latin typeface="Consolas"/>
              </a:rPr>
              <a:t>content</a:t>
            </a:r>
            <a:r>
              <a:rPr sz="1400" b="0">
                <a:solidFill>
                  <a:srgbClr val="D4D4D4"/>
                </a:solidFill>
                <a:latin typeface="Consolas"/>
              </a:rPr>
              <a:t>();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6A9955"/>
                </a:solidFill>
                <a:latin typeface="Consolas"/>
              </a:rPr>
              <a:t>// Audio input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9CDCFE"/>
                </a:solidFill>
                <a:latin typeface="Consolas"/>
              </a:rPr>
              <a:t>chatClient</a:t>
            </a:r>
            <a:r>
              <a:rPr sz="1400" b="0">
                <a:solidFill>
                  <a:srgbClr val="D4D4D4"/>
                </a:solidFill>
                <a:latin typeface="Consolas"/>
              </a:rPr>
              <a:t>.</a:t>
            </a:r>
            <a:r>
              <a:rPr sz="1400" b="0">
                <a:solidFill>
                  <a:srgbClr val="DCDCAA"/>
                </a:solidFill>
                <a:latin typeface="Consolas"/>
              </a:rPr>
              <a:t>prompt</a:t>
            </a:r>
            <a:r>
              <a:rPr sz="1400" b="0">
                <a:solidFill>
                  <a:srgbClr val="D4D4D4"/>
                </a:solidFill>
                <a:latin typeface="Consolas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.</a:t>
            </a:r>
            <a:r>
              <a:rPr sz="1400" b="0">
                <a:solidFill>
                  <a:srgbClr val="DCDCAA"/>
                </a:solidFill>
                <a:latin typeface="Consolas"/>
              </a:rPr>
              <a:t>user</a:t>
            </a:r>
            <a:r>
              <a:rPr sz="1400" b="0">
                <a:solidFill>
                  <a:srgbClr val="D4D4D4"/>
                </a:solidFill>
                <a:latin typeface="Consolas"/>
              </a:rPr>
              <a:t>(u -&gt; u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400" b="0">
                <a:solidFill>
                  <a:srgbClr val="DCDCAA"/>
                </a:solidFill>
                <a:latin typeface="Consolas"/>
              </a:rPr>
              <a:t>text</a:t>
            </a:r>
            <a:r>
              <a:rPr sz="140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>
                <a:solidFill>
                  <a:srgbClr val="CE9178"/>
                </a:solidFill>
                <a:latin typeface="Consolas"/>
              </a:rPr>
              <a:t>"Transcribe this audio"</a:t>
            </a:r>
            <a:r>
              <a:rPr sz="1400" b="0">
                <a:solidFill>
                  <a:srgbClr val="D4D4D4"/>
                </a:solidFill>
                <a:latin typeface="Consolas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7F8C8D"/>
                </a:solidFill>
                <a:latin typeface="Calibri"/>
              </a:rPr>
              <a:t>Send images, audio, and video alongside text prompts.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B95FB49-269C-0E82-53FB-1E0B48783E41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Multimodal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0A4E55A-8997-2263-05A1-471FF58656F7}"/>
              </a:ext>
            </a:extLst>
          </p:cNvPr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368344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8229600" cy="251460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594360" y="1371600"/>
            <a:ext cx="79546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6A9955"/>
                </a:solidFill>
                <a:latin typeface="Consolas"/>
              </a:rPr>
              <a:t>// Token-by-token streaming with Flux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BBB529"/>
                </a:solidFill>
                <a:latin typeface="Consolas"/>
              </a:rPr>
              <a:t>@GetMapping</a:t>
            </a:r>
            <a:r>
              <a:rPr sz="140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>
                <a:solidFill>
                  <a:srgbClr val="CE9178"/>
                </a:solidFill>
                <a:latin typeface="Consolas"/>
              </a:rPr>
              <a:t>"/stream"</a:t>
            </a:r>
            <a:r>
              <a:rPr sz="1400" b="0">
                <a:solidFill>
                  <a:srgbClr val="D4D4D4"/>
                </a:solidFill>
                <a:latin typeface="Consolas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4EC9B0"/>
                </a:solidFill>
                <a:latin typeface="Consolas"/>
              </a:rPr>
              <a:t>Flux</a:t>
            </a:r>
            <a:r>
              <a:rPr sz="1400" b="0">
                <a:solidFill>
                  <a:srgbClr val="D4D4D4"/>
                </a:solidFill>
                <a:latin typeface="Consolas"/>
              </a:rPr>
              <a:t>&lt;</a:t>
            </a:r>
            <a:r>
              <a:rPr sz="1400" b="0">
                <a:solidFill>
                  <a:srgbClr val="4EC9B0"/>
                </a:solidFill>
                <a:latin typeface="Consolas"/>
              </a:rPr>
              <a:t>String</a:t>
            </a:r>
            <a:r>
              <a:rPr sz="14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400" b="0">
                <a:solidFill>
                  <a:srgbClr val="DCDCAA"/>
                </a:solidFill>
                <a:latin typeface="Consolas"/>
              </a:rPr>
              <a:t>stream</a:t>
            </a:r>
            <a:r>
              <a:rPr sz="140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>
                <a:solidFill>
                  <a:srgbClr val="4EC9B0"/>
                </a:solidFill>
                <a:latin typeface="Consolas"/>
              </a:rPr>
              <a:t>String</a:t>
            </a:r>
            <a:r>
              <a:rPr sz="140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>
                <a:solidFill>
                  <a:srgbClr val="9CDCFE"/>
                </a:solidFill>
                <a:latin typeface="Consolas"/>
              </a:rPr>
              <a:t>topic</a:t>
            </a:r>
            <a:r>
              <a:rPr sz="1400" b="0">
                <a:solidFill>
                  <a:srgbClr val="D4D4D4"/>
                </a:solidFill>
                <a:latin typeface="Consolas"/>
              </a:rPr>
              <a:t>) {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</a:t>
            </a:r>
            <a:r>
              <a:rPr sz="1400" b="0">
                <a:solidFill>
                  <a:srgbClr val="CC7832"/>
                </a:solidFill>
                <a:latin typeface="Consolas"/>
              </a:rPr>
              <a:t>return</a:t>
            </a:r>
            <a:r>
              <a:rPr sz="140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>
                <a:solidFill>
                  <a:srgbClr val="9CDCFE"/>
                </a:solidFill>
                <a:latin typeface="Consolas"/>
              </a:rPr>
              <a:t>chatClient</a:t>
            </a:r>
            <a:r>
              <a:rPr sz="1400" b="0">
                <a:solidFill>
                  <a:srgbClr val="D4D4D4"/>
                </a:solidFill>
                <a:latin typeface="Consolas"/>
              </a:rPr>
              <a:t>.</a:t>
            </a:r>
            <a:r>
              <a:rPr sz="1400" b="0">
                <a:solidFill>
                  <a:srgbClr val="DCDCAA"/>
                </a:solidFill>
                <a:latin typeface="Consolas"/>
              </a:rPr>
              <a:t>prompt</a:t>
            </a:r>
            <a:r>
              <a:rPr sz="1400" b="0">
                <a:solidFill>
                  <a:srgbClr val="D4D4D4"/>
                </a:solidFill>
                <a:latin typeface="Consolas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400" b="0">
                <a:solidFill>
                  <a:srgbClr val="DCDCAA"/>
                </a:solidFill>
                <a:latin typeface="Consolas"/>
              </a:rPr>
              <a:t>user</a:t>
            </a:r>
            <a:r>
              <a:rPr sz="1400" b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>
                <a:solidFill>
                  <a:srgbClr val="9CDCFE"/>
                </a:solidFill>
                <a:latin typeface="Consolas"/>
              </a:rPr>
              <a:t>topic</a:t>
            </a:r>
            <a:r>
              <a:rPr sz="1400" b="0">
                <a:solidFill>
                  <a:srgbClr val="D4D4D4"/>
                </a:solidFill>
                <a:latin typeface="Consolas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400" b="0">
                <a:solidFill>
                  <a:srgbClr val="DCDCAA"/>
                </a:solidFill>
                <a:latin typeface="Consolas"/>
              </a:rPr>
              <a:t>stream</a:t>
            </a:r>
            <a:r>
              <a:rPr sz="1400" b="0">
                <a:solidFill>
                  <a:srgbClr val="D4D4D4"/>
                </a:solidFill>
                <a:latin typeface="Consolas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400" b="0">
                <a:solidFill>
                  <a:srgbClr val="DCDCAA"/>
                </a:solidFill>
                <a:latin typeface="Consolas"/>
              </a:rPr>
              <a:t>content</a:t>
            </a:r>
            <a:r>
              <a:rPr sz="1400" b="0">
                <a:solidFill>
                  <a:srgbClr val="D4D4D4"/>
                </a:solidFill>
                <a:latin typeface="Consolas"/>
              </a:rPr>
              <a:t>();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D4D4D4"/>
                </a:solidFill>
                <a:latin typeface="Consolas"/>
              </a:rPr>
              <a:t>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6A9955"/>
                </a:solidFill>
                <a:latin typeface="Consolas"/>
              </a:rPr>
              <a:t>// Returns Flux&lt;String&gt; — each token emitted as it arrives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sz="1400" b="0">
                <a:solidFill>
                  <a:srgbClr val="6A9955"/>
                </a:solidFill>
                <a:latin typeface="Consolas"/>
              </a:rPr>
              <a:t>// Perfect for Server-Sent Events (SSE) to the browser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7F8C8D"/>
                </a:solidFill>
                <a:latin typeface="Calibri"/>
              </a:rPr>
              <a:t>Stream tokens as they arrive for real-time user experiences.</a:t>
            </a: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9B95FB49-269C-0E82-53FB-1E0B48783E41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 Responses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0A4E55A-8997-2263-05A1-471FF58656F7}"/>
              </a:ext>
            </a:extLst>
          </p:cNvPr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368344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2 &amp;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Embeddings &amp; Vector Stores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Semantic Search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Are Embeddings?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float vectors that capture semantic meaning.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solidFill>
            <a:srgbClr val="F4F6F8"/>
          </a:solidFill>
          <a:ln w="6350">
            <a:solidFill>
              <a:srgbClr val="DEE2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"king"   → [0.12, -0.45, 0.78, 0.33, ...]  ┐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 ├ close (cosine ~ 0.85)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"queen"  → [0.14, -0.42, 0.75, 0.31, ...]  ┘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"banana" → [-0.67, 0.22, 0.11, -0.89, ...]    far away (~ 0.15)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8229600" cy="777240"/>
          </a:xfrm>
          <a:prstGeom prst="rect">
            <a:avLst/>
          </a:prstGeom>
          <a:solidFill>
            <a:srgbClr val="F4F6F8"/>
          </a:solidFill>
          <a:ln w="6350">
            <a:solidFill>
              <a:srgbClr val="DEE2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Generate an embedding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float[] vector = embeddingModel.embed("mountain bike");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768 floats (nomic-embed-text) or 1536 (OpenAI)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Chunking, Reading &amp; Storing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58889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Large documents must be split before embedding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TokenTextSplitter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TokenTextSplitter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chunks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largeDocument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Read from various sources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JsonReader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jsonReader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JsonReader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bikesResource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"price"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"shortDescription"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"description"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Load into vector store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jsonReader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Semantic similarity search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1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similaritySearch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"mountain bike"</a:t>
            </a:r>
            <a:r>
              <a:rPr lang="en-US" sz="11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3840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3794760"/>
            <a:ext cx="54864" cy="77724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85800" y="39044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SimpleVectorStore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233672"/>
            <a:ext cx="3429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In-memory, zero setup. Great for dev/testing.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0" y="3794760"/>
            <a:ext cx="3840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4846320" y="3794760"/>
            <a:ext cx="54864" cy="77724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074920" y="39044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PgVectorStore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74920" y="4233672"/>
            <a:ext cx="3429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pgvector. HNSW index. Production-ready.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1499334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&amp; Chat Memory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AI in Your Data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uff the Prom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</a:rPr>
              <a:t>Stuff the Prompt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F8C8D"/>
                </a:solidFill>
                <a:latin typeface="Calibri" pitchFamily="34" charset="0"/>
              </a:rPr>
              <a:t>Simplest context pattern: load a document and inject it directly into the prompt. No embeddings, no vector store.</a:t>
            </a:r>
          </a:p>
        </p:txBody>
      </p:sp>
      <p:sp>
        <p:nvSpPr>
          <p:cNvPr id="4" name="LabelLeft"/>
          <p:cNvSpPr/>
          <p:nvPr/>
        </p:nvSpPr>
        <p:spPr>
          <a:xfrm>
            <a:off x="457200" y="1097280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E50"/>
                </a:solidFill>
                <a:latin typeface="Calibri" pitchFamily="34" charset="0"/>
              </a:rPr>
              <a:t>StuffController.java</a:t>
            </a:r>
          </a:p>
        </p:txBody>
      </p:sp>
      <p:sp>
        <p:nvSpPr>
          <p:cNvPr id="5" name="LabelRight"/>
          <p:cNvSpPr/>
          <p:nvPr/>
        </p:nvSpPr>
        <p:spPr>
          <a:xfrm>
            <a:off x="5486040" y="1097280"/>
            <a:ext cx="320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E50"/>
                </a:solidFill>
                <a:latin typeface="Calibri" pitchFamily="34" charset="0"/>
              </a:rPr>
              <a:t>qa-prompt.st</a:t>
            </a:r>
          </a:p>
        </p:txBody>
      </p:sp>
      <p:sp>
        <p:nvSpPr>
          <p:cNvPr id="6" name="CodeLeft"/>
          <p:cNvSpPr/>
          <p:nvPr/>
        </p:nvSpPr>
        <p:spPr>
          <a:xfrm>
            <a:off x="457200" y="1371600"/>
            <a:ext cx="4800600" cy="2743200"/>
          </a:xfrm>
          <a:prstGeom prst="rect">
            <a:avLst/>
          </a:prstGeom>
          <a:solidFill>
            <a:srgbClr val="F4F6F8"/>
          </a:solidFill>
          <a:ln>
            <a:solidFill>
              <a:srgbClr val="ECF0F1"/>
            </a:solidFill>
          </a:ln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sz="950" b="0">
                <a:solidFill>
                  <a:srgbClr val="BBB529"/>
                </a:solidFill>
                <a:latin typeface="Consolas"/>
              </a:rPr>
              <a:t>@Value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CE9178"/>
                </a:solidFill>
                <a:latin typeface="Consolas"/>
              </a:rPr>
              <a:t>"classpath:/docs/wikipedia-curling.md"</a:t>
            </a:r>
            <a:r>
              <a:rPr sz="9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marL="0" indent="0">
              <a:buNone/>
            </a:pPr>
            <a:r>
              <a:rPr sz="950" b="0">
                <a:solidFill>
                  <a:srgbClr val="CC7832"/>
                </a:solidFill>
                <a:latin typeface="Consolas"/>
              </a:rPr>
              <a:t>private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4EC9B0"/>
                </a:solidFill>
                <a:latin typeface="Consolas"/>
              </a:rPr>
              <a:t>Resource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9CDCFE"/>
                </a:solidFill>
                <a:latin typeface="Consolas"/>
              </a:rPr>
              <a:t>docsToStuffResource</a:t>
            </a:r>
            <a:r>
              <a:rPr sz="9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sz="950" b="0">
                <a:solidFill>
                  <a:srgbClr val="BBB529"/>
                </a:solidFill>
                <a:latin typeface="Consolas"/>
              </a:rPr>
              <a:t>@Value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CE9178"/>
                </a:solidFill>
                <a:latin typeface="Consolas"/>
              </a:rPr>
              <a:t>"classpath:/prompts/qa-prompt.st"</a:t>
            </a:r>
            <a:r>
              <a:rPr sz="9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marL="0" indent="0">
              <a:buNone/>
            </a:pPr>
            <a:r>
              <a:rPr sz="950" b="0">
                <a:solidFill>
                  <a:srgbClr val="CC7832"/>
                </a:solidFill>
                <a:latin typeface="Consolas"/>
              </a:rPr>
              <a:t>private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4EC9B0"/>
                </a:solidFill>
                <a:latin typeface="Consolas"/>
              </a:rPr>
              <a:t>Resource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9CDCFE"/>
                </a:solidFill>
                <a:latin typeface="Consolas"/>
              </a:rPr>
              <a:t>qaPromptResource</a:t>
            </a:r>
            <a:r>
              <a:rPr sz="9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sz="950" b="0">
                <a:solidFill>
                  <a:srgbClr val="BBB529"/>
                </a:solidFill>
                <a:latin typeface="Consolas"/>
              </a:rPr>
              <a:t>@GetMapping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CE9178"/>
                </a:solidFill>
                <a:latin typeface="Consolas"/>
              </a:rPr>
              <a:t>"/query"</a:t>
            </a:r>
            <a:r>
              <a:rPr sz="9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marL="0" indent="0">
              <a:buNone/>
            </a:pPr>
            <a:r>
              <a:rPr sz="950" b="0">
                <a:solidFill>
                  <a:srgbClr val="CC7832"/>
                </a:solidFill>
                <a:latin typeface="Consolas"/>
              </a:rPr>
              <a:t>public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4EC9B0"/>
                </a:solidFill>
                <a:latin typeface="Consolas"/>
              </a:rPr>
              <a:t>String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DCDCAA"/>
                </a:solidFill>
                <a:latin typeface="Consolas"/>
              </a:rPr>
              <a:t>query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BBB529"/>
                </a:solidFill>
                <a:latin typeface="Consolas"/>
              </a:rPr>
              <a:t>@RequestParam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4EC9B0"/>
                </a:solidFill>
                <a:latin typeface="Consolas"/>
              </a:rPr>
              <a:t>String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9CDCFE"/>
                </a:solidFill>
                <a:latin typeface="Consolas"/>
              </a:rPr>
              <a:t>message</a:t>
            </a:r>
            <a:r>
              <a:rPr sz="950" b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  </a:t>
            </a:r>
            <a:r>
              <a:rPr sz="950" b="0">
                <a:solidFill>
                  <a:srgbClr val="4EC9B0"/>
                </a:solidFill>
                <a:latin typeface="Consolas"/>
              </a:rPr>
              <a:t>PromptTemplate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9CDCFE"/>
                </a:solidFill>
                <a:latin typeface="Consolas"/>
              </a:rPr>
              <a:t>pt</a:t>
            </a:r>
            <a:r>
              <a:rPr sz="950" b="0">
                <a:solidFill>
                  <a:srgbClr val="D4D4D4"/>
                </a:solidFill>
                <a:latin typeface="Consolas"/>
              </a:rPr>
              <a:t> = </a:t>
            </a:r>
            <a:r>
              <a:rPr sz="950" b="0">
                <a:solidFill>
                  <a:srgbClr val="CC7832"/>
                </a:solidFill>
                <a:latin typeface="Consolas"/>
              </a:rPr>
              <a:t>new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4EC9B0"/>
                </a:solidFill>
                <a:latin typeface="Consolas"/>
              </a:rPr>
              <a:t>PromptTemplate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9CDCFE"/>
                </a:solidFill>
                <a:latin typeface="Consolas"/>
              </a:rPr>
              <a:t>qaPromptResource</a:t>
            </a:r>
            <a:r>
              <a:rPr sz="9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  </a:t>
            </a:r>
            <a:r>
              <a:rPr sz="950" b="0">
                <a:solidFill>
                  <a:srgbClr val="9CDCFE"/>
                </a:solidFill>
                <a:latin typeface="Consolas"/>
              </a:rPr>
              <a:t>map</a:t>
            </a:r>
            <a:r>
              <a:rPr sz="950" b="0">
                <a:solidFill>
                  <a:srgbClr val="D4D4D4"/>
                </a:solidFill>
                <a:latin typeface="Consolas"/>
              </a:rPr>
              <a:t>.</a:t>
            </a:r>
            <a:r>
              <a:rPr sz="950" b="0">
                <a:solidFill>
                  <a:srgbClr val="DCDCAA"/>
                </a:solidFill>
                <a:latin typeface="Consolas"/>
              </a:rPr>
              <a:t>put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CE9178"/>
                </a:solidFill>
                <a:latin typeface="Consolas"/>
              </a:rPr>
              <a:t>"question"</a:t>
            </a:r>
            <a:r>
              <a:rPr sz="950" b="0">
                <a:solidFill>
                  <a:srgbClr val="D4D4D4"/>
                </a:solidFill>
                <a:latin typeface="Consolas"/>
              </a:rPr>
              <a:t>, </a:t>
            </a:r>
            <a:r>
              <a:rPr sz="950" b="0">
                <a:solidFill>
                  <a:srgbClr val="9CDCFE"/>
                </a:solidFill>
                <a:latin typeface="Consolas"/>
              </a:rPr>
              <a:t>message</a:t>
            </a:r>
            <a:r>
              <a:rPr sz="9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  </a:t>
            </a:r>
            <a:r>
              <a:rPr sz="950" b="0">
                <a:solidFill>
                  <a:srgbClr val="9CDCFE"/>
                </a:solidFill>
                <a:latin typeface="Consolas"/>
              </a:rPr>
              <a:t>map</a:t>
            </a:r>
            <a:r>
              <a:rPr sz="950" b="0">
                <a:solidFill>
                  <a:srgbClr val="D4D4D4"/>
                </a:solidFill>
                <a:latin typeface="Consolas"/>
              </a:rPr>
              <a:t>.</a:t>
            </a:r>
            <a:r>
              <a:rPr sz="950" b="0">
                <a:solidFill>
                  <a:srgbClr val="DCDCAA"/>
                </a:solidFill>
                <a:latin typeface="Consolas"/>
              </a:rPr>
              <a:t>put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CE9178"/>
                </a:solidFill>
                <a:latin typeface="Consolas"/>
              </a:rPr>
              <a:t>"context"</a:t>
            </a:r>
            <a:r>
              <a:rPr sz="950" b="0">
                <a:solidFill>
                  <a:srgbClr val="D4D4D4"/>
                </a:solidFill>
                <a:latin typeface="Consolas"/>
              </a:rPr>
              <a:t>, </a:t>
            </a:r>
            <a:r>
              <a:rPr sz="950" b="0">
                <a:solidFill>
                  <a:srgbClr val="9CDCFE"/>
                </a:solidFill>
                <a:latin typeface="Consolas"/>
              </a:rPr>
              <a:t>docsToStuffResource</a:t>
            </a:r>
            <a:r>
              <a:rPr sz="950" b="0">
                <a:solidFill>
                  <a:srgbClr val="D4D4D4"/>
                </a:solidFill>
                <a:latin typeface="Consolas"/>
              </a:rPr>
              <a:t>);</a:t>
            </a:r>
            <a:r>
              <a:rPr sz="950" b="0">
                <a:solidFill>
                  <a:srgbClr val="6A9955"/>
                </a:solidFill>
                <a:latin typeface="Consolas"/>
              </a:rPr>
              <a:t> // full doc!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  </a:t>
            </a:r>
            <a:r>
              <a:rPr sz="950" b="0">
                <a:solidFill>
                  <a:srgbClr val="4EC9B0"/>
                </a:solidFill>
                <a:latin typeface="Consolas"/>
              </a:rPr>
              <a:t>Prompt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9CDCFE"/>
                </a:solidFill>
                <a:latin typeface="Consolas"/>
              </a:rPr>
              <a:t>prompt</a:t>
            </a:r>
            <a:r>
              <a:rPr sz="950" b="0">
                <a:solidFill>
                  <a:srgbClr val="D4D4D4"/>
                </a:solidFill>
                <a:latin typeface="Consolas"/>
              </a:rPr>
              <a:t> = </a:t>
            </a:r>
            <a:r>
              <a:rPr sz="950" b="0">
                <a:solidFill>
                  <a:srgbClr val="9CDCFE"/>
                </a:solidFill>
                <a:latin typeface="Consolas"/>
              </a:rPr>
              <a:t>pt</a:t>
            </a:r>
            <a:r>
              <a:rPr sz="950" b="0">
                <a:solidFill>
                  <a:srgbClr val="D4D4D4"/>
                </a:solidFill>
                <a:latin typeface="Consolas"/>
              </a:rPr>
              <a:t>.</a:t>
            </a:r>
            <a:r>
              <a:rPr sz="950" b="0">
                <a:solidFill>
                  <a:srgbClr val="DCDCAA"/>
                </a:solidFill>
                <a:latin typeface="Consolas"/>
              </a:rPr>
              <a:t>create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9CDCFE"/>
                </a:solidFill>
                <a:latin typeface="Consolas"/>
              </a:rPr>
              <a:t>map</a:t>
            </a:r>
            <a:r>
              <a:rPr sz="9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  </a:t>
            </a:r>
            <a:r>
              <a:rPr sz="950" b="0">
                <a:solidFill>
                  <a:srgbClr val="CC7832"/>
                </a:solidFill>
                <a:latin typeface="Consolas"/>
              </a:rPr>
              <a:t>return</a:t>
            </a:r>
            <a:r>
              <a:rPr sz="950" b="0">
                <a:solidFill>
                  <a:srgbClr val="D4D4D4"/>
                </a:solidFill>
                <a:latin typeface="Consolas"/>
              </a:rPr>
              <a:t> </a:t>
            </a:r>
            <a:r>
              <a:rPr sz="950" b="0">
                <a:solidFill>
                  <a:srgbClr val="9CDCFE"/>
                </a:solidFill>
                <a:latin typeface="Consolas"/>
              </a:rPr>
              <a:t>chatModel</a:t>
            </a:r>
            <a:r>
              <a:rPr sz="950" b="0">
                <a:solidFill>
                  <a:srgbClr val="D4D4D4"/>
                </a:solidFill>
                <a:latin typeface="Consolas"/>
              </a:rPr>
              <a:t>.</a:t>
            </a:r>
            <a:r>
              <a:rPr sz="950" b="0">
                <a:solidFill>
                  <a:srgbClr val="DCDCAA"/>
                </a:solidFill>
                <a:latin typeface="Consolas"/>
              </a:rPr>
              <a:t>call</a:t>
            </a:r>
            <a:r>
              <a:rPr sz="950" b="0">
                <a:solidFill>
                  <a:srgbClr val="D4D4D4"/>
                </a:solidFill>
                <a:latin typeface="Consolas"/>
              </a:rPr>
              <a:t>(</a:t>
            </a:r>
            <a:r>
              <a:rPr sz="950" b="0">
                <a:solidFill>
                  <a:srgbClr val="9CDCFE"/>
                </a:solidFill>
                <a:latin typeface="Consolas"/>
              </a:rPr>
              <a:t>prompt</a:t>
            </a:r>
            <a:r>
              <a:rPr sz="9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      .</a:t>
            </a:r>
            <a:r>
              <a:rPr sz="950" b="0">
                <a:solidFill>
                  <a:srgbClr val="DCDCAA"/>
                </a:solidFill>
                <a:latin typeface="Consolas"/>
              </a:rPr>
              <a:t>getResult</a:t>
            </a:r>
            <a:r>
              <a:rPr sz="950" b="0">
                <a:solidFill>
                  <a:srgbClr val="D4D4D4"/>
                </a:solidFill>
                <a:latin typeface="Consolas"/>
              </a:rPr>
              <a:t>().</a:t>
            </a:r>
            <a:r>
              <a:rPr sz="950" b="0">
                <a:solidFill>
                  <a:srgbClr val="DCDCAA"/>
                </a:solidFill>
                <a:latin typeface="Consolas"/>
              </a:rPr>
              <a:t>getOutput</a:t>
            </a:r>
            <a:r>
              <a:rPr sz="950" b="0">
                <a:solidFill>
                  <a:srgbClr val="D4D4D4"/>
                </a:solidFill>
                <a:latin typeface="Consolas"/>
              </a:rPr>
              <a:t>().</a:t>
            </a:r>
            <a:r>
              <a:rPr sz="950" b="0">
                <a:solidFill>
                  <a:srgbClr val="DCDCAA"/>
                </a:solidFill>
                <a:latin typeface="Consolas"/>
              </a:rPr>
              <a:t>getText</a:t>
            </a:r>
            <a:r>
              <a:rPr sz="9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marL="0" indent="0">
              <a:buNone/>
            </a:pPr>
            <a:r>
              <a:rPr sz="9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7" name="CodeRight"/>
          <p:cNvSpPr/>
          <p:nvPr/>
        </p:nvSpPr>
        <p:spPr>
          <a:xfrm>
            <a:off x="5486040" y="1371600"/>
            <a:ext cx="3200760" cy="2743200"/>
          </a:xfrm>
          <a:prstGeom prst="rect">
            <a:avLst/>
          </a:prstGeom>
          <a:solidFill>
            <a:srgbClr val="F4F6F8"/>
          </a:solidFill>
          <a:ln>
            <a:solidFill>
              <a:srgbClr val="ECF0F1"/>
            </a:solidFill>
          </a:ln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onsolas" pitchFamily="49" charset="0"/>
              </a:rPr>
              <a:t>Use the following context to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onsolas" pitchFamily="49" charset="0"/>
              </a:rPr>
              <a:t>answer the question at the end.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onsolas" pitchFamily="49" charset="0"/>
              </a:rPr>
              <a:t>If you don’t know, say so.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49" charset="0"/>
              </a:rPr>
              <a:t>{context}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onsolas" pitchFamily="49" charset="0"/>
              </a:rPr>
              <a:t>Question: {question}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2C3E50"/>
                </a:solidFill>
                <a:latin typeface="Consolas" pitchFamily="49" charset="0"/>
              </a:rPr>
              <a:t>Helpful Answer:</a:t>
            </a:r>
          </a:p>
        </p:txBody>
      </p:sp>
      <p:sp>
        <p:nvSpPr>
          <p:cNvPr id="8" name="Callout"/>
          <p:cNvSpPr/>
          <p:nvPr/>
        </p:nvSpPr>
        <p:spPr>
          <a:xfrm>
            <a:off x="457200" y="4343880"/>
            <a:ext cx="8229600" cy="45720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txBody>
          <a:bodyPr wrap="square" lIns="91440" tIns="0" rIns="9144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</a:rPr>
              <a:t>Works great for small docs that fit in the token window. When context grows too large, graduate to RAG.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— Retrieval Augmented Generation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AI pattern for enterprise applications.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645920" cy="411480"/>
          </a:xfrm>
          <a:prstGeom prst="rect">
            <a:avLst/>
          </a:prstGeom>
          <a:solidFill>
            <a:srgbClr val="F0F8EC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docs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0312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645920" cy="411480"/>
          </a:xfrm>
          <a:prstGeom prst="rect">
            <a:avLst/>
          </a:prstGeom>
          <a:solidFill>
            <a:srgbClr val="F0F8EC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260604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5196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1645920" cy="411480"/>
          </a:xfrm>
          <a:prstGeom prst="rect">
            <a:avLst/>
          </a:prstGeom>
          <a:solidFill>
            <a:srgbClr val="F0F8EC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75488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prompt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1371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solidFill>
            <a:srgbClr val="F0F8EC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903720" y="1371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7E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 RAG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931920" cy="205740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594360" y="242316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similaritySearch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getText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joining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"\n"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qaPrompt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"context"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DB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QuestionAnswerAdvisor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2331720"/>
            <a:ext cx="3931920" cy="205740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892040" y="242316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All-in-one: search + augment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advisors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QuestionAnswerAdvisor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0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0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Advisor automatically: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Searches vector store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Injects into prompt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Generates answer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845822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Memory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301752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ChatMemory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MessageWindowChatMemory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chatMemoryRepository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InMemoryChatMemoryRepository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maxMessages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defaultAdvisors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PromptChatMemoryAdvisor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 1: "Hi, I'm Alice" → stored in memory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 2: "What's my name?" → AI remembers "Alice"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advisors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"chat_memory_conversation_id"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4206240"/>
            <a:ext cx="45720" cy="45720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420624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are stateless. The memory advisor re-injects conversation history with every request.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8798297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5 &amp;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Patterns &amp; MCP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Thought, Self-Reflection, Model Context Protocol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 of Thought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338328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writeBio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Step 1: Create outline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"Create an outline for a biography:\n\n{profile}"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"profile"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Step 2-3: Draft and condense (similar pattern)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Step 4: Refine with expert persona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refined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an expert biography editor"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-&gt;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"Polish this biography:\n\n{draft}"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"draft"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05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outline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condensed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refined</a:t>
            </a: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focuses on one aspect. The .system() prompt changes the AI's role per step.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7285413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Self-Reflection Agent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4592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011680" y="96012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2011680" y="960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749040" y="96012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749040" y="960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 (revise)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2064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0" y="96012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5486400" y="960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960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223760" y="96012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223760" y="960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DB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1508760"/>
            <a:ext cx="8229600" cy="256032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594360" y="1600200"/>
            <a:ext cx="7955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iterations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Writer generates (or revises based on feedback)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professional biography writer"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writerPrompt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feedback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Critic reviews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feedback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harsh but fair biography critic"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"Review this biography:\n\n"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+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0424778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Context Protocol (MCP)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standard for connecting AI apps to external tools &amp; data sources.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980B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3931920" cy="160020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94360" y="17830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@Bean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ToolCallbackProvider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weatherTools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WeatherService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MethodToolCallbackProvider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toolObjects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svc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E44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Capabilities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73736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09360" y="1737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functions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21214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@McpResource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09360" y="21214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505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@McpPrompt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09360" y="25054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288950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@McpComplete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28895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F0F8EC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45720" cy="4572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566160"/>
            <a:ext cx="7909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enables runtime tool discovery. AI apps adapt their capabilities on the fly.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1604387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Controls Its Own Execution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Calls to Agents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2980B9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71" y="1254923"/>
            <a:ext cx="215067" cy="21506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Simple Call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43000" y="1444752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the flow. One prompt, one response.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1-4.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decides what happens.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00584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1" name="Shape 8"/>
          <p:cNvSpPr/>
          <p:nvPr/>
        </p:nvSpPr>
        <p:spPr>
          <a:xfrm>
            <a:off x="3291840" y="1005840"/>
            <a:ext cx="54864" cy="1828800"/>
          </a:xfrm>
          <a:prstGeom prst="rect">
            <a:avLst/>
          </a:prstGeom>
          <a:solidFill>
            <a:srgbClr val="8E44AD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347472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211" y="1254923"/>
            <a:ext cx="215067" cy="2150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7764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977640" y="1444752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orchestrate multi-step chains. CoT, reflection.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designs the steps.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26480" y="1005840"/>
            <a:ext cx="25603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CF0F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7" name="Shape 13"/>
          <p:cNvSpPr/>
          <p:nvPr/>
        </p:nvSpPr>
        <p:spPr>
          <a:xfrm>
            <a:off x="6126480" y="1005840"/>
            <a:ext cx="54864" cy="182880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8" name="Shape 14"/>
          <p:cNvSpPr/>
          <p:nvPr/>
        </p:nvSpPr>
        <p:spPr>
          <a:xfrm>
            <a:off x="6309360" y="1170432"/>
            <a:ext cx="384048" cy="384048"/>
          </a:xfrm>
          <a:prstGeom prst="ellipse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3851" y="1254923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812280" y="111556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812280" y="1444752"/>
            <a:ext cx="16916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controls execution. Decides tools, steps, when to stop.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7.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decides what happens.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Inner Monologue Agent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reveals its reasoning via a structured tool call.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256032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7955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Force the model to always respond via the tool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OpenAiChatOptions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OpenAiChatOptions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toolChoice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"required"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The tool captures visible message AND private reasoning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"Send a message to the user"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sendMessage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@ToolParam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message"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BBB5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@ToolParam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thoughts"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innerThoughts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innerThoughts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080846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Model-Directed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whether to continue processing or stop.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2377440"/>
          </a:xfrm>
          <a:prstGeom prst="rect">
            <a:avLst/>
          </a:prstGeom>
          <a:solidFill>
            <a:srgbClr val="1E1E1E"/>
          </a:solidFill>
          <a:ln w="6350">
            <a:noFill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94360" y="1417320"/>
            <a:ext cx="7955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ArrayList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&lt;&gt;();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MAX_STEPS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++) {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OpenAiChatOptions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toolChoice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"required"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SendMessageTool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== </a:t>
            </a: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?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userMessage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: </a:t>
            </a: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"Continue."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(!</a:t>
            </a: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requestReinvocation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 </a:t>
            </a:r>
            <a:r>
              <a:rPr lang="en-US" sz="1100" dirty="0">
                <a:solidFill>
                  <a:srgbClr val="CC78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</a:t>
            </a: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Model says "done"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330761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8FD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Code!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DC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Setup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Started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solidFill>
            <a:srgbClr val="F4F6F8"/>
          </a:solidFill>
          <a:ln w="6350">
            <a:solidFill>
              <a:srgbClr val="DEE2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7955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Check prerequisites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./workshop.sh check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Setup infrastructure (Docker, Ollama models)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./workshop.sh setup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Start with Ollama (local, free, all 44 demos)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./workshop.sh start ollama --profiles pgvector,observation,ui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Open the dashboard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http://localhost:8080/dashboard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Try your first AI call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"http://localhost:8080/chat/01/joke?topic=spring"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solidFill>
            <a:srgbClr val="F7F9F4"/>
          </a:solidFill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JDK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3611880"/>
            <a:ext cx="1828800" cy="685800"/>
          </a:xfrm>
          <a:prstGeom prst="rect">
            <a:avLst/>
          </a:prstGeom>
          <a:solidFill>
            <a:srgbClr val="F7F9F4"/>
          </a:solidFill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251460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5146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11880"/>
            <a:ext cx="1828800" cy="685800"/>
          </a:xfrm>
          <a:prstGeom prst="rect">
            <a:avLst/>
          </a:prstGeom>
          <a:solidFill>
            <a:srgbClr val="F7F9F4"/>
          </a:solidFill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57200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Ollama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29400" y="3611880"/>
            <a:ext cx="1828800" cy="685800"/>
          </a:xfrm>
          <a:prstGeom prst="rect">
            <a:avLst/>
          </a:prstGeom>
          <a:solidFill>
            <a:srgbClr val="F7F9F4"/>
          </a:solidFill>
          <a:ln w="6350">
            <a:solidFill>
              <a:srgbClr val="ECF0F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62940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Maven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9400" y="3931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via mvnw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Spring Profiles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Adds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1005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(none)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371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vector store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13716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5564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548640" y="17556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pgvector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1755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pgvector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17556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PostgreSQL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139696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213969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tracing + metrics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21396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LGTM stack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52374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48640" y="25237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86000" y="2523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inspection proxy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0" y="252374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app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907792"/>
            <a:ext cx="8229600" cy="384048"/>
          </a:xfrm>
          <a:prstGeom prst="rect">
            <a:avLst/>
          </a:prstGeom>
          <a:solidFill>
            <a:srgbClr val="F7F9F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48640" y="290779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8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286000" y="29077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2907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83280"/>
            <a:ext cx="8229600" cy="868680"/>
          </a:xfrm>
          <a:prstGeom prst="rect">
            <a:avLst/>
          </a:prstGeom>
          <a:solidFill>
            <a:srgbClr val="F4F6F8"/>
          </a:solidFill>
          <a:ln w="6350">
            <a:solidFill>
              <a:srgbClr val="DEE2E6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94360" y="34747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Combine freely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./workshop.sh start ollama --profiles pgvector,observation,ui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./workshop.sh start openai --profiles spy,pgvector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6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Journey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1371600" cy="0"/>
          </a:xfrm>
          <a:prstGeom prst="line">
            <a:avLst/>
          </a:prstGeom>
          <a:noFill/>
          <a:ln w="31750">
            <a:solidFill>
              <a:srgbClr val="6DB3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Fundamentals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10058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ChatClient, @Tool, ChatOptions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EmbeddingModel, TokenTextSplitter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5720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" y="1920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9202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VectorStore, similaritySearch()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57200" y="2423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Patterns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91840" y="2377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QuestionAnswerAdvisor, ChatMemory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2880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60120" y="2834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Patterns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291840" y="28346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 of Thought, Self-Reflection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3375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45720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" y="3291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291840" y="32918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Server/Client starters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7947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5720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60120" y="3749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Systems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91840" y="3749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toolChoice("required"), loops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20040" cy="320040"/>
          </a:xfrm>
          <a:prstGeom prst="ellipse">
            <a:avLst/>
          </a:prstGeom>
          <a:solidFill>
            <a:srgbClr val="6DB33F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57200" y="4251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012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291840" y="42062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8C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OTel, Micrometer, Grafana LGTM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eaceful-beautiful-franklin/mnt/springiobarcelona26--spring-ai-zero-to-hero/ai-content/springio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"/>
            <a:ext cx="182880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AI Zero-to-Hero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3474720"/>
            <a:ext cx="2103120" cy="347472"/>
          </a:xfrm>
          <a:prstGeom prst="rect">
            <a:avLst/>
          </a:prstGeom>
          <a:solidFill>
            <a:srgbClr val="4A8C2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 4.0.5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834640" y="3474720"/>
            <a:ext cx="2103120" cy="347472"/>
          </a:xfrm>
          <a:prstGeom prst="rect">
            <a:avLst/>
          </a:prstGeom>
          <a:solidFill>
            <a:srgbClr val="4A8C2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8" name="Text 5"/>
          <p:cNvSpPr/>
          <p:nvPr/>
        </p:nvSpPr>
        <p:spPr>
          <a:xfrm>
            <a:off x="2834640" y="3474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AI 2.0.0-M4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212080" y="3474720"/>
            <a:ext cx="2103120" cy="347472"/>
          </a:xfrm>
          <a:prstGeom prst="rect">
            <a:avLst/>
          </a:prstGeom>
          <a:solidFill>
            <a:srgbClr val="4A8C24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212080" y="3474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25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 •  April 13-15,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VMware_white_16x9_2024">
  <a:themeElements>
    <a:clrScheme name="VMware by Broadcom color palette 2024">
      <a:dk1>
        <a:srgbClr val="000000"/>
      </a:dk1>
      <a:lt1>
        <a:srgbClr val="FFFFFF"/>
      </a:lt1>
      <a:dk2>
        <a:srgbClr val="1B1E34"/>
      </a:dk2>
      <a:lt2>
        <a:srgbClr val="FFFFFF"/>
      </a:lt2>
      <a:accent1>
        <a:srgbClr val="007A86"/>
      </a:accent1>
      <a:accent2>
        <a:srgbClr val="005B84"/>
      </a:accent2>
      <a:accent3>
        <a:srgbClr val="0193C2"/>
      </a:accent3>
      <a:accent4>
        <a:srgbClr val="61A00A"/>
      </a:accent4>
      <a:accent5>
        <a:srgbClr val="6C4B8F"/>
      </a:accent5>
      <a:accent6>
        <a:srgbClr val="EDB516"/>
      </a:accent6>
      <a:hlink>
        <a:srgbClr val="005B84"/>
      </a:hlink>
      <a:folHlink>
        <a:srgbClr val="005A83"/>
      </a:folHlink>
    </a:clrScheme>
    <a:fontScheme name="Custom 19">
      <a:majorFont>
        <a:latin typeface="Metropolis Light"/>
        <a:ea typeface=""/>
        <a:cs typeface=""/>
      </a:majorFont>
      <a:minorFont>
        <a:latin typeface="Metropoli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Aft>
            <a:spcPts val="600"/>
          </a:spcAft>
          <a:defRPr sz="1200" smtClean="0">
            <a:solidFill>
              <a:schemeClr val="bg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gray">
        <a:ln w="25400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ct val="130000"/>
          </a:lnSpc>
          <a:defRPr sz="1800"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Yellow">
      <a:srgbClr val="D58B3F"/>
    </a:custClr>
    <a:custClr name="Red">
      <a:srgbClr val="B72835"/>
    </a:custClr>
    <a:custClr name="Light Grey">
      <a:srgbClr val="E8E8EA"/>
    </a:custClr>
    <a:custClr name="Dark Grey">
      <a:srgbClr val="53565A"/>
    </a:custClr>
  </a:custClrLst>
  <a:extLst>
    <a:ext uri="{05A4C25C-085E-4340-85A3-A5531E510DB2}">
      <thm15:themeFamily xmlns:thm15="http://schemas.microsoft.com/office/thememl/2012/main" name="bc_vmw_ppt_template_light_2024_102" id="{A3CB27AF-CCFA-2D46-B916-B5FAFABCA370}" vid="{D2966B04-5821-5547-B957-B73EC9B0ABD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DC520-6197-C94F-8DBF-A0AA5547F22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927b1bf-bb2f-4230-8063-33256ee6795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4692</Words>
  <Application>Microsoft Macintosh PowerPoint</Application>
  <PresentationFormat>On-screen Show (16:9)</PresentationFormat>
  <Paragraphs>820</Paragraphs>
  <Slides>63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63</vt:i4>
      </vt:variant>
    </vt:vector>
  </HeadingPairs>
  <TitlesOfParts>
    <vt:vector size="77" baseType="lpstr">
      <vt:lpstr>Camphor Std</vt:lpstr>
      <vt:lpstr>System Font Regular</vt:lpstr>
      <vt:lpstr>Arial</vt:lpstr>
      <vt:lpstr>Calibri</vt:lpstr>
      <vt:lpstr>Consolas</vt:lpstr>
      <vt:lpstr>Courier New</vt:lpstr>
      <vt:lpstr>Georgia</vt:lpstr>
      <vt:lpstr>Metropolis</vt:lpstr>
      <vt:lpstr>Metropolis Light</vt:lpstr>
      <vt:lpstr>Metropolis-Regular</vt:lpstr>
      <vt:lpstr>Open Sans</vt:lpstr>
      <vt:lpstr>Roboto</vt:lpstr>
      <vt:lpstr>Office Theme</vt:lpstr>
      <vt:lpstr>VMware_white_16x9_2024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Why Tool Calling is Needed</vt:lpstr>
      <vt:lpstr>PowerPoint Presentation</vt:lpstr>
      <vt:lpstr>Bring real-time data into your apps using function calling</vt:lpstr>
      <vt:lpstr>Bring real-time data into your apps using function calling</vt:lpstr>
      <vt:lpstr>Bring realtime data into you apps with function calling</vt:lpstr>
      <vt:lpstr>Bring realtime data into you apps with function calling</vt:lpstr>
      <vt:lpstr>Bring realtime data into you apps with function calling</vt:lpstr>
      <vt:lpstr>Bring real-time data into your apps using function calling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AI Zero-to-Hero — Spring I/O Barcelona 2026</dc:title>
  <dc:subject>PptxGenJS Presentation</dc:subject>
  <dc:creator>Oded Shopen</dc:creator>
  <cp:lastModifiedBy>Microsoft Office User</cp:lastModifiedBy>
  <cp:revision>10</cp:revision>
  <dcterms:created xsi:type="dcterms:W3CDTF">2026-04-10T15:47:43Z</dcterms:created>
  <dcterms:modified xsi:type="dcterms:W3CDTF">2026-04-10T18:50:56Z</dcterms:modified>
</cp:coreProperties>
</file>